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autoCompressPictures="0">
  <p:sldMasterIdLst>
    <p:sldMasterId id="2147483648" r:id="rId1"/>
  </p:sldMasterIdLst>
  <p:notesMasterIdLst>
    <p:notesMasterId r:id="rId31"/>
  </p:notesMasterIdLst>
  <p:handoutMasterIdLst>
    <p:handoutMasterId r:id="rId32"/>
  </p:handoutMasterIdLst>
  <p:sldIdLst>
    <p:sldId id="315" r:id="rId2"/>
    <p:sldId id="368" r:id="rId3"/>
    <p:sldId id="334" r:id="rId4"/>
    <p:sldId id="322" r:id="rId5"/>
    <p:sldId id="343" r:id="rId6"/>
    <p:sldId id="362" r:id="rId7"/>
    <p:sldId id="336" r:id="rId8"/>
    <p:sldId id="341" r:id="rId9"/>
    <p:sldId id="352" r:id="rId10"/>
    <p:sldId id="345" r:id="rId11"/>
    <p:sldId id="361" r:id="rId12"/>
    <p:sldId id="346" r:id="rId13"/>
    <p:sldId id="347" r:id="rId14"/>
    <p:sldId id="348" r:id="rId15"/>
    <p:sldId id="349" r:id="rId16"/>
    <p:sldId id="350" r:id="rId17"/>
    <p:sldId id="353" r:id="rId18"/>
    <p:sldId id="354" r:id="rId19"/>
    <p:sldId id="316" r:id="rId20"/>
    <p:sldId id="355" r:id="rId21"/>
    <p:sldId id="356" r:id="rId22"/>
    <p:sldId id="357" r:id="rId23"/>
    <p:sldId id="358" r:id="rId24"/>
    <p:sldId id="359" r:id="rId25"/>
    <p:sldId id="364" r:id="rId26"/>
    <p:sldId id="365" r:id="rId27"/>
    <p:sldId id="363" r:id="rId28"/>
    <p:sldId id="366" r:id="rId29"/>
    <p:sldId id="367" r:id="rId30"/>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6" orient="horz" pos="1620" userDrawn="1">
          <p15:clr>
            <a:srgbClr val="A4A3A4"/>
          </p15:clr>
        </p15:guide>
        <p15:guide id="7" pos="5470">
          <p15:clr>
            <a:srgbClr val="A4A3A4"/>
          </p15:clr>
        </p15:guide>
        <p15:guide id="8" pos="287">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1C5"/>
    <a:srgbClr val="003C71"/>
    <a:srgbClr val="F83308"/>
    <a:srgbClr val="FD9208"/>
    <a:srgbClr val="009FDF"/>
    <a:srgbClr val="F3D54E"/>
    <a:srgbClr val="F0CE3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ferSingleView="1">
    <p:restoredLeft sz="23615" autoAdjust="0"/>
    <p:restoredTop sz="86410" autoAdjust="0"/>
  </p:normalViewPr>
  <p:slideViewPr>
    <p:cSldViewPr snapToGrid="0">
      <p:cViewPr varScale="1">
        <p:scale>
          <a:sx n="94" d="100"/>
          <a:sy n="94" d="100"/>
        </p:scale>
        <p:origin x="1088" y="52"/>
      </p:cViewPr>
      <p:guideLst>
        <p:guide orient="horz" pos="1620"/>
        <p:guide pos="5470"/>
        <p:guide pos="287"/>
      </p:guideLst>
    </p:cSldViewPr>
  </p:slideViewPr>
  <p:outlineViewPr>
    <p:cViewPr>
      <p:scale>
        <a:sx n="33" d="100"/>
        <a:sy n="33" d="100"/>
      </p:scale>
      <p:origin x="0" y="-7358"/>
    </p:cViewPr>
  </p:outlineViewPr>
  <p:notesTextViewPr>
    <p:cViewPr>
      <p:scale>
        <a:sx n="100" d="100"/>
        <a:sy n="100" d="100"/>
      </p:scale>
      <p:origin x="0" y="0"/>
    </p:cViewPr>
  </p:notesTextViewPr>
  <p:sorterViewPr>
    <p:cViewPr>
      <p:scale>
        <a:sx n="86" d="100"/>
        <a:sy n="86" d="100"/>
      </p:scale>
      <p:origin x="0" y="-140"/>
    </p:cViewPr>
  </p:sorterViewPr>
  <p:notesViewPr>
    <p:cSldViewPr snapToGrid="0" showGuides="1">
      <p:cViewPr varScale="1">
        <p:scale>
          <a:sx n="63" d="100"/>
          <a:sy n="63" d="100"/>
        </p:scale>
        <p:origin x="2285" y="53"/>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latin typeface="Arial" panose="020B0604020202020204" pitchFamily="34" charset="0"/>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5ACFD7B2-88A6-E34E-8EF8-CB0C7BA47ADD}" type="datetimeFigureOut">
              <a:rPr lang="en-US" smtClean="0">
                <a:latin typeface="Arial" panose="020B0604020202020204" pitchFamily="34" charset="0"/>
              </a:rPr>
              <a:pPr/>
              <a:t>9/9/2017</a:t>
            </a:fld>
            <a:endParaRPr lang="en-US" dirty="0">
              <a:latin typeface="Arial" panose="020B0604020202020204" pitchFamily="34" charset="0"/>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latin typeface="Arial" panose="020B0604020202020204" pitchFamily="34" charset="0"/>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96CFA4E-18EB-6D49-8DE2-7A74038C2C1C}" type="slidenum">
              <a:rPr lang="en-US" smtClean="0">
                <a:latin typeface="Arial" panose="020B0604020202020204" pitchFamily="34" charset="0"/>
              </a:rPr>
              <a:pPr/>
              <a:t>‹#›</a:t>
            </a:fld>
            <a:endParaRPr lang="en-US" dirty="0">
              <a:latin typeface="Arial" panose="020B0604020202020204" pitchFamily="34" charset="0"/>
            </a:endParaRPr>
          </a:p>
        </p:txBody>
      </p:sp>
    </p:spTree>
    <p:extLst>
      <p:ext uri="{BB962C8B-B14F-4D97-AF65-F5344CB8AC3E}">
        <p14:creationId xmlns:p14="http://schemas.microsoft.com/office/powerpoint/2010/main" val="91299412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panose="020B0604020202020204" pitchFamily="34" charset="0"/>
              </a:defRPr>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panose="020B0604020202020204" pitchFamily="34" charset="0"/>
              </a:defRPr>
            </a:lvl1pPr>
          </a:lstStyle>
          <a:p>
            <a:fld id="{ED7FC5FE-6F0D-D34A-8EE6-C95B4F5F4DC8}" type="datetimeFigureOut">
              <a:rPr lang="en-US" smtClean="0"/>
              <a:pPr/>
              <a:t>9/9/2017</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Arial" panose="020B0604020202020204" pitchFamily="34" charset="0"/>
              </a:defRPr>
            </a:lvl1pPr>
          </a:lstStyle>
          <a:p>
            <a:fld id="{D61C8689-8455-3546-ADF9-3B7273760F66}" type="slidenum">
              <a:rPr lang="en-US" smtClean="0"/>
              <a:pPr/>
              <a:t>‹#›</a:t>
            </a:fld>
            <a:endParaRPr lang="en-US" dirty="0"/>
          </a:p>
        </p:txBody>
      </p:sp>
    </p:spTree>
    <p:extLst>
      <p:ext uri="{BB962C8B-B14F-4D97-AF65-F5344CB8AC3E}">
        <p14:creationId xmlns:p14="http://schemas.microsoft.com/office/powerpoint/2010/main" val="2608429223"/>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Arial" panose="020B0604020202020204" pitchFamily="34" charset="0"/>
        <a:ea typeface="+mn-ea"/>
        <a:cs typeface="+mn-cs"/>
      </a:defRPr>
    </a:lvl1pPr>
    <a:lvl2pPr marL="457200" algn="l" defTabSz="457200" rtl="0" eaLnBrk="1" latinLnBrk="0" hangingPunct="1">
      <a:defRPr sz="1200" kern="1200">
        <a:solidFill>
          <a:schemeClr val="tx1"/>
        </a:solidFill>
        <a:latin typeface="Arial" panose="020B0604020202020204" pitchFamily="34" charset="0"/>
        <a:ea typeface="+mn-ea"/>
        <a:cs typeface="+mn-cs"/>
      </a:defRPr>
    </a:lvl2pPr>
    <a:lvl3pPr marL="914400" algn="l" defTabSz="457200" rtl="0" eaLnBrk="1" latinLnBrk="0" hangingPunct="1">
      <a:defRPr sz="1200" kern="1200">
        <a:solidFill>
          <a:schemeClr val="tx1"/>
        </a:solidFill>
        <a:latin typeface="Arial" panose="020B0604020202020204" pitchFamily="34" charset="0"/>
        <a:ea typeface="+mn-ea"/>
        <a:cs typeface="+mn-cs"/>
      </a:defRPr>
    </a:lvl3pPr>
    <a:lvl4pPr marL="1371600" algn="l" defTabSz="457200" rtl="0" eaLnBrk="1" latinLnBrk="0" hangingPunct="1">
      <a:defRPr sz="1200" kern="1200">
        <a:solidFill>
          <a:schemeClr val="tx1"/>
        </a:solidFill>
        <a:latin typeface="Arial" panose="020B0604020202020204" pitchFamily="34" charset="0"/>
        <a:ea typeface="+mn-ea"/>
        <a:cs typeface="+mn-cs"/>
      </a:defRPr>
    </a:lvl4pPr>
    <a:lvl5pPr marL="1828800" algn="l" defTabSz="457200" rtl="0" eaLnBrk="1" latinLnBrk="0" hangingPunct="1">
      <a:defRPr sz="1200" kern="1200">
        <a:solidFill>
          <a:schemeClr val="tx1"/>
        </a:solidFill>
        <a:latin typeface="Arial" panose="020B0604020202020204" pitchFamily="34" charset="0"/>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61C8689-8455-3546-ADF9-3B7273760F66}" type="slidenum">
              <a:rPr lang="en-US" smtClean="0"/>
              <a:pPr/>
              <a:t>6</a:t>
            </a:fld>
            <a:endParaRPr lang="en-US" dirty="0"/>
          </a:p>
        </p:txBody>
      </p:sp>
    </p:spTree>
    <p:extLst>
      <p:ext uri="{BB962C8B-B14F-4D97-AF65-F5344CB8AC3E}">
        <p14:creationId xmlns:p14="http://schemas.microsoft.com/office/powerpoint/2010/main" val="31413507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61C8689-8455-3546-ADF9-3B7273760F66}" type="slidenum">
              <a:rPr lang="en-US" smtClean="0"/>
              <a:pPr/>
              <a:t>10</a:t>
            </a:fld>
            <a:endParaRPr lang="en-US" dirty="0"/>
          </a:p>
        </p:txBody>
      </p:sp>
    </p:spTree>
    <p:extLst>
      <p:ext uri="{BB962C8B-B14F-4D97-AF65-F5344CB8AC3E}">
        <p14:creationId xmlns:p14="http://schemas.microsoft.com/office/powerpoint/2010/main" val="31942134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61C8689-8455-3546-ADF9-3B7273760F66}" type="slidenum">
              <a:rPr lang="en-US" smtClean="0"/>
              <a:pPr/>
              <a:t>11</a:t>
            </a:fld>
            <a:endParaRPr lang="en-US" dirty="0"/>
          </a:p>
        </p:txBody>
      </p:sp>
    </p:spTree>
    <p:extLst>
      <p:ext uri="{BB962C8B-B14F-4D97-AF65-F5344CB8AC3E}">
        <p14:creationId xmlns:p14="http://schemas.microsoft.com/office/powerpoint/2010/main" val="9725929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61C8689-8455-3546-ADF9-3B7273760F66}" type="slidenum">
              <a:rPr lang="en-US" smtClean="0"/>
              <a:pPr/>
              <a:t>13</a:t>
            </a:fld>
            <a:endParaRPr lang="en-US" dirty="0"/>
          </a:p>
        </p:txBody>
      </p:sp>
    </p:spTree>
    <p:extLst>
      <p:ext uri="{BB962C8B-B14F-4D97-AF65-F5344CB8AC3E}">
        <p14:creationId xmlns:p14="http://schemas.microsoft.com/office/powerpoint/2010/main" val="41615535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61C8689-8455-3546-ADF9-3B7273760F66}" type="slidenum">
              <a:rPr lang="en-US" smtClean="0"/>
              <a:pPr/>
              <a:t>15</a:t>
            </a:fld>
            <a:endParaRPr lang="en-US" dirty="0"/>
          </a:p>
        </p:txBody>
      </p:sp>
    </p:spTree>
    <p:extLst>
      <p:ext uri="{BB962C8B-B14F-4D97-AF65-F5344CB8AC3E}">
        <p14:creationId xmlns:p14="http://schemas.microsoft.com/office/powerpoint/2010/main" val="39107407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61C8689-8455-3546-ADF9-3B7273760F66}" type="slidenum">
              <a:rPr lang="en-US" smtClean="0"/>
              <a:pPr/>
              <a:t>23</a:t>
            </a:fld>
            <a:endParaRPr lang="en-US" dirty="0"/>
          </a:p>
        </p:txBody>
      </p:sp>
    </p:spTree>
    <p:extLst>
      <p:ext uri="{BB962C8B-B14F-4D97-AF65-F5344CB8AC3E}">
        <p14:creationId xmlns:p14="http://schemas.microsoft.com/office/powerpoint/2010/main" val="304194749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2_Title Slide with Linear Gradient">
    <p:bg>
      <p:bgPr>
        <a:gradFill flip="none" rotWithShape="1">
          <a:gsLst>
            <a:gs pos="32000">
              <a:schemeClr val="tx2"/>
            </a:gs>
            <a:gs pos="95000">
              <a:srgbClr val="009FDF"/>
            </a:gs>
            <a:gs pos="78000">
              <a:srgbClr val="0071C5"/>
            </a:gs>
          </a:gsLst>
          <a:lin ang="19860000" scaled="0"/>
          <a:tileRect/>
        </a:gra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44687" y="2479422"/>
            <a:ext cx="8212886" cy="1102519"/>
          </a:xfrm>
        </p:spPr>
        <p:txBody>
          <a:bodyPr lIns="0" rIns="0" anchor="b" anchorCtr="0">
            <a:noAutofit/>
          </a:bodyPr>
          <a:lstStyle>
            <a:lvl1pPr>
              <a:lnSpc>
                <a:spcPct val="80000"/>
              </a:lnSpc>
              <a:defRPr sz="5000" b="0" spc="0" baseline="0">
                <a:solidFill>
                  <a:schemeClr val="bg1">
                    <a:alpha val="90000"/>
                  </a:schemeClr>
                </a:solidFill>
                <a:latin typeface="+mj-lt"/>
                <a:cs typeface="Arial" panose="020B0604020202020204" pitchFamily="34" charset="0"/>
              </a:defRPr>
            </a:lvl1pPr>
          </a:lstStyle>
          <a:p>
            <a:r>
              <a:rPr lang="en-US" dirty="0" smtClean="0"/>
              <a:t>50pt Intel Clear pro Title</a:t>
            </a:r>
            <a:br>
              <a:rPr lang="en-US" dirty="0" smtClean="0"/>
            </a:br>
            <a:r>
              <a:rPr lang="en-US" dirty="0" smtClean="0"/>
              <a:t>with Linear gradient</a:t>
            </a:r>
            <a:endParaRPr lang="en-US" dirty="0"/>
          </a:p>
        </p:txBody>
      </p:sp>
      <p:sp>
        <p:nvSpPr>
          <p:cNvPr id="3" name="Subtitle 2"/>
          <p:cNvSpPr>
            <a:spLocks noGrp="1"/>
          </p:cNvSpPr>
          <p:nvPr>
            <p:ph type="subTitle" idx="1" hasCustomPrompt="1"/>
          </p:nvPr>
        </p:nvSpPr>
        <p:spPr>
          <a:xfrm>
            <a:off x="455613" y="3493008"/>
            <a:ext cx="6330212" cy="925360"/>
          </a:xfrm>
        </p:spPr>
        <p:txBody>
          <a:bodyPr lIns="0" rIns="0">
            <a:noAutofit/>
          </a:bodyPr>
          <a:lstStyle>
            <a:lvl1pPr marL="0" indent="0" algn="l">
              <a:buNone/>
              <a:defRPr sz="1600" b="0" i="0" baseline="0">
                <a:solidFill>
                  <a:schemeClr val="accent3"/>
                </a:solidFill>
                <a:latin typeface="+mn-lt"/>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16pt Intel Clear Subhead, Date, Etc.</a:t>
            </a:r>
            <a:endParaRPr lang="en-US" dirty="0"/>
          </a:p>
        </p:txBody>
      </p:sp>
      <p:pic>
        <p:nvPicPr>
          <p:cNvPr id="6" name="Picture 2"/>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451797" y="383169"/>
            <a:ext cx="1248049" cy="829850"/>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22491933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with Linear Gradient">
    <p:bg>
      <p:bgPr>
        <a:gradFill flip="none" rotWithShape="1">
          <a:gsLst>
            <a:gs pos="32000">
              <a:schemeClr val="tx2"/>
            </a:gs>
            <a:gs pos="95000">
              <a:srgbClr val="009FDF"/>
            </a:gs>
            <a:gs pos="78000">
              <a:srgbClr val="0071C5"/>
            </a:gs>
          </a:gsLst>
          <a:lin ang="19860000" scaled="0"/>
          <a:tileRect/>
        </a:gra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44687" y="2479422"/>
            <a:ext cx="8212886" cy="1102519"/>
          </a:xfrm>
        </p:spPr>
        <p:txBody>
          <a:bodyPr lIns="0" rIns="0" anchor="b" anchorCtr="0">
            <a:noAutofit/>
          </a:bodyPr>
          <a:lstStyle>
            <a:lvl1pPr>
              <a:lnSpc>
                <a:spcPct val="80000"/>
              </a:lnSpc>
              <a:defRPr sz="5000" b="0" spc="0" baseline="0">
                <a:solidFill>
                  <a:schemeClr val="bg1">
                    <a:alpha val="90000"/>
                  </a:schemeClr>
                </a:solidFill>
                <a:latin typeface="+mj-lt"/>
                <a:cs typeface="Arial" panose="020B0604020202020204" pitchFamily="34" charset="0"/>
              </a:defRPr>
            </a:lvl1pPr>
          </a:lstStyle>
          <a:p>
            <a:r>
              <a:rPr lang="en-US" dirty="0" smtClean="0"/>
              <a:t>50pt Intel Clear pro Title</a:t>
            </a:r>
            <a:br>
              <a:rPr lang="en-US" dirty="0" smtClean="0"/>
            </a:br>
            <a:r>
              <a:rPr lang="en-US" dirty="0" smtClean="0"/>
              <a:t>with Linear gradient</a:t>
            </a:r>
            <a:endParaRPr lang="en-US" dirty="0"/>
          </a:p>
        </p:txBody>
      </p:sp>
      <p:sp>
        <p:nvSpPr>
          <p:cNvPr id="3" name="Subtitle 2"/>
          <p:cNvSpPr>
            <a:spLocks noGrp="1"/>
          </p:cNvSpPr>
          <p:nvPr>
            <p:ph type="subTitle" idx="1" hasCustomPrompt="1"/>
          </p:nvPr>
        </p:nvSpPr>
        <p:spPr>
          <a:xfrm>
            <a:off x="455613" y="3493008"/>
            <a:ext cx="6330212" cy="925360"/>
          </a:xfrm>
        </p:spPr>
        <p:txBody>
          <a:bodyPr lIns="0" rIns="0">
            <a:noAutofit/>
          </a:bodyPr>
          <a:lstStyle>
            <a:lvl1pPr marL="0" indent="0" algn="l">
              <a:buNone/>
              <a:defRPr sz="1600" b="0" i="0" baseline="0">
                <a:solidFill>
                  <a:schemeClr val="accent3"/>
                </a:solidFill>
                <a:latin typeface="+mn-lt"/>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16pt Intel Clear Subhead, Date, Etc.</a:t>
            </a:r>
            <a:endParaRPr lang="en-US" dirty="0"/>
          </a:p>
        </p:txBody>
      </p:sp>
      <p:pic>
        <p:nvPicPr>
          <p:cNvPr id="5" name="Picture 4" descr="int_experience_hrz_wht_rgb_1500.png"/>
          <p:cNvPicPr>
            <a:picLocks noChangeAspect="1"/>
          </p:cNvPicPr>
          <p:nvPr userDrawn="1"/>
        </p:nvPicPr>
        <p:blipFill>
          <a:blip r:embed="rId2">
            <a:alphaModFix/>
            <a:extLst>
              <a:ext uri="{28A0092B-C50C-407E-A947-70E740481C1C}">
                <a14:useLocalDpi xmlns:a14="http://schemas.microsoft.com/office/drawing/2010/main" val="0"/>
              </a:ext>
            </a:extLst>
          </a:blip>
          <a:stretch>
            <a:fillRect/>
          </a:stretch>
        </p:blipFill>
        <p:spPr>
          <a:xfrm>
            <a:off x="460693" y="389228"/>
            <a:ext cx="2121766" cy="887284"/>
          </a:xfrm>
          <a:prstGeom prst="rect">
            <a:avLst/>
          </a:prstGeom>
        </p:spPr>
      </p:pic>
    </p:spTree>
    <p:extLst>
      <p:ext uri="{BB962C8B-B14F-4D97-AF65-F5344CB8AC3E}">
        <p14:creationId xmlns:p14="http://schemas.microsoft.com/office/powerpoint/2010/main" val="24040069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p:bg>
      <p:bgPr>
        <a:gradFill>
          <a:gsLst>
            <a:gs pos="30000">
              <a:schemeClr val="tx2"/>
            </a:gs>
            <a:gs pos="100000">
              <a:srgbClr val="009FDF"/>
            </a:gs>
            <a:gs pos="65000">
              <a:srgbClr val="0071C5"/>
            </a:gs>
          </a:gsLst>
          <a:lin ang="19860000" scaled="0"/>
        </a:gradFill>
        <a:effectLst/>
      </p:bgPr>
    </p:bg>
    <p:spTree>
      <p:nvGrpSpPr>
        <p:cNvPr id="1" name=""/>
        <p:cNvGrpSpPr/>
        <p:nvPr/>
      </p:nvGrpSpPr>
      <p:grpSpPr>
        <a:xfrm>
          <a:off x="0" y="0"/>
          <a:ext cx="0" cy="0"/>
          <a:chOff x="0" y="0"/>
          <a:chExt cx="0" cy="0"/>
        </a:xfrm>
      </p:grpSpPr>
      <p:sp>
        <p:nvSpPr>
          <p:cNvPr id="10" name="Picture Placeholder 8"/>
          <p:cNvSpPr>
            <a:spLocks noGrp="1"/>
          </p:cNvSpPr>
          <p:nvPr>
            <p:ph type="pic" sz="quarter" idx="13" hasCustomPrompt="1"/>
          </p:nvPr>
        </p:nvSpPr>
        <p:spPr>
          <a:xfrm>
            <a:off x="0" y="0"/>
            <a:ext cx="9144000" cy="4768850"/>
          </a:xfrm>
          <a:solidFill>
            <a:schemeClr val="bg2">
              <a:lumMod val="60000"/>
              <a:lumOff val="40000"/>
            </a:schemeClr>
          </a:solidFill>
        </p:spPr>
        <p:txBody>
          <a:bodyPr/>
          <a:lstStyle>
            <a:lvl1pPr marL="0" marR="0" indent="0" algn="l" defTabSz="457200" rtl="0" eaLnBrk="1" fontAlgn="auto" latinLnBrk="0" hangingPunct="1">
              <a:lnSpc>
                <a:spcPct val="100000"/>
              </a:lnSpc>
              <a:spcBef>
                <a:spcPts val="1200"/>
              </a:spcBef>
              <a:spcAft>
                <a:spcPts val="0"/>
              </a:spcAft>
              <a:buClrTx/>
              <a:buSzTx/>
              <a:buFont typeface="Wingdings" panose="05000000000000000000" pitchFamily="2" charset="2"/>
              <a:buNone/>
              <a:tabLst/>
              <a:defRPr baseline="0"/>
            </a:lvl1pPr>
          </a:lstStyle>
          <a:p>
            <a:r>
              <a:rPr lang="en-US" dirty="0" smtClean="0"/>
              <a:t>Insert photo here. Drag picture to placeholder or click icon to add.</a:t>
            </a:r>
            <a:endParaRPr lang="en-US" dirty="0"/>
          </a:p>
        </p:txBody>
      </p:sp>
      <p:pic>
        <p:nvPicPr>
          <p:cNvPr id="9" name="Picture 2"/>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451797" y="383169"/>
            <a:ext cx="1248049" cy="829850"/>
          </a:xfrm>
          <a:prstGeom prst="rect">
            <a:avLst/>
          </a:prstGeom>
          <a:noFill/>
          <a:extLst>
            <a:ext uri="{909E8E84-426E-40dd-AFC4-6F175D3DCCD1}">
              <a14:hiddenFill xmlns="" xmlns:a14="http://schemas.microsoft.com/office/drawing/2010/main">
                <a:solidFill>
                  <a:srgbClr val="FFFFFF"/>
                </a:solidFill>
              </a14:hiddenFill>
            </a:ext>
          </a:extLst>
        </p:spPr>
      </p:pic>
      <p:sp>
        <p:nvSpPr>
          <p:cNvPr id="13" name="Title 1"/>
          <p:cNvSpPr>
            <a:spLocks noGrp="1"/>
          </p:cNvSpPr>
          <p:nvPr>
            <p:ph type="ctrTitle" hasCustomPrompt="1"/>
          </p:nvPr>
        </p:nvSpPr>
        <p:spPr>
          <a:xfrm>
            <a:off x="444687" y="2479422"/>
            <a:ext cx="8212886" cy="1102519"/>
          </a:xfrm>
        </p:spPr>
        <p:txBody>
          <a:bodyPr lIns="0" rIns="0" anchor="b" anchorCtr="0">
            <a:noAutofit/>
          </a:bodyPr>
          <a:lstStyle>
            <a:lvl1pPr>
              <a:lnSpc>
                <a:spcPct val="80000"/>
              </a:lnSpc>
              <a:defRPr sz="5000" b="0" spc="0" baseline="0">
                <a:solidFill>
                  <a:schemeClr val="bg1">
                    <a:alpha val="90000"/>
                  </a:schemeClr>
                </a:solidFill>
                <a:latin typeface="+mj-lt"/>
                <a:cs typeface="Arial" panose="020B0604020202020204" pitchFamily="34" charset="0"/>
              </a:defRPr>
            </a:lvl1pPr>
          </a:lstStyle>
          <a:p>
            <a:r>
              <a:rPr lang="en-US" dirty="0" smtClean="0"/>
              <a:t>50pt Intel Clear pro Title</a:t>
            </a:r>
            <a:br>
              <a:rPr lang="en-US" dirty="0" smtClean="0"/>
            </a:br>
            <a:r>
              <a:rPr lang="en-US" dirty="0" smtClean="0"/>
              <a:t>with image</a:t>
            </a:r>
            <a:endParaRPr lang="en-US" dirty="0"/>
          </a:p>
        </p:txBody>
      </p:sp>
      <p:sp>
        <p:nvSpPr>
          <p:cNvPr id="14" name="Subtitle 2"/>
          <p:cNvSpPr>
            <a:spLocks noGrp="1"/>
          </p:cNvSpPr>
          <p:nvPr>
            <p:ph type="subTitle" idx="1" hasCustomPrompt="1"/>
          </p:nvPr>
        </p:nvSpPr>
        <p:spPr>
          <a:xfrm>
            <a:off x="455613" y="3493008"/>
            <a:ext cx="6330212" cy="925360"/>
          </a:xfrm>
        </p:spPr>
        <p:txBody>
          <a:bodyPr lIns="0" rIns="0">
            <a:noAutofit/>
          </a:bodyPr>
          <a:lstStyle>
            <a:lvl1pPr marL="0" indent="0" algn="l">
              <a:buNone/>
              <a:defRPr sz="1600" b="0" i="0" baseline="0">
                <a:solidFill>
                  <a:schemeClr val="accent3"/>
                </a:solidFill>
                <a:latin typeface="+mn-lt"/>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16pt Intel Clear Subhead, Date, Etc.</a:t>
            </a:r>
            <a:endParaRPr lang="en-US" dirty="0"/>
          </a:p>
        </p:txBody>
      </p:sp>
    </p:spTree>
    <p:extLst>
      <p:ext uri="{BB962C8B-B14F-4D97-AF65-F5344CB8AC3E}">
        <p14:creationId xmlns:p14="http://schemas.microsoft.com/office/powerpoint/2010/main" val="1808324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Bulleted Text">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EE2556C5-CE8C-6547-B838-EA80C61A4AF7}" type="slidenum">
              <a:rPr lang="en-US" smtClean="0"/>
              <a:pPr/>
              <a:t>‹#›</a:t>
            </a:fld>
            <a:endParaRPr lang="en-US" dirty="0"/>
          </a:p>
        </p:txBody>
      </p:sp>
      <p:sp>
        <p:nvSpPr>
          <p:cNvPr id="7" name="Title 6"/>
          <p:cNvSpPr>
            <a:spLocks noGrp="1"/>
          </p:cNvSpPr>
          <p:nvPr>
            <p:ph type="title" hasCustomPrompt="1"/>
          </p:nvPr>
        </p:nvSpPr>
        <p:spPr>
          <a:xfrm>
            <a:off x="455613" y="308848"/>
            <a:ext cx="8229600" cy="868680"/>
          </a:xfrm>
        </p:spPr>
        <p:txBody>
          <a:bodyPr/>
          <a:lstStyle>
            <a:lvl1pPr>
              <a:defRPr b="0" i="0" baseline="0">
                <a:solidFill>
                  <a:schemeClr val="tx2"/>
                </a:solidFill>
                <a:latin typeface="+mj-lt"/>
                <a:cs typeface="Arial" panose="020B0604020202020204" pitchFamily="34" charset="0"/>
              </a:defRPr>
            </a:lvl1pPr>
          </a:lstStyle>
          <a:p>
            <a:r>
              <a:rPr lang="en-US" dirty="0" smtClean="0"/>
              <a:t>28pt Intel Clear Headline</a:t>
            </a:r>
            <a:endParaRPr lang="en-US" dirty="0"/>
          </a:p>
        </p:txBody>
      </p:sp>
      <p:sp>
        <p:nvSpPr>
          <p:cNvPr id="9" name="Content Placeholder 8"/>
          <p:cNvSpPr>
            <a:spLocks noGrp="1"/>
          </p:cNvSpPr>
          <p:nvPr>
            <p:ph sz="quarter" idx="13" hasCustomPrompt="1"/>
          </p:nvPr>
        </p:nvSpPr>
        <p:spPr>
          <a:xfrm>
            <a:off x="455613" y="1203325"/>
            <a:ext cx="8228012" cy="3425825"/>
          </a:xfrm>
        </p:spPr>
        <p:txBody>
          <a:bodyPr/>
          <a:lstStyle>
            <a:lvl1pPr>
              <a:defRPr>
                <a:solidFill>
                  <a:srgbClr val="0071C5"/>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200">
                <a:solidFill>
                  <a:schemeClr val="tx2"/>
                </a:solidFill>
              </a:defRPr>
            </a:lvl5pPr>
          </a:lstStyle>
          <a:p>
            <a:pPr lvl="0"/>
            <a:r>
              <a:rPr lang="en-US" dirty="0" smtClean="0"/>
              <a:t>18pt Intel Clear body text</a:t>
            </a:r>
          </a:p>
          <a:p>
            <a:pPr lvl="1"/>
            <a:r>
              <a:rPr lang="en-US" dirty="0" smtClean="0"/>
              <a:t>18pt Intel Clear bullet one</a:t>
            </a:r>
          </a:p>
          <a:p>
            <a:pPr lvl="2"/>
            <a:r>
              <a:rPr lang="en-US" dirty="0" smtClean="0"/>
              <a:t>16pt Intel Clear sub-bullet</a:t>
            </a:r>
          </a:p>
          <a:p>
            <a:pPr lvl="3"/>
            <a:r>
              <a:rPr lang="en-US" dirty="0" smtClean="0"/>
              <a:t>14pt Intel Clear fourth level</a:t>
            </a:r>
          </a:p>
          <a:p>
            <a:pPr lvl="4"/>
            <a:r>
              <a:rPr lang="en-US" dirty="0" smtClean="0"/>
              <a:t>12pt Intel Clear fifth level</a:t>
            </a:r>
            <a:endParaRPr lang="en-US" dirty="0"/>
          </a:p>
        </p:txBody>
      </p:sp>
    </p:spTree>
    <p:extLst>
      <p:ext uri="{BB962C8B-B14F-4D97-AF65-F5344CB8AC3E}">
        <p14:creationId xmlns:p14="http://schemas.microsoft.com/office/powerpoint/2010/main" val="1358511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with Image">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EE2556C5-CE8C-6547-B838-EA80C61A4AF7}" type="slidenum">
              <a:rPr lang="en-US" smtClean="0"/>
              <a:pPr/>
              <a:t>‹#›</a:t>
            </a:fld>
            <a:endParaRPr lang="en-US" dirty="0"/>
          </a:p>
        </p:txBody>
      </p:sp>
      <p:sp>
        <p:nvSpPr>
          <p:cNvPr id="15" name="Content Placeholder 2"/>
          <p:cNvSpPr>
            <a:spLocks noGrp="1"/>
          </p:cNvSpPr>
          <p:nvPr>
            <p:ph sz="half" idx="1" hasCustomPrompt="1"/>
          </p:nvPr>
        </p:nvSpPr>
        <p:spPr>
          <a:xfrm>
            <a:off x="455613" y="1203324"/>
            <a:ext cx="4006851" cy="3425825"/>
          </a:xfrm>
        </p:spPr>
        <p:txBody>
          <a:bodyPr vert="horz" lIns="0" tIns="0" rIns="0" bIns="0" rtlCol="0">
            <a:noAutofit/>
          </a:bodyPr>
          <a:lstStyle>
            <a:lvl1pPr>
              <a:defRPr lang="en-US" dirty="0" smtClean="0"/>
            </a:lvl1pPr>
            <a:lvl2pPr>
              <a:defRPr lang="en-US" dirty="0" smtClean="0">
                <a:solidFill>
                  <a:schemeClr val="tx2"/>
                </a:solidFill>
              </a:defRPr>
            </a:lvl2pPr>
            <a:lvl3pPr>
              <a:defRPr lang="en-US" sz="1400" dirty="0" smtClean="0">
                <a:solidFill>
                  <a:schemeClr val="tx2"/>
                </a:solidFill>
              </a:defRPr>
            </a:lvl3pPr>
            <a:lvl4pPr>
              <a:defRPr lang="en-US" sz="1200" dirty="0" smtClean="0">
                <a:solidFill>
                  <a:schemeClr val="tx2"/>
                </a:solidFill>
              </a:defRPr>
            </a:lvl4pPr>
            <a:lvl5pPr>
              <a:defRPr lang="en-US" sz="1200" dirty="0">
                <a:solidFill>
                  <a:schemeClr val="tx2"/>
                </a:solidFill>
              </a:defRPr>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8" name="Title 6"/>
          <p:cNvSpPr>
            <a:spLocks noGrp="1"/>
          </p:cNvSpPr>
          <p:nvPr>
            <p:ph type="title" hasCustomPrompt="1"/>
          </p:nvPr>
        </p:nvSpPr>
        <p:spPr>
          <a:xfrm>
            <a:off x="455613" y="308848"/>
            <a:ext cx="8229600" cy="868680"/>
          </a:xfrm>
        </p:spPr>
        <p:txBody>
          <a:bodyPr/>
          <a:lstStyle>
            <a:lvl1pPr>
              <a:defRPr b="0" i="0" baseline="0">
                <a:solidFill>
                  <a:schemeClr val="tx2"/>
                </a:solidFill>
                <a:latin typeface="+mj-lt"/>
                <a:cs typeface="Arial" panose="020B0604020202020204" pitchFamily="34" charset="0"/>
              </a:defRPr>
            </a:lvl1pPr>
          </a:lstStyle>
          <a:p>
            <a:r>
              <a:rPr lang="en-US" dirty="0" smtClean="0"/>
              <a:t>28pt Intel Clear Headline</a:t>
            </a:r>
            <a:endParaRPr lang="en-US" dirty="0"/>
          </a:p>
        </p:txBody>
      </p:sp>
      <p:sp>
        <p:nvSpPr>
          <p:cNvPr id="9" name="Picture Placeholder 8"/>
          <p:cNvSpPr>
            <a:spLocks noGrp="1"/>
          </p:cNvSpPr>
          <p:nvPr>
            <p:ph type="pic" sz="quarter" idx="13"/>
          </p:nvPr>
        </p:nvSpPr>
        <p:spPr>
          <a:xfrm>
            <a:off x="4830763" y="943430"/>
            <a:ext cx="3181123" cy="1670950"/>
          </a:xfrm>
          <a:solidFill>
            <a:schemeClr val="bg2">
              <a:lumMod val="60000"/>
              <a:lumOff val="40000"/>
            </a:schemeClr>
          </a:solidFill>
        </p:spPr>
        <p:txBody>
          <a:bodyPr/>
          <a:lstStyle>
            <a:lvl1pPr>
              <a:defRPr sz="1800">
                <a:latin typeface="Intel Clear"/>
              </a:defRPr>
            </a:lvl1pPr>
          </a:lstStyle>
          <a:p>
            <a:endParaRPr lang="en-US" sz="1100" dirty="0">
              <a:latin typeface="Arial"/>
            </a:endParaRPr>
          </a:p>
        </p:txBody>
      </p:sp>
      <p:sp>
        <p:nvSpPr>
          <p:cNvPr id="10" name="Picture Placeholder 8"/>
          <p:cNvSpPr>
            <a:spLocks noGrp="1"/>
          </p:cNvSpPr>
          <p:nvPr>
            <p:ph type="pic" sz="quarter" idx="14"/>
          </p:nvPr>
        </p:nvSpPr>
        <p:spPr>
          <a:xfrm>
            <a:off x="4830763" y="2843897"/>
            <a:ext cx="3181123" cy="1670950"/>
          </a:xfrm>
          <a:solidFill>
            <a:schemeClr val="bg2">
              <a:lumMod val="60000"/>
              <a:lumOff val="40000"/>
            </a:schemeClr>
          </a:solidFill>
        </p:spPr>
        <p:txBody>
          <a:bodyPr/>
          <a:lstStyle>
            <a:lvl1pPr>
              <a:defRPr sz="1800">
                <a:latin typeface="Intel Clear"/>
              </a:defRPr>
            </a:lvl1pPr>
          </a:lstStyle>
          <a:p>
            <a:endParaRPr lang="en-US" sz="1100" dirty="0">
              <a:latin typeface="Arial"/>
            </a:endParaRPr>
          </a:p>
        </p:txBody>
      </p:sp>
    </p:spTree>
    <p:extLst>
      <p:ext uri="{BB962C8B-B14F-4D97-AF65-F5344CB8AC3E}">
        <p14:creationId xmlns:p14="http://schemas.microsoft.com/office/powerpoint/2010/main" val="2598914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EE2556C5-CE8C-6547-B838-EA80C61A4AF7}" type="slidenum">
              <a:rPr lang="en-US" smtClean="0"/>
              <a:pPr/>
              <a:t>‹#›</a:t>
            </a:fld>
            <a:endParaRPr lang="en-US" dirty="0"/>
          </a:p>
        </p:txBody>
      </p:sp>
      <p:sp>
        <p:nvSpPr>
          <p:cNvPr id="15" name="Content Placeholder 2"/>
          <p:cNvSpPr>
            <a:spLocks noGrp="1"/>
          </p:cNvSpPr>
          <p:nvPr>
            <p:ph sz="half" idx="1" hasCustomPrompt="1"/>
          </p:nvPr>
        </p:nvSpPr>
        <p:spPr>
          <a:xfrm>
            <a:off x="455613" y="1203324"/>
            <a:ext cx="4006851" cy="3425825"/>
          </a:xfrm>
        </p:spPr>
        <p:txBody>
          <a:bodyPr vert="horz" lIns="0" tIns="0" rIns="0" bIns="0" rtlCol="0">
            <a:noAutofit/>
          </a:bodyPr>
          <a:lstStyle>
            <a:lvl1pPr>
              <a:defRPr lang="en-US" dirty="0" smtClean="0"/>
            </a:lvl1pPr>
            <a:lvl2pPr>
              <a:defRPr lang="en-US" dirty="0" smtClean="0">
                <a:solidFill>
                  <a:schemeClr val="tx2"/>
                </a:solidFill>
              </a:defRPr>
            </a:lvl2pPr>
            <a:lvl3pPr>
              <a:defRPr lang="en-US" sz="1400" dirty="0" smtClean="0">
                <a:solidFill>
                  <a:schemeClr val="tx2"/>
                </a:solidFill>
              </a:defRPr>
            </a:lvl3pPr>
            <a:lvl4pPr>
              <a:defRPr lang="en-US" sz="1200" dirty="0" smtClean="0">
                <a:solidFill>
                  <a:schemeClr val="tx2"/>
                </a:solidFill>
              </a:defRPr>
            </a:lvl4pPr>
            <a:lvl5pPr>
              <a:defRPr lang="en-US" sz="1200" dirty="0">
                <a:solidFill>
                  <a:schemeClr val="tx2"/>
                </a:solidFill>
              </a:defRPr>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16" name="Content Placeholder 2"/>
          <p:cNvSpPr>
            <a:spLocks noGrp="1"/>
          </p:cNvSpPr>
          <p:nvPr>
            <p:ph sz="half" idx="13" hasCustomPrompt="1"/>
          </p:nvPr>
        </p:nvSpPr>
        <p:spPr>
          <a:xfrm>
            <a:off x="4678363" y="1203324"/>
            <a:ext cx="4005264" cy="3425825"/>
          </a:xfrm>
        </p:spPr>
        <p:txBody>
          <a:bodyPr vert="horz" lIns="0" tIns="0" rIns="0" bIns="0" rtlCol="0">
            <a:noAutofit/>
          </a:bodyPr>
          <a:lstStyle>
            <a:lvl1pPr>
              <a:defRPr lang="en-US" dirty="0" smtClean="0"/>
            </a:lvl1pPr>
            <a:lvl2pPr>
              <a:defRPr lang="en-US" dirty="0" smtClean="0">
                <a:solidFill>
                  <a:schemeClr val="tx2"/>
                </a:solidFill>
              </a:defRPr>
            </a:lvl2pPr>
            <a:lvl3pPr>
              <a:defRPr lang="en-US" sz="1400" dirty="0" smtClean="0">
                <a:solidFill>
                  <a:schemeClr val="tx2"/>
                </a:solidFill>
              </a:defRPr>
            </a:lvl3pPr>
            <a:lvl4pPr>
              <a:defRPr lang="en-US" sz="1200" dirty="0" smtClean="0">
                <a:solidFill>
                  <a:schemeClr val="tx2"/>
                </a:solidFill>
              </a:defRPr>
            </a:lvl4pPr>
            <a:lvl5pPr>
              <a:defRPr lang="en-US" sz="1200" dirty="0">
                <a:solidFill>
                  <a:schemeClr val="tx2"/>
                </a:solidFill>
              </a:defRPr>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8" name="Title 6"/>
          <p:cNvSpPr>
            <a:spLocks noGrp="1"/>
          </p:cNvSpPr>
          <p:nvPr>
            <p:ph type="title" hasCustomPrompt="1"/>
          </p:nvPr>
        </p:nvSpPr>
        <p:spPr>
          <a:xfrm>
            <a:off x="455613" y="308848"/>
            <a:ext cx="8229600" cy="868680"/>
          </a:xfrm>
        </p:spPr>
        <p:txBody>
          <a:bodyPr/>
          <a:lstStyle>
            <a:lvl1pPr>
              <a:defRPr b="0" i="0" baseline="0">
                <a:solidFill>
                  <a:schemeClr val="tx2"/>
                </a:solidFill>
                <a:latin typeface="+mj-lt"/>
                <a:cs typeface="Arial" panose="020B0604020202020204" pitchFamily="34" charset="0"/>
              </a:defRPr>
            </a:lvl1pPr>
          </a:lstStyle>
          <a:p>
            <a:r>
              <a:rPr lang="en-US" dirty="0" smtClean="0"/>
              <a:t>28pt Intel Clear Headline</a:t>
            </a:r>
            <a:endParaRPr lang="en-US" dirty="0"/>
          </a:p>
        </p:txBody>
      </p:sp>
    </p:spTree>
    <p:extLst>
      <p:ext uri="{BB962C8B-B14F-4D97-AF65-F5344CB8AC3E}">
        <p14:creationId xmlns:p14="http://schemas.microsoft.com/office/powerpoint/2010/main" val="4062063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with Attribute">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55613" y="1203325"/>
            <a:ext cx="8228013" cy="3425825"/>
          </a:xfrm>
        </p:spPr>
        <p:txBody>
          <a:bodyPr anchor="ctr" anchorCtr="0"/>
          <a:lstStyle>
            <a:lvl1pPr marL="190500" indent="-190500">
              <a:defRPr sz="3600" b="1" baseline="0">
                <a:solidFill>
                  <a:schemeClr val="accent1"/>
                </a:solidFill>
                <a:latin typeface="+mn-lt"/>
                <a:cs typeface="Arial" panose="020B0604020202020204" pitchFamily="34" charset="0"/>
              </a:defRPr>
            </a:lvl1pPr>
            <a:lvl2pPr marL="417513" indent="-225425">
              <a:buFont typeface="Intel Clear" pitchFamily="34" charset="0"/>
              <a:buChar char="–"/>
              <a:defRPr sz="1200" baseline="0">
                <a:latin typeface="+mn-lt"/>
                <a:cs typeface="Arial" panose="020B0604020202020204" pitchFamily="34" charset="0"/>
              </a:defRPr>
            </a:lvl2pPr>
            <a:lvl3pPr marL="685800" indent="-228600">
              <a:buFont typeface="Intel Clear" pitchFamily="34" charset="0"/>
              <a:buChar char="–"/>
              <a:defRPr sz="1200">
                <a:latin typeface="+mn-lt"/>
              </a:defRPr>
            </a:lvl3pPr>
            <a:lvl4pPr>
              <a:buFont typeface="Intel Clear" pitchFamily="34" charset="0"/>
              <a:buChar char="–"/>
              <a:defRPr sz="1100">
                <a:latin typeface="+mn-lt"/>
              </a:defRPr>
            </a:lvl4pPr>
            <a:lvl5pPr>
              <a:buFont typeface="Intel Clear" pitchFamily="34" charset="0"/>
              <a:buChar char="–"/>
              <a:defRPr sz="1050">
                <a:latin typeface="+mn-lt"/>
              </a:defRPr>
            </a:lvl5pPr>
          </a:lstStyle>
          <a:p>
            <a:pPr lvl="0"/>
            <a:r>
              <a:rPr lang="en-US" dirty="0" smtClean="0"/>
              <a:t>“36pt Intel Clear Bold Text”</a:t>
            </a:r>
          </a:p>
          <a:p>
            <a:pPr lvl="1"/>
            <a:r>
              <a:rPr lang="en-US" dirty="0" err="1" smtClean="0"/>
              <a:t>12pt</a:t>
            </a:r>
            <a:r>
              <a:rPr lang="en-US" dirty="0" smtClean="0"/>
              <a:t> Attribution</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Slide Number Placeholder 5"/>
          <p:cNvSpPr>
            <a:spLocks noGrp="1"/>
          </p:cNvSpPr>
          <p:nvPr>
            <p:ph type="sldNum" sz="quarter" idx="12"/>
          </p:nvPr>
        </p:nvSpPr>
        <p:spPr/>
        <p:txBody>
          <a:bodyPr/>
          <a:lstStyle/>
          <a:p>
            <a:fld id="{EE2556C5-CE8C-6547-B838-EA80C61A4AF7}" type="slidenum">
              <a:rPr lang="en-US" smtClean="0"/>
              <a:pPr/>
              <a:t>‹#›</a:t>
            </a:fld>
            <a:endParaRPr lang="en-US" dirty="0"/>
          </a:p>
        </p:txBody>
      </p:sp>
      <p:sp>
        <p:nvSpPr>
          <p:cNvPr id="7" name="Title 6"/>
          <p:cNvSpPr>
            <a:spLocks noGrp="1"/>
          </p:cNvSpPr>
          <p:nvPr>
            <p:ph type="title" hasCustomPrompt="1"/>
          </p:nvPr>
        </p:nvSpPr>
        <p:spPr>
          <a:xfrm>
            <a:off x="455613" y="308848"/>
            <a:ext cx="8229600" cy="868680"/>
          </a:xfrm>
        </p:spPr>
        <p:txBody>
          <a:bodyPr/>
          <a:lstStyle>
            <a:lvl1pPr>
              <a:defRPr b="0" i="0" baseline="0">
                <a:solidFill>
                  <a:schemeClr val="tx2"/>
                </a:solidFill>
                <a:latin typeface="+mj-lt"/>
                <a:cs typeface="Arial" panose="020B0604020202020204" pitchFamily="34" charset="0"/>
              </a:defRPr>
            </a:lvl1pPr>
          </a:lstStyle>
          <a:p>
            <a:r>
              <a:rPr lang="en-US" dirty="0" smtClean="0"/>
              <a:t>28pt Intel Clear Headline</a:t>
            </a:r>
            <a:endParaRPr lang="en-US" dirty="0"/>
          </a:p>
        </p:txBody>
      </p:sp>
    </p:spTree>
    <p:extLst>
      <p:ext uri="{BB962C8B-B14F-4D97-AF65-F5344CB8AC3E}">
        <p14:creationId xmlns:p14="http://schemas.microsoft.com/office/powerpoint/2010/main" val="11929465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ull Bleed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0" y="0"/>
            <a:ext cx="9144000" cy="4768850"/>
          </a:xfrm>
          <a:solidFill>
            <a:schemeClr val="bg2">
              <a:lumMod val="60000"/>
              <a:lumOff val="40000"/>
            </a:schemeClr>
          </a:solidFill>
        </p:spPr>
        <p:txBody>
          <a:bodyPr/>
          <a:lstStyle>
            <a:lvl1pPr marL="0" marR="0" indent="0" algn="l" defTabSz="457200" rtl="0" eaLnBrk="1" fontAlgn="auto" latinLnBrk="0" hangingPunct="1">
              <a:lnSpc>
                <a:spcPct val="100000"/>
              </a:lnSpc>
              <a:spcBef>
                <a:spcPts val="1200"/>
              </a:spcBef>
              <a:spcAft>
                <a:spcPts val="0"/>
              </a:spcAft>
              <a:buClrTx/>
              <a:buSzTx/>
              <a:buFont typeface="Wingdings" panose="05000000000000000000" pitchFamily="2" charset="2"/>
              <a:buNone/>
              <a:tabLst/>
              <a:defRPr baseline="0">
                <a:latin typeface="+mj-lt"/>
              </a:defRPr>
            </a:lvl1pPr>
          </a:lstStyle>
          <a:p>
            <a:r>
              <a:rPr lang="en-US" dirty="0" smtClean="0"/>
              <a:t>Insert photo here. Drag picture to placeholder or click icon to add.</a:t>
            </a:r>
            <a:endParaRPr lang="en-US" dirty="0"/>
          </a:p>
        </p:txBody>
      </p:sp>
      <p:sp>
        <p:nvSpPr>
          <p:cNvPr id="6" name="Slide Number Placeholder 5"/>
          <p:cNvSpPr>
            <a:spLocks noGrp="1"/>
          </p:cNvSpPr>
          <p:nvPr>
            <p:ph type="sldNum" sz="quarter" idx="12"/>
          </p:nvPr>
        </p:nvSpPr>
        <p:spPr>
          <a:xfrm>
            <a:off x="6872352" y="4824387"/>
            <a:ext cx="2133600" cy="273844"/>
          </a:xfrm>
        </p:spPr>
        <p:txBody>
          <a:bodyPr/>
          <a:lstStyle/>
          <a:p>
            <a:fld id="{EE2556C5-CE8C-6547-B838-EA80C61A4AF7}" type="slidenum">
              <a:rPr lang="en-US" smtClean="0"/>
              <a:pPr/>
              <a:t>‹#›</a:t>
            </a:fld>
            <a:endParaRPr lang="en-US" dirty="0"/>
          </a:p>
        </p:txBody>
      </p:sp>
      <p:sp>
        <p:nvSpPr>
          <p:cNvPr id="7" name="Title 6"/>
          <p:cNvSpPr>
            <a:spLocks noGrp="1"/>
          </p:cNvSpPr>
          <p:nvPr>
            <p:ph type="title" hasCustomPrompt="1"/>
          </p:nvPr>
        </p:nvSpPr>
        <p:spPr>
          <a:xfrm>
            <a:off x="455613" y="308848"/>
            <a:ext cx="8229600" cy="868680"/>
          </a:xfrm>
        </p:spPr>
        <p:txBody>
          <a:bodyPr/>
          <a:lstStyle>
            <a:lvl1pPr>
              <a:defRPr b="0" i="0" baseline="0">
                <a:solidFill>
                  <a:schemeClr val="tx2"/>
                </a:solidFill>
                <a:latin typeface="+mj-lt"/>
                <a:cs typeface="Arial" panose="020B0604020202020204" pitchFamily="34" charset="0"/>
              </a:defRPr>
            </a:lvl1pPr>
          </a:lstStyle>
          <a:p>
            <a:r>
              <a:rPr lang="en-US" dirty="0" smtClean="0"/>
              <a:t>28pt Intel Clear Headline</a:t>
            </a:r>
            <a:endParaRPr lang="en-US" dirty="0"/>
          </a:p>
        </p:txBody>
      </p:sp>
    </p:spTree>
    <p:extLst>
      <p:ext uri="{BB962C8B-B14F-4D97-AF65-F5344CB8AC3E}">
        <p14:creationId xmlns:p14="http://schemas.microsoft.com/office/powerpoint/2010/main" val="36382072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 and Bottom Half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0" y="2574131"/>
            <a:ext cx="9144000" cy="2194719"/>
          </a:xfrm>
          <a:solidFill>
            <a:schemeClr val="bg2">
              <a:lumMod val="60000"/>
              <a:lumOff val="40000"/>
            </a:schemeClr>
          </a:solidFill>
        </p:spPr>
        <p:txBody>
          <a:bodyPr/>
          <a:lstStyle>
            <a:lvl1pPr marL="0" marR="0" indent="0" algn="l" defTabSz="457200" rtl="0" eaLnBrk="1" fontAlgn="auto" latinLnBrk="0" hangingPunct="1">
              <a:lnSpc>
                <a:spcPct val="100000"/>
              </a:lnSpc>
              <a:spcBef>
                <a:spcPts val="1200"/>
              </a:spcBef>
              <a:spcAft>
                <a:spcPts val="0"/>
              </a:spcAft>
              <a:buClrTx/>
              <a:buSzTx/>
              <a:buFont typeface="Wingdings" panose="05000000000000000000" pitchFamily="2" charset="2"/>
              <a:buNone/>
              <a:tabLst/>
              <a:defRPr baseline="0"/>
            </a:lvl1pPr>
          </a:lstStyle>
          <a:p>
            <a:r>
              <a:rPr lang="en-US" dirty="0" smtClean="0"/>
              <a:t>Insert photo here. Drag picture to placeholder or click icon to add.</a:t>
            </a:r>
          </a:p>
        </p:txBody>
      </p:sp>
      <p:sp>
        <p:nvSpPr>
          <p:cNvPr id="6" name="Slide Number Placeholder 5"/>
          <p:cNvSpPr>
            <a:spLocks noGrp="1"/>
          </p:cNvSpPr>
          <p:nvPr>
            <p:ph type="sldNum" sz="quarter" idx="12"/>
          </p:nvPr>
        </p:nvSpPr>
        <p:spPr>
          <a:xfrm>
            <a:off x="6872352" y="4824387"/>
            <a:ext cx="2133600" cy="273844"/>
          </a:xfrm>
        </p:spPr>
        <p:txBody>
          <a:bodyPr/>
          <a:lstStyle/>
          <a:p>
            <a:fld id="{EE2556C5-CE8C-6547-B838-EA80C61A4AF7}" type="slidenum">
              <a:rPr lang="en-US" smtClean="0"/>
              <a:pPr/>
              <a:t>‹#›</a:t>
            </a:fld>
            <a:endParaRPr lang="en-US" dirty="0"/>
          </a:p>
        </p:txBody>
      </p:sp>
      <p:sp>
        <p:nvSpPr>
          <p:cNvPr id="18" name="Content Placeholder 2"/>
          <p:cNvSpPr>
            <a:spLocks noGrp="1"/>
          </p:cNvSpPr>
          <p:nvPr>
            <p:ph sz="half" idx="1" hasCustomPrompt="1"/>
          </p:nvPr>
        </p:nvSpPr>
        <p:spPr>
          <a:xfrm>
            <a:off x="455613" y="1203325"/>
            <a:ext cx="4006851" cy="1309290"/>
          </a:xfrm>
        </p:spPr>
        <p:txBody>
          <a:bodyPr vert="horz" lIns="0" tIns="0" rIns="0" bIns="0" rtlCol="0">
            <a:noAutofit/>
          </a:bodyPr>
          <a:lstStyle>
            <a:lvl1pPr>
              <a:defRPr lang="en-US" dirty="0" smtClean="0"/>
            </a:lvl1pPr>
            <a:lvl2pPr>
              <a:defRPr lang="en-US" dirty="0" smtClean="0">
                <a:solidFill>
                  <a:schemeClr val="tx2"/>
                </a:solidFill>
              </a:defRPr>
            </a:lvl2pPr>
            <a:lvl3pPr>
              <a:defRPr lang="en-US" sz="1400" dirty="0" smtClean="0">
                <a:solidFill>
                  <a:schemeClr val="tx2"/>
                </a:solidFill>
              </a:defRPr>
            </a:lvl3pPr>
            <a:lvl4pPr>
              <a:defRPr lang="en-US" sz="1200" dirty="0" smtClean="0">
                <a:solidFill>
                  <a:schemeClr val="tx2"/>
                </a:solidFill>
              </a:defRPr>
            </a:lvl4pPr>
            <a:lvl5pPr>
              <a:defRPr lang="en-US" sz="1200" dirty="0">
                <a:solidFill>
                  <a:schemeClr val="tx2"/>
                </a:solidFill>
              </a:defRPr>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19" name="Content Placeholder 2"/>
          <p:cNvSpPr>
            <a:spLocks noGrp="1"/>
          </p:cNvSpPr>
          <p:nvPr>
            <p:ph sz="half" idx="15" hasCustomPrompt="1"/>
          </p:nvPr>
        </p:nvSpPr>
        <p:spPr>
          <a:xfrm>
            <a:off x="4678363" y="1203325"/>
            <a:ext cx="4005264" cy="1309290"/>
          </a:xfrm>
        </p:spPr>
        <p:txBody>
          <a:bodyPr vert="horz" lIns="0" tIns="0" rIns="0" bIns="0" rtlCol="0">
            <a:noAutofit/>
          </a:bodyPr>
          <a:lstStyle>
            <a:lvl1pPr>
              <a:defRPr lang="en-US" dirty="0" smtClean="0"/>
            </a:lvl1pPr>
            <a:lvl2pPr>
              <a:defRPr lang="en-US" dirty="0" smtClean="0">
                <a:solidFill>
                  <a:schemeClr val="tx2"/>
                </a:solidFill>
              </a:defRPr>
            </a:lvl2pPr>
            <a:lvl3pPr>
              <a:defRPr lang="en-US" sz="1400" dirty="0" smtClean="0">
                <a:solidFill>
                  <a:schemeClr val="tx2"/>
                </a:solidFill>
              </a:defRPr>
            </a:lvl3pPr>
            <a:lvl4pPr>
              <a:defRPr lang="en-US" sz="1200" dirty="0" smtClean="0">
                <a:solidFill>
                  <a:schemeClr val="tx2"/>
                </a:solidFill>
              </a:defRPr>
            </a:lvl4pPr>
            <a:lvl5pPr>
              <a:defRPr lang="en-US" sz="1200" dirty="0">
                <a:solidFill>
                  <a:schemeClr val="tx2"/>
                </a:solidFill>
              </a:defRPr>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3" name="TextBox 2"/>
          <p:cNvSpPr txBox="1"/>
          <p:nvPr userDrawn="1"/>
        </p:nvSpPr>
        <p:spPr>
          <a:xfrm>
            <a:off x="1009487" y="4975795"/>
            <a:ext cx="184666" cy="246221"/>
          </a:xfrm>
          <a:prstGeom prst="rect">
            <a:avLst/>
          </a:prstGeom>
          <a:noFill/>
        </p:spPr>
        <p:txBody>
          <a:bodyPr wrap="none" rtlCol="0">
            <a:spAutoFit/>
          </a:bodyPr>
          <a:lstStyle/>
          <a:p>
            <a:endParaRPr lang="en-US" sz="1000" dirty="0" smtClean="0">
              <a:solidFill>
                <a:schemeClr val="tx2"/>
              </a:solidFill>
              <a:cs typeface="Arial" panose="020B0604020202020204" pitchFamily="34" charset="0"/>
            </a:endParaRPr>
          </a:p>
        </p:txBody>
      </p:sp>
      <p:sp>
        <p:nvSpPr>
          <p:cNvPr id="10" name="Title 6"/>
          <p:cNvSpPr>
            <a:spLocks noGrp="1"/>
          </p:cNvSpPr>
          <p:nvPr>
            <p:ph type="title" hasCustomPrompt="1"/>
          </p:nvPr>
        </p:nvSpPr>
        <p:spPr>
          <a:xfrm>
            <a:off x="455613" y="308848"/>
            <a:ext cx="8229600" cy="868680"/>
          </a:xfrm>
        </p:spPr>
        <p:txBody>
          <a:bodyPr/>
          <a:lstStyle>
            <a:lvl1pPr>
              <a:defRPr b="0" i="0" baseline="0">
                <a:solidFill>
                  <a:schemeClr val="tx2"/>
                </a:solidFill>
                <a:latin typeface="+mj-lt"/>
                <a:cs typeface="Arial" panose="020B0604020202020204" pitchFamily="34" charset="0"/>
              </a:defRPr>
            </a:lvl1pPr>
          </a:lstStyle>
          <a:p>
            <a:r>
              <a:rPr lang="en-US" dirty="0" smtClean="0"/>
              <a:t>28pt Intel Clear Headline</a:t>
            </a:r>
            <a:endParaRPr lang="en-US" dirty="0"/>
          </a:p>
        </p:txBody>
      </p:sp>
    </p:spTree>
    <p:extLst>
      <p:ext uri="{BB962C8B-B14F-4D97-AF65-F5344CB8AC3E}">
        <p14:creationId xmlns:p14="http://schemas.microsoft.com/office/powerpoint/2010/main" val="23926894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xt and Right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4678363" y="1"/>
            <a:ext cx="4465637" cy="4768849"/>
          </a:xfrm>
          <a:solidFill>
            <a:schemeClr val="bg2">
              <a:lumMod val="60000"/>
              <a:lumOff val="40000"/>
            </a:schemeClr>
          </a:solidFill>
        </p:spPr>
        <p:txBody>
          <a:bodyPr/>
          <a:lstStyle>
            <a:lvl1pPr>
              <a:defRPr baseline="0"/>
            </a:lvl1pPr>
          </a:lstStyle>
          <a:p>
            <a:r>
              <a:rPr lang="en-US" dirty="0" smtClean="0"/>
              <a:t>Insert photo here. Drag picture to placeholder or click icon to add.</a:t>
            </a:r>
            <a:endParaRPr lang="en-US" dirty="0"/>
          </a:p>
        </p:txBody>
      </p:sp>
      <p:sp>
        <p:nvSpPr>
          <p:cNvPr id="2" name="Title 1"/>
          <p:cNvSpPr>
            <a:spLocks noGrp="1"/>
          </p:cNvSpPr>
          <p:nvPr>
            <p:ph type="title" hasCustomPrompt="1"/>
          </p:nvPr>
        </p:nvSpPr>
        <p:spPr>
          <a:xfrm>
            <a:off x="455613" y="308848"/>
            <a:ext cx="4006850" cy="868680"/>
          </a:xfrm>
        </p:spPr>
        <p:txBody>
          <a:bodyPr>
            <a:noAutofit/>
          </a:bodyPr>
          <a:lstStyle>
            <a:lvl1pPr>
              <a:defRPr sz="2800" b="0" i="0" baseline="0">
                <a:solidFill>
                  <a:schemeClr val="tx2"/>
                </a:solidFill>
                <a:latin typeface="+mj-lt"/>
                <a:cs typeface="Arial" panose="020B0604020202020204" pitchFamily="34" charset="0"/>
              </a:defRPr>
            </a:lvl1pPr>
          </a:lstStyle>
          <a:p>
            <a:r>
              <a:rPr lang="en-US" dirty="0" smtClean="0"/>
              <a:t>28pt Intel Clear Headline</a:t>
            </a:r>
            <a:endParaRPr lang="en-US" dirty="0"/>
          </a:p>
        </p:txBody>
      </p:sp>
      <p:sp>
        <p:nvSpPr>
          <p:cNvPr id="6" name="Slide Number Placeholder 5"/>
          <p:cNvSpPr>
            <a:spLocks noGrp="1"/>
          </p:cNvSpPr>
          <p:nvPr>
            <p:ph type="sldNum" sz="quarter" idx="12"/>
          </p:nvPr>
        </p:nvSpPr>
        <p:spPr>
          <a:xfrm>
            <a:off x="6872352" y="4824387"/>
            <a:ext cx="2133600" cy="273844"/>
          </a:xfrm>
        </p:spPr>
        <p:txBody>
          <a:bodyPr/>
          <a:lstStyle/>
          <a:p>
            <a:fld id="{EE2556C5-CE8C-6547-B838-EA80C61A4AF7}" type="slidenum">
              <a:rPr lang="en-US" smtClean="0"/>
              <a:pPr/>
              <a:t>‹#›</a:t>
            </a:fld>
            <a:endParaRPr lang="en-US" dirty="0"/>
          </a:p>
        </p:txBody>
      </p:sp>
      <p:sp>
        <p:nvSpPr>
          <p:cNvPr id="17" name="Content Placeholder 2"/>
          <p:cNvSpPr>
            <a:spLocks noGrp="1"/>
          </p:cNvSpPr>
          <p:nvPr>
            <p:ph sz="half" idx="1" hasCustomPrompt="1"/>
          </p:nvPr>
        </p:nvSpPr>
        <p:spPr>
          <a:xfrm>
            <a:off x="455614" y="1325244"/>
            <a:ext cx="4006850" cy="3425825"/>
          </a:xfrm>
        </p:spPr>
        <p:txBody>
          <a:bodyPr vert="horz" lIns="0" tIns="0" rIns="0" bIns="0" rtlCol="0">
            <a:noAutofit/>
          </a:bodyPr>
          <a:lstStyle>
            <a:lvl1pPr>
              <a:defRPr lang="en-US" dirty="0" smtClean="0"/>
            </a:lvl1pPr>
            <a:lvl2pPr>
              <a:defRPr lang="en-US" dirty="0" smtClean="0">
                <a:solidFill>
                  <a:schemeClr val="tx2"/>
                </a:solidFill>
              </a:defRPr>
            </a:lvl2pPr>
            <a:lvl3pPr>
              <a:defRPr lang="en-US" sz="1400" dirty="0" smtClean="0">
                <a:solidFill>
                  <a:schemeClr val="tx2"/>
                </a:solidFill>
              </a:defRPr>
            </a:lvl3pPr>
            <a:lvl4pPr>
              <a:defRPr lang="en-US" sz="1200" dirty="0" smtClean="0">
                <a:solidFill>
                  <a:schemeClr val="tx2"/>
                </a:solidFill>
              </a:defRPr>
            </a:lvl4pPr>
            <a:lvl5pPr>
              <a:defRPr lang="en-US" sz="1200" dirty="0">
                <a:solidFill>
                  <a:schemeClr val="tx2"/>
                </a:solidFill>
              </a:defRPr>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Tree>
    <p:extLst>
      <p:ext uri="{BB962C8B-B14F-4D97-AF65-F5344CB8AC3E}">
        <p14:creationId xmlns:p14="http://schemas.microsoft.com/office/powerpoint/2010/main" val="29004219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White Section Brea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613" y="2108062"/>
            <a:ext cx="7772400" cy="1021556"/>
          </a:xfrm>
        </p:spPr>
        <p:txBody>
          <a:bodyPr anchor="b" anchorCtr="0">
            <a:noAutofit/>
          </a:bodyPr>
          <a:lstStyle>
            <a:lvl1pPr algn="l">
              <a:lnSpc>
                <a:spcPct val="80000"/>
              </a:lnSpc>
              <a:defRPr sz="4000" b="0" cap="none" spc="0" baseline="0">
                <a:solidFill>
                  <a:schemeClr val="tx2">
                    <a:alpha val="90000"/>
                  </a:schemeClr>
                </a:solidFill>
                <a:latin typeface="+mj-lt"/>
                <a:cs typeface="Arial" panose="020B0604020202020204" pitchFamily="34" charset="0"/>
              </a:defRPr>
            </a:lvl1pPr>
          </a:lstStyle>
          <a:p>
            <a:r>
              <a:rPr lang="en-US" dirty="0" smtClean="0"/>
              <a:t>40pt Intel Clear Pro</a:t>
            </a:r>
            <a:br>
              <a:rPr lang="en-US" dirty="0" smtClean="0"/>
            </a:br>
            <a:r>
              <a:rPr lang="en-US" dirty="0" smtClean="0"/>
              <a:t>white section break</a:t>
            </a:r>
            <a:endParaRPr lang="en-US" dirty="0"/>
          </a:p>
        </p:txBody>
      </p:sp>
      <p:sp>
        <p:nvSpPr>
          <p:cNvPr id="3" name="Text Placeholder 2"/>
          <p:cNvSpPr>
            <a:spLocks noGrp="1"/>
          </p:cNvSpPr>
          <p:nvPr>
            <p:ph type="body" idx="1" hasCustomPrompt="1"/>
          </p:nvPr>
        </p:nvSpPr>
        <p:spPr>
          <a:xfrm>
            <a:off x="455613" y="3241150"/>
            <a:ext cx="7772400" cy="1125140"/>
          </a:xfrm>
        </p:spPr>
        <p:txBody>
          <a:bodyPr anchor="t" anchorCtr="0">
            <a:noAutofit/>
          </a:bodyPr>
          <a:lstStyle>
            <a:lvl1pPr marL="0" indent="0">
              <a:buNone/>
              <a:defRPr sz="1600" b="0" baseline="0">
                <a:solidFill>
                  <a:schemeClr val="accent2"/>
                </a:solidFill>
                <a:latin typeface="+mn-lt"/>
                <a:cs typeface="Arial" panose="020B06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dirty="0" smtClean="0"/>
              <a:t>16pt Intel Clear Subhead</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EE2556C5-CE8C-6547-B838-EA80C61A4AF7}" type="slidenum">
              <a:rPr lang="en-US" smtClean="0"/>
              <a:pPr/>
              <a:t>‹#›</a:t>
            </a:fld>
            <a:endParaRPr lang="en-US" dirty="0"/>
          </a:p>
        </p:txBody>
      </p:sp>
    </p:spTree>
    <p:extLst>
      <p:ext uri="{BB962C8B-B14F-4D97-AF65-F5344CB8AC3E}">
        <p14:creationId xmlns:p14="http://schemas.microsoft.com/office/powerpoint/2010/main" val="2403727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secHead" preserve="1">
  <p:cSld name="Blue Section Break">
    <p:bg>
      <p:bgPr>
        <a:gradFill flip="none" rotWithShape="1">
          <a:gsLst>
            <a:gs pos="32000">
              <a:schemeClr val="tx2"/>
            </a:gs>
            <a:gs pos="95000">
              <a:srgbClr val="009FDF"/>
            </a:gs>
            <a:gs pos="78000">
              <a:srgbClr val="0071C5"/>
            </a:gs>
          </a:gsLst>
          <a:lin ang="19860000" scaled="0"/>
          <a:tileRect/>
        </a:gradFill>
        <a:effectLst/>
      </p:bgPr>
    </p:bg>
    <p:spTree>
      <p:nvGrpSpPr>
        <p:cNvPr id="1" name=""/>
        <p:cNvGrpSpPr/>
        <p:nvPr/>
      </p:nvGrpSpPr>
      <p:grpSpPr>
        <a:xfrm>
          <a:off x="0" y="0"/>
          <a:ext cx="0" cy="0"/>
          <a:chOff x="0" y="0"/>
          <a:chExt cx="0" cy="0"/>
        </a:xfrm>
      </p:grpSpPr>
      <p:sp>
        <p:nvSpPr>
          <p:cNvPr id="2" name="Title 1"/>
          <p:cNvSpPr>
            <a:spLocks noGrp="1"/>
          </p:cNvSpPr>
          <p:nvPr userDrawn="1">
            <p:ph type="title" hasCustomPrompt="1"/>
          </p:nvPr>
        </p:nvSpPr>
        <p:spPr>
          <a:xfrm>
            <a:off x="455613" y="2108062"/>
            <a:ext cx="7772400" cy="1021556"/>
          </a:xfrm>
        </p:spPr>
        <p:txBody>
          <a:bodyPr anchor="b" anchorCtr="0">
            <a:noAutofit/>
          </a:bodyPr>
          <a:lstStyle>
            <a:lvl1pPr algn="l">
              <a:lnSpc>
                <a:spcPct val="80000"/>
              </a:lnSpc>
              <a:defRPr sz="4000" b="0" cap="none" spc="0" baseline="0">
                <a:solidFill>
                  <a:schemeClr val="bg1">
                    <a:alpha val="90000"/>
                  </a:schemeClr>
                </a:solidFill>
                <a:latin typeface="+mj-lt"/>
                <a:cs typeface="Arial" panose="020B0604020202020204" pitchFamily="34" charset="0"/>
              </a:defRPr>
            </a:lvl1pPr>
          </a:lstStyle>
          <a:p>
            <a:r>
              <a:rPr lang="en-US" dirty="0" smtClean="0"/>
              <a:t>40pt Intel Clear Pro</a:t>
            </a:r>
            <a:br>
              <a:rPr lang="en-US" dirty="0" smtClean="0"/>
            </a:br>
            <a:r>
              <a:rPr lang="en-US" dirty="0" smtClean="0"/>
              <a:t>blue section break</a:t>
            </a:r>
            <a:endParaRPr lang="en-US" dirty="0"/>
          </a:p>
        </p:txBody>
      </p:sp>
      <p:sp>
        <p:nvSpPr>
          <p:cNvPr id="3" name="Text Placeholder 2"/>
          <p:cNvSpPr>
            <a:spLocks noGrp="1"/>
          </p:cNvSpPr>
          <p:nvPr userDrawn="1">
            <p:ph type="body" idx="1" hasCustomPrompt="1"/>
          </p:nvPr>
        </p:nvSpPr>
        <p:spPr>
          <a:xfrm>
            <a:off x="455613" y="3241150"/>
            <a:ext cx="7772400" cy="1125140"/>
          </a:xfrm>
        </p:spPr>
        <p:txBody>
          <a:bodyPr anchor="t" anchorCtr="0">
            <a:noAutofit/>
          </a:bodyPr>
          <a:lstStyle>
            <a:lvl1pPr marL="0" indent="0">
              <a:buNone/>
              <a:defRPr sz="1600" b="0" i="0" baseline="0">
                <a:solidFill>
                  <a:srgbClr val="F3D54E"/>
                </a:solidFill>
                <a:latin typeface="Arial" panose="020B0604020202020204" pitchFamily="34" charset="0"/>
                <a:cs typeface="Arial" panose="020B06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dirty="0" smtClean="0"/>
              <a:t>16pt Intel Clear Subhead</a:t>
            </a:r>
            <a:endParaRPr lang="en-US" dirty="0"/>
          </a:p>
        </p:txBody>
      </p:sp>
    </p:spTree>
    <p:extLst>
      <p:ext uri="{BB962C8B-B14F-4D97-AF65-F5344CB8AC3E}">
        <p14:creationId xmlns:p14="http://schemas.microsoft.com/office/powerpoint/2010/main" val="11101123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Hero Text">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455613" y="2234882"/>
            <a:ext cx="7772400" cy="1125140"/>
          </a:xfrm>
        </p:spPr>
        <p:txBody>
          <a:bodyPr anchor="t" anchorCtr="0">
            <a:noAutofit/>
          </a:bodyPr>
          <a:lstStyle>
            <a:lvl1pPr marL="0" indent="0">
              <a:buNone/>
              <a:defRPr sz="4000" b="0" baseline="0">
                <a:solidFill>
                  <a:schemeClr val="accent2"/>
                </a:solidFill>
                <a:latin typeface="Arial" panose="020B0604020202020204" pitchFamily="34" charset="0"/>
                <a:ea typeface="Intel Clear"/>
                <a:cs typeface="Arial" panose="020B06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dirty="0" smtClean="0"/>
              <a:t>40pt Intel Clear Light Body.</a:t>
            </a:r>
            <a:br>
              <a:rPr lang="en-US" dirty="0" smtClean="0"/>
            </a:br>
            <a:r>
              <a:rPr lang="en-US" dirty="0" smtClean="0"/>
              <a:t>For content that is not a section, but has a big idea in text only.</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EE2556C5-CE8C-6547-B838-EA80C61A4AF7}" type="slidenum">
              <a:rPr lang="en-US" smtClean="0"/>
              <a:pPr/>
              <a:t>‹#›</a:t>
            </a:fld>
            <a:endParaRPr lang="en-US" dirty="0"/>
          </a:p>
        </p:txBody>
      </p:sp>
      <p:sp>
        <p:nvSpPr>
          <p:cNvPr id="7" name="Title 1"/>
          <p:cNvSpPr>
            <a:spLocks noGrp="1"/>
          </p:cNvSpPr>
          <p:nvPr>
            <p:ph type="title" hasCustomPrompt="1"/>
          </p:nvPr>
        </p:nvSpPr>
        <p:spPr>
          <a:xfrm>
            <a:off x="455613" y="1101794"/>
            <a:ext cx="7772400" cy="1021556"/>
          </a:xfrm>
        </p:spPr>
        <p:txBody>
          <a:bodyPr anchor="b" anchorCtr="0">
            <a:noAutofit/>
          </a:bodyPr>
          <a:lstStyle>
            <a:lvl1pPr algn="l">
              <a:lnSpc>
                <a:spcPct val="80000"/>
              </a:lnSpc>
              <a:defRPr sz="4000" b="0" cap="none" spc="0" baseline="0">
                <a:solidFill>
                  <a:schemeClr val="tx2"/>
                </a:solidFill>
                <a:latin typeface="Arial" panose="020B0604020202020204" pitchFamily="34" charset="0"/>
                <a:ea typeface="Intel Clear" panose="020B0604020203020204" pitchFamily="34" charset="0"/>
                <a:cs typeface="Arial" panose="020B0604020202020204" pitchFamily="34" charset="0"/>
              </a:defRPr>
            </a:lvl1pPr>
          </a:lstStyle>
          <a:p>
            <a:r>
              <a:rPr lang="en-US" dirty="0" smtClean="0"/>
              <a:t>40pt Intel Clear Heading</a:t>
            </a:r>
            <a:endParaRPr lang="en-US" dirty="0"/>
          </a:p>
        </p:txBody>
      </p:sp>
    </p:spTree>
    <p:extLst>
      <p:ext uri="{BB962C8B-B14F-4D97-AF65-F5344CB8AC3E}">
        <p14:creationId xmlns:p14="http://schemas.microsoft.com/office/powerpoint/2010/main" val="40012562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Blue Section Break Image">
    <p:bg>
      <p:bgPr>
        <a:gradFill>
          <a:gsLst>
            <a:gs pos="32000">
              <a:schemeClr val="tx2"/>
            </a:gs>
            <a:gs pos="95000">
              <a:srgbClr val="009FDF"/>
            </a:gs>
            <a:gs pos="78000">
              <a:srgbClr val="0071C5"/>
            </a:gs>
          </a:gsLst>
          <a:lin ang="19860000" scaled="0"/>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613" y="2260088"/>
            <a:ext cx="7772400" cy="1021556"/>
          </a:xfrm>
        </p:spPr>
        <p:txBody>
          <a:bodyPr anchor="b" anchorCtr="0">
            <a:noAutofit/>
          </a:bodyPr>
          <a:lstStyle>
            <a:lvl1pPr algn="l">
              <a:lnSpc>
                <a:spcPct val="80000"/>
              </a:lnSpc>
              <a:defRPr sz="4000" b="0" cap="none" spc="0" baseline="0">
                <a:solidFill>
                  <a:schemeClr val="bg1">
                    <a:alpha val="90000"/>
                  </a:schemeClr>
                </a:solidFill>
                <a:latin typeface="+mj-lt"/>
                <a:cs typeface="Arial" panose="020B0604020202020204" pitchFamily="34" charset="0"/>
              </a:defRPr>
            </a:lvl1pPr>
          </a:lstStyle>
          <a:p>
            <a:r>
              <a:rPr lang="en-US" dirty="0" smtClean="0"/>
              <a:t>40pt Intel Clear Pro blue section</a:t>
            </a:r>
            <a:endParaRPr lang="en-US" dirty="0"/>
          </a:p>
        </p:txBody>
      </p:sp>
      <p:sp>
        <p:nvSpPr>
          <p:cNvPr id="3" name="Text Placeholder 2"/>
          <p:cNvSpPr>
            <a:spLocks noGrp="1"/>
          </p:cNvSpPr>
          <p:nvPr>
            <p:ph type="body" idx="1" hasCustomPrompt="1"/>
          </p:nvPr>
        </p:nvSpPr>
        <p:spPr>
          <a:xfrm>
            <a:off x="455613" y="3348787"/>
            <a:ext cx="7772400" cy="1125140"/>
          </a:xfrm>
        </p:spPr>
        <p:txBody>
          <a:bodyPr anchor="t" anchorCtr="0">
            <a:noAutofit/>
          </a:bodyPr>
          <a:lstStyle>
            <a:lvl1pPr marL="0" indent="0">
              <a:buNone/>
              <a:defRPr sz="1600" b="0" baseline="0">
                <a:solidFill>
                  <a:schemeClr val="accent3"/>
                </a:solidFill>
                <a:latin typeface="+mn-lt"/>
                <a:cs typeface="Arial" panose="020B06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dirty="0" smtClean="0"/>
              <a:t>16pt Intel Clear Subhead</a:t>
            </a:r>
            <a:endParaRPr lang="en-US" dirty="0"/>
          </a:p>
        </p:txBody>
      </p:sp>
      <p:sp>
        <p:nvSpPr>
          <p:cNvPr id="5" name="Picture Placeholder 4"/>
          <p:cNvSpPr>
            <a:spLocks noGrp="1"/>
          </p:cNvSpPr>
          <p:nvPr>
            <p:ph type="pic" sz="quarter" idx="13" hasCustomPrompt="1"/>
          </p:nvPr>
        </p:nvSpPr>
        <p:spPr>
          <a:xfrm>
            <a:off x="0" y="1"/>
            <a:ext cx="9144000" cy="2574131"/>
          </a:xfrm>
          <a:solidFill>
            <a:schemeClr val="bg2">
              <a:lumMod val="60000"/>
              <a:lumOff val="40000"/>
            </a:schemeClr>
          </a:solidFill>
        </p:spPr>
        <p:txBody>
          <a:bodyPr/>
          <a:lstStyle>
            <a:lvl1pPr>
              <a:defRPr baseline="0">
                <a:solidFill>
                  <a:srgbClr val="0071C5"/>
                </a:solidFill>
              </a:defRPr>
            </a:lvl1pPr>
          </a:lstStyle>
          <a:p>
            <a:r>
              <a:rPr lang="en-US" dirty="0" smtClean="0"/>
              <a:t>Insert photo here. Drag picture to placeholder or click icon to add.</a:t>
            </a:r>
            <a:endParaRPr lang="en-US" dirty="0"/>
          </a:p>
        </p:txBody>
      </p:sp>
    </p:spTree>
    <p:extLst>
      <p:ext uri="{BB962C8B-B14F-4D97-AF65-F5344CB8AC3E}">
        <p14:creationId xmlns:p14="http://schemas.microsoft.com/office/powerpoint/2010/main" val="3843762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EE2556C5-CE8C-6547-B838-EA80C61A4AF7}" type="slidenum">
              <a:rPr lang="en-US" smtClean="0"/>
              <a:pPr/>
              <a:t>‹#›</a:t>
            </a:fld>
            <a:endParaRPr lang="en-US" dirty="0"/>
          </a:p>
        </p:txBody>
      </p:sp>
      <p:sp>
        <p:nvSpPr>
          <p:cNvPr id="6" name="Title 6"/>
          <p:cNvSpPr>
            <a:spLocks noGrp="1"/>
          </p:cNvSpPr>
          <p:nvPr>
            <p:ph type="title" hasCustomPrompt="1"/>
          </p:nvPr>
        </p:nvSpPr>
        <p:spPr>
          <a:xfrm>
            <a:off x="455613" y="308848"/>
            <a:ext cx="8229600" cy="868680"/>
          </a:xfrm>
        </p:spPr>
        <p:txBody>
          <a:bodyPr/>
          <a:lstStyle>
            <a:lvl1pPr>
              <a:defRPr b="0" i="0" baseline="0">
                <a:solidFill>
                  <a:schemeClr val="tx2"/>
                </a:solidFill>
                <a:latin typeface="+mj-lt"/>
                <a:cs typeface="Arial" panose="020B0604020202020204" pitchFamily="34" charset="0"/>
              </a:defRPr>
            </a:lvl1pPr>
          </a:lstStyle>
          <a:p>
            <a:r>
              <a:rPr lang="en-US" dirty="0" smtClean="0"/>
              <a:t>28pt Intel Clear Headline</a:t>
            </a:r>
            <a:endParaRPr lang="en-US" dirty="0"/>
          </a:p>
        </p:txBody>
      </p:sp>
    </p:spTree>
    <p:extLst>
      <p:ext uri="{BB962C8B-B14F-4D97-AF65-F5344CB8AC3E}">
        <p14:creationId xmlns:p14="http://schemas.microsoft.com/office/powerpoint/2010/main" val="4137169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E2556C5-CE8C-6547-B838-EA80C61A4AF7}" type="slidenum">
              <a:rPr lang="en-US" smtClean="0"/>
              <a:pPr/>
              <a:t>‹#›</a:t>
            </a:fld>
            <a:endParaRPr lang="en-US" dirty="0"/>
          </a:p>
        </p:txBody>
      </p:sp>
    </p:spTree>
    <p:extLst>
      <p:ext uri="{BB962C8B-B14F-4D97-AF65-F5344CB8AC3E}">
        <p14:creationId xmlns:p14="http://schemas.microsoft.com/office/powerpoint/2010/main" val="3328961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blank" preserve="1">
  <p:cSld name="Back Cover Radial Gradient">
    <p:bg>
      <p:bgPr>
        <a:gradFill flip="none" rotWithShape="1">
          <a:gsLst>
            <a:gs pos="32000">
              <a:schemeClr val="tx2"/>
            </a:gs>
            <a:gs pos="95000">
              <a:srgbClr val="009FDF"/>
            </a:gs>
            <a:gs pos="78000">
              <a:srgbClr val="0071C5"/>
            </a:gs>
          </a:gsLst>
          <a:lin ang="19860000" scaled="0"/>
          <a:tileRect/>
        </a:gradFill>
        <a:effectLst/>
      </p:bgPr>
    </p:bg>
    <p:spTree>
      <p:nvGrpSpPr>
        <p:cNvPr id="1" name=""/>
        <p:cNvGrpSpPr/>
        <p:nvPr/>
      </p:nvGrpSpPr>
      <p:grpSpPr>
        <a:xfrm>
          <a:off x="0" y="0"/>
          <a:ext cx="0" cy="0"/>
          <a:chOff x="0" y="0"/>
          <a:chExt cx="0" cy="0"/>
        </a:xfrm>
      </p:grpSpPr>
      <p:pic>
        <p:nvPicPr>
          <p:cNvPr id="4" name="Picture 2" descr="\\.psf\Home\Desktop\Intel.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477432" y="1875130"/>
            <a:ext cx="2108795" cy="1389888"/>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5570096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1_Back Cover Radial Gradient">
    <p:bg>
      <p:bgPr>
        <a:gradFill flip="none" rotWithShape="1">
          <a:gsLst>
            <a:gs pos="32000">
              <a:schemeClr val="tx2"/>
            </a:gs>
            <a:gs pos="95000">
              <a:srgbClr val="009FDF"/>
            </a:gs>
            <a:gs pos="78000">
              <a:srgbClr val="0071C5"/>
            </a:gs>
          </a:gsLst>
          <a:lin ang="19860000" scaled="0"/>
          <a:tileRect/>
        </a:gradFill>
        <a:effectLst/>
      </p:bgPr>
    </p:bg>
    <p:spTree>
      <p:nvGrpSpPr>
        <p:cNvPr id="1" name=""/>
        <p:cNvGrpSpPr/>
        <p:nvPr/>
      </p:nvGrpSpPr>
      <p:grpSpPr>
        <a:xfrm>
          <a:off x="0" y="0"/>
          <a:ext cx="0" cy="0"/>
          <a:chOff x="0" y="0"/>
          <a:chExt cx="0" cy="0"/>
        </a:xfrm>
      </p:grpSpPr>
      <p:pic>
        <p:nvPicPr>
          <p:cNvPr id="5" name="Picture 4" descr="int_experience_hrz_wht_rgb_3000.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748779" y="1874822"/>
            <a:ext cx="3646443" cy="1514490"/>
          </a:xfrm>
          <a:prstGeom prst="rect">
            <a:avLst/>
          </a:prstGeom>
        </p:spPr>
      </p:pic>
    </p:spTree>
    <p:extLst>
      <p:ext uri="{BB962C8B-B14F-4D97-AF65-F5344CB8AC3E}">
        <p14:creationId xmlns:p14="http://schemas.microsoft.com/office/powerpoint/2010/main" val="1474831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2" y="183339"/>
            <a:ext cx="8229601" cy="741560"/>
          </a:xfrm>
        </p:spPr>
        <p:txBody>
          <a:bodyPr>
            <a:normAutofit/>
          </a:bodyPr>
          <a:lstStyle>
            <a:lvl1pPr>
              <a:defRPr sz="2506" baseline="0"/>
            </a:lvl1pPr>
          </a:lstStyle>
          <a:p>
            <a:r>
              <a:rPr lang="en-US" dirty="0" smtClean="0"/>
              <a:t>28pt Light headline</a:t>
            </a:r>
            <a:endParaRPr lang="en-US" dirty="0"/>
          </a:p>
        </p:txBody>
      </p:sp>
      <p:sp>
        <p:nvSpPr>
          <p:cNvPr id="4" name="Date Placeholder 3"/>
          <p:cNvSpPr>
            <a:spLocks noGrp="1"/>
          </p:cNvSpPr>
          <p:nvPr>
            <p:ph type="dt" sz="half" idx="10"/>
          </p:nvPr>
        </p:nvSpPr>
        <p:spPr>
          <a:xfrm>
            <a:off x="457200" y="4767264"/>
            <a:ext cx="2133600" cy="273844"/>
          </a:xfrm>
          <a:prstGeom prst="rect">
            <a:avLst/>
          </a:prstGeom>
        </p:spPr>
        <p:txBody>
          <a:bodyPr/>
          <a:lstStyle/>
          <a:p>
            <a:endParaRPr lang="en-US" dirty="0"/>
          </a:p>
        </p:txBody>
      </p:sp>
      <p:sp>
        <p:nvSpPr>
          <p:cNvPr id="5" name="Footer Placeholder 4"/>
          <p:cNvSpPr>
            <a:spLocks noGrp="1"/>
          </p:cNvSpPr>
          <p:nvPr>
            <p:ph type="ftr" sz="quarter" idx="11"/>
          </p:nvPr>
        </p:nvSpPr>
        <p:spPr>
          <a:xfrm>
            <a:off x="3124202" y="4767264"/>
            <a:ext cx="2895600" cy="273844"/>
          </a:xfrm>
          <a:prstGeom prst="rect">
            <a:avLst/>
          </a:prstGeom>
        </p:spPr>
        <p:txBody>
          <a:bodyPr/>
          <a:lstStyle/>
          <a:p>
            <a:endParaRPr lang="en-US"/>
          </a:p>
        </p:txBody>
      </p:sp>
      <p:sp>
        <p:nvSpPr>
          <p:cNvPr id="8" name="Text Placeholder 2"/>
          <p:cNvSpPr>
            <a:spLocks noGrp="1"/>
          </p:cNvSpPr>
          <p:nvPr>
            <p:ph idx="1"/>
          </p:nvPr>
        </p:nvSpPr>
        <p:spPr>
          <a:xfrm>
            <a:off x="455617" y="1200155"/>
            <a:ext cx="8167048" cy="3469911"/>
          </a:xfrm>
          <a:prstGeom prst="rect">
            <a:avLst/>
          </a:prstGeom>
        </p:spPr>
        <p:txBody>
          <a:bodyPr vert="horz" lIns="0" tIns="0" rIns="0" bIns="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846333140"/>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1587" y="4759452"/>
            <a:ext cx="9144000" cy="384048"/>
          </a:xfrm>
          <a:prstGeom prst="rect">
            <a:avLst/>
          </a:prstGeom>
          <a:gradFill flip="none" rotWithShape="1">
            <a:gsLst>
              <a:gs pos="32000">
                <a:schemeClr val="tx2"/>
              </a:gs>
              <a:gs pos="95000">
                <a:srgbClr val="009FDF"/>
              </a:gs>
              <a:gs pos="78000">
                <a:srgbClr val="0071C5"/>
              </a:gs>
            </a:gsLst>
            <a:lin ang="1986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11" name="Picture 2" descr="\\.psf\Home\Desktop\Intel.png"/>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8239915" y="4830589"/>
            <a:ext cx="364336" cy="240131"/>
          </a:xfrm>
          <a:prstGeom prst="rect">
            <a:avLst/>
          </a:prstGeom>
          <a:noFill/>
          <a:extLst>
            <a:ext uri="{909E8E84-426E-40dd-AFC4-6F175D3DCCD1}">
              <a14:hiddenFill xmlns="" xmlns:a14="http://schemas.microsoft.com/office/drawing/2010/main">
                <a:solidFill>
                  <a:srgbClr val="FFFFFF"/>
                </a:solidFill>
              </a14:hiddenFill>
            </a:ext>
          </a:extLst>
        </p:spPr>
      </p:pic>
      <p:cxnSp>
        <p:nvCxnSpPr>
          <p:cNvPr id="12" name="Straight Connector 11"/>
          <p:cNvCxnSpPr/>
          <p:nvPr/>
        </p:nvCxnSpPr>
        <p:spPr>
          <a:xfrm>
            <a:off x="8718551" y="4824510"/>
            <a:ext cx="2381" cy="237744"/>
          </a:xfrm>
          <a:prstGeom prst="line">
            <a:avLst/>
          </a:prstGeom>
          <a:ln w="9525">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 name="Title Placeholder 1"/>
          <p:cNvSpPr>
            <a:spLocks noGrp="1"/>
          </p:cNvSpPr>
          <p:nvPr>
            <p:ph type="title"/>
          </p:nvPr>
        </p:nvSpPr>
        <p:spPr>
          <a:xfrm>
            <a:off x="455613" y="310130"/>
            <a:ext cx="8229600" cy="868680"/>
          </a:xfrm>
          <a:prstGeom prst="rect">
            <a:avLst/>
          </a:prstGeom>
        </p:spPr>
        <p:txBody>
          <a:bodyPr vert="horz" lIns="0" tIns="0" rIns="0" bIns="0" rtlCol="0" anchor="t" anchorCtr="0">
            <a:noAutofit/>
          </a:bodyPr>
          <a:lstStyle/>
          <a:p>
            <a:r>
              <a:rPr lang="en-US" dirty="0" smtClean="0"/>
              <a:t>28pt Intel Clear Headline</a:t>
            </a:r>
            <a:endParaRPr lang="en-US" dirty="0"/>
          </a:p>
        </p:txBody>
      </p:sp>
      <p:sp>
        <p:nvSpPr>
          <p:cNvPr id="3" name="Text Placeholder 2"/>
          <p:cNvSpPr>
            <a:spLocks noGrp="1"/>
          </p:cNvSpPr>
          <p:nvPr>
            <p:ph type="body" idx="1"/>
          </p:nvPr>
        </p:nvSpPr>
        <p:spPr>
          <a:xfrm>
            <a:off x="455613" y="1203325"/>
            <a:ext cx="8228012" cy="3425825"/>
          </a:xfrm>
          <a:prstGeom prst="rect">
            <a:avLst/>
          </a:prstGeom>
        </p:spPr>
        <p:txBody>
          <a:bodyPr vert="horz" lIns="0" tIns="0" rIns="0" bIns="0" rtlCol="0">
            <a:noAutofit/>
          </a:bodyPr>
          <a:lstStyle/>
          <a:p>
            <a:pPr lvl="0"/>
            <a:r>
              <a:rPr lang="en-US" dirty="0" smtClean="0"/>
              <a:t>18pt Intel Clear body text</a:t>
            </a:r>
          </a:p>
          <a:p>
            <a:pPr lvl="1"/>
            <a:r>
              <a:rPr lang="en-US" dirty="0" smtClean="0"/>
              <a:t>16pt Intel Clear bullet one</a:t>
            </a:r>
          </a:p>
          <a:p>
            <a:pPr lvl="2"/>
            <a:r>
              <a:rPr lang="en-US" dirty="0" smtClean="0"/>
              <a:t>16pt Intel Clear sub-bullet</a:t>
            </a:r>
          </a:p>
          <a:p>
            <a:pPr lvl="3"/>
            <a:r>
              <a:rPr lang="en-US" dirty="0" err="1" smtClean="0"/>
              <a:t>14pt</a:t>
            </a:r>
            <a:r>
              <a:rPr lang="en-US" dirty="0" smtClean="0"/>
              <a:t> Intel Clear fourth level</a:t>
            </a:r>
          </a:p>
          <a:p>
            <a:pPr lvl="4"/>
            <a:r>
              <a:rPr lang="en-US" dirty="0" err="1" smtClean="0"/>
              <a:t>14pt</a:t>
            </a:r>
            <a:r>
              <a:rPr lang="en-US" dirty="0" smtClean="0"/>
              <a:t> Intel Clear fifth level</a:t>
            </a:r>
            <a:endParaRPr lang="en-US" dirty="0"/>
          </a:p>
        </p:txBody>
      </p:sp>
      <p:sp>
        <p:nvSpPr>
          <p:cNvPr id="6" name="Slide Number Placeholder 5"/>
          <p:cNvSpPr>
            <a:spLocks noGrp="1"/>
          </p:cNvSpPr>
          <p:nvPr>
            <p:ph type="sldNum" sz="quarter" idx="4"/>
          </p:nvPr>
        </p:nvSpPr>
        <p:spPr>
          <a:xfrm>
            <a:off x="6872352" y="4824387"/>
            <a:ext cx="2133600" cy="273844"/>
          </a:xfrm>
          <a:prstGeom prst="rect">
            <a:avLst/>
          </a:prstGeom>
        </p:spPr>
        <p:txBody>
          <a:bodyPr vert="horz" lIns="0" tIns="0" rIns="0" bIns="0" rtlCol="0" anchor="ctr"/>
          <a:lstStyle>
            <a:lvl1pPr algn="r">
              <a:defRPr sz="800">
                <a:solidFill>
                  <a:schemeClr val="bg1"/>
                </a:solidFill>
                <a:latin typeface="+mn-lt"/>
                <a:cs typeface="Arial" panose="020B0604020202020204" pitchFamily="34" charset="0"/>
              </a:defRPr>
            </a:lvl1pPr>
          </a:lstStyle>
          <a:p>
            <a:fld id="{EE2556C5-CE8C-6547-B838-EA80C61A4AF7}" type="slidenum">
              <a:rPr lang="en-US" smtClean="0"/>
              <a:pPr/>
              <a:t>‹#›</a:t>
            </a:fld>
            <a:endParaRPr lang="en-US" dirty="0"/>
          </a:p>
        </p:txBody>
      </p:sp>
    </p:spTree>
    <p:extLst>
      <p:ext uri="{BB962C8B-B14F-4D97-AF65-F5344CB8AC3E}">
        <p14:creationId xmlns:p14="http://schemas.microsoft.com/office/powerpoint/2010/main" val="378622782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74" r:id="rId3"/>
    <p:sldLayoutId id="2147483650" r:id="rId4"/>
    <p:sldLayoutId id="2147483684" r:id="rId5"/>
    <p:sldLayoutId id="2147483652" r:id="rId6"/>
    <p:sldLayoutId id="2147483660" r:id="rId7"/>
    <p:sldLayoutId id="2147483668" r:id="rId8"/>
    <p:sldLayoutId id="2147483669" r:id="rId9"/>
    <p:sldLayoutId id="2147483670" r:id="rId10"/>
    <p:sldLayoutId id="2147483672" r:id="rId11"/>
    <p:sldLayoutId id="2147483651" r:id="rId12"/>
    <p:sldLayoutId id="2147483677" r:id="rId13"/>
    <p:sldLayoutId id="2147483665" r:id="rId14"/>
    <p:sldLayoutId id="2147483654" r:id="rId15"/>
    <p:sldLayoutId id="2147483655" r:id="rId16"/>
    <p:sldLayoutId id="2147483676" r:id="rId17"/>
    <p:sldLayoutId id="2147483681" r:id="rId18"/>
    <p:sldLayoutId id="2147483687" r:id="rId1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hdr="0" ftr="0" dt="0"/>
  <p:txStyles>
    <p:titleStyle>
      <a:lvl1pPr algn="l" defTabSz="457200" rtl="0" eaLnBrk="1" latinLnBrk="0" hangingPunct="1">
        <a:lnSpc>
          <a:spcPct val="100000"/>
        </a:lnSpc>
        <a:spcBef>
          <a:spcPct val="0"/>
        </a:spcBef>
        <a:buNone/>
        <a:defRPr sz="2800" b="0" i="0" kern="1200" spc="0" baseline="0">
          <a:solidFill>
            <a:schemeClr val="tx2"/>
          </a:solidFill>
          <a:latin typeface="+mj-lt"/>
          <a:ea typeface="Intel Clear"/>
          <a:cs typeface="Arial" panose="020B0604020202020204" pitchFamily="34" charset="0"/>
        </a:defRPr>
      </a:lvl1pPr>
    </p:titleStyle>
    <p:bodyStyle>
      <a:lvl1pPr marL="0" indent="0" algn="l" defTabSz="457200" rtl="0" eaLnBrk="1" latinLnBrk="0" hangingPunct="1">
        <a:spcBef>
          <a:spcPts val="1200"/>
        </a:spcBef>
        <a:spcAft>
          <a:spcPts val="0"/>
        </a:spcAft>
        <a:buFont typeface="Wingdings" panose="05000000000000000000" pitchFamily="2" charset="2"/>
        <a:buNone/>
        <a:defRPr sz="1800" b="0" kern="1200">
          <a:solidFill>
            <a:srgbClr val="0071C5"/>
          </a:solidFill>
          <a:latin typeface="+mn-lt"/>
          <a:ea typeface="+mn-ea"/>
          <a:cs typeface="Arial" panose="020B0604020202020204" pitchFamily="34" charset="0"/>
        </a:defRPr>
      </a:lvl1pPr>
      <a:lvl2pPr marL="225425" indent="-225425" algn="l" defTabSz="457200" rtl="0" eaLnBrk="1" latinLnBrk="0" hangingPunct="1">
        <a:spcBef>
          <a:spcPts val="1200"/>
        </a:spcBef>
        <a:buFont typeface="Wingdings" charset="2"/>
        <a:buChar char="§"/>
        <a:defRPr sz="1600" kern="1200" baseline="0">
          <a:solidFill>
            <a:schemeClr val="tx2"/>
          </a:solidFill>
          <a:latin typeface="+mn-lt"/>
          <a:ea typeface="+mn-ea"/>
          <a:cs typeface="Arial" panose="020B0604020202020204" pitchFamily="34" charset="0"/>
        </a:defRPr>
      </a:lvl2pPr>
      <a:lvl3pPr marL="571500" indent="-228600" algn="l" defTabSz="457200" rtl="0" eaLnBrk="1" latinLnBrk="0" hangingPunct="1">
        <a:spcBef>
          <a:spcPts val="800"/>
        </a:spcBef>
        <a:buFont typeface="Intel Clear" panose="020B0604020203020204" pitchFamily="34" charset="0"/>
        <a:buChar char="–"/>
        <a:defRPr sz="1600" kern="1200">
          <a:solidFill>
            <a:schemeClr val="tx2"/>
          </a:solidFill>
          <a:latin typeface="+mn-lt"/>
          <a:ea typeface="+mn-ea"/>
          <a:cs typeface="Arial" panose="020B0604020202020204" pitchFamily="34" charset="0"/>
        </a:defRPr>
      </a:lvl3pPr>
      <a:lvl4pPr marL="969963" indent="-228600" algn="l" defTabSz="457200" rtl="0" eaLnBrk="1" latinLnBrk="0" hangingPunct="1">
        <a:spcBef>
          <a:spcPct val="20000"/>
        </a:spcBef>
        <a:buFont typeface="Arial"/>
        <a:buChar char="–"/>
        <a:defRPr sz="1400" kern="1200">
          <a:solidFill>
            <a:schemeClr val="tx2"/>
          </a:solidFill>
          <a:latin typeface="+mn-lt"/>
          <a:ea typeface="+mn-ea"/>
          <a:cs typeface="Arial" panose="020B0604020202020204" pitchFamily="34" charset="0"/>
        </a:defRPr>
      </a:lvl4pPr>
      <a:lvl5pPr marL="1319213" indent="-228600" algn="l" defTabSz="457200" rtl="0" eaLnBrk="1" latinLnBrk="0" hangingPunct="1">
        <a:spcBef>
          <a:spcPct val="20000"/>
        </a:spcBef>
        <a:buFont typeface="Intel Clear" panose="020B0604020203020204" pitchFamily="34" charset="0"/>
        <a:buChar char="–"/>
        <a:defRPr sz="1400" kern="1200">
          <a:solidFill>
            <a:schemeClr val="tx2"/>
          </a:solidFill>
          <a:latin typeface="+mn-lt"/>
          <a:ea typeface="+mn-ea"/>
          <a:cs typeface="Arial" panose="020B0604020202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itpeernetwork.intel.com/myth-busted-general-purpose-cpus-cant-tackle-deep-neural-network-training/" TargetMode="Externa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tensorflow/tensorflow/tree/master/tensorflow/core/kernels" TargetMode="External"/><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hyperlink" Target="http://www.intel.com/products/processor_number" TargetMode="External"/><Relationship Id="rId1" Type="http://schemas.openxmlformats.org/officeDocument/2006/relationships/slideLayout" Target="../slideLayouts/slideLayout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5612" y="1354667"/>
            <a:ext cx="8281987" cy="1700106"/>
          </a:xfrm>
        </p:spPr>
        <p:txBody>
          <a:bodyPr/>
          <a:lstStyle/>
          <a:p>
            <a:r>
              <a:rPr lang="en-US" sz="4400" dirty="0"/>
              <a:t>Accelerating Tensorflow* on Modern Intel Architectures</a:t>
            </a:r>
            <a:endParaRPr lang="en-US" sz="4400" dirty="0">
              <a:solidFill>
                <a:schemeClr val="bg1">
                  <a:alpha val="90000"/>
                </a:schemeClr>
              </a:solidFill>
            </a:endParaRPr>
          </a:p>
        </p:txBody>
      </p:sp>
      <p:sp>
        <p:nvSpPr>
          <p:cNvPr id="3" name="Subtitle 2"/>
          <p:cNvSpPr>
            <a:spLocks noGrp="1"/>
          </p:cNvSpPr>
          <p:nvPr>
            <p:ph type="subTitle" idx="1"/>
          </p:nvPr>
        </p:nvSpPr>
        <p:spPr>
          <a:xfrm>
            <a:off x="455612" y="3493007"/>
            <a:ext cx="7773988" cy="1272683"/>
          </a:xfrm>
        </p:spPr>
        <p:txBody>
          <a:bodyPr/>
          <a:lstStyle/>
          <a:p>
            <a:r>
              <a:rPr lang="en-US" sz="2000" dirty="0" smtClean="0"/>
              <a:t>10 September, 2017  @ AIM2017 Workshop</a:t>
            </a:r>
            <a:endParaRPr lang="en-US" sz="2000" b="0" dirty="0" smtClean="0"/>
          </a:p>
          <a:p>
            <a:r>
              <a:rPr lang="en-US" sz="2000" b="0" dirty="0" smtClean="0"/>
              <a:t>Guozhong </a:t>
            </a:r>
            <a:r>
              <a:rPr lang="en-US" sz="2000" b="0" dirty="0" smtClean="0"/>
              <a:t>Zhuang</a:t>
            </a:r>
            <a:endParaRPr lang="en-US" sz="2000" b="0" dirty="0"/>
          </a:p>
        </p:txBody>
      </p:sp>
    </p:spTree>
    <p:extLst>
      <p:ext uri="{BB962C8B-B14F-4D97-AF65-F5344CB8AC3E}">
        <p14:creationId xmlns:p14="http://schemas.microsoft.com/office/powerpoint/2010/main" val="299221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E2556C5-CE8C-6547-B838-EA80C61A4AF7}" type="slidenum">
              <a:rPr lang="en-US" smtClean="0"/>
              <a:pPr/>
              <a:t>2</a:t>
            </a:fld>
            <a:endParaRPr lang="en-US" dirty="0"/>
          </a:p>
        </p:txBody>
      </p:sp>
      <p:sp>
        <p:nvSpPr>
          <p:cNvPr id="5" name="Content Placeholder 4"/>
          <p:cNvSpPr>
            <a:spLocks noGrp="1"/>
          </p:cNvSpPr>
          <p:nvPr>
            <p:ph sz="half" idx="1"/>
          </p:nvPr>
        </p:nvSpPr>
        <p:spPr>
          <a:xfrm>
            <a:off x="454027" y="1020868"/>
            <a:ext cx="3195213" cy="3341159"/>
          </a:xfrm>
        </p:spPr>
        <p:txBody>
          <a:bodyPr/>
          <a:lstStyle/>
          <a:p>
            <a:pPr marL="285750" indent="-285750">
              <a:buFont typeface="Arial" panose="020B0604020202020204" pitchFamily="34" charset="0"/>
              <a:buChar char="•"/>
            </a:pPr>
            <a:r>
              <a:rPr lang="en-US" sz="1600" dirty="0"/>
              <a:t>Elmoustapha </a:t>
            </a:r>
            <a:r>
              <a:rPr lang="en-US" sz="1600" dirty="0" smtClean="0"/>
              <a:t>Ould-Ahmed-Vall</a:t>
            </a:r>
          </a:p>
          <a:p>
            <a:r>
              <a:rPr lang="en-US" sz="1600" dirty="0"/>
              <a:t> </a:t>
            </a:r>
            <a:r>
              <a:rPr lang="en-US" sz="1600" dirty="0" smtClean="0"/>
              <a:t>     (Senior Principal Engineer)</a:t>
            </a:r>
          </a:p>
          <a:p>
            <a:pPr marL="285750" indent="-285750">
              <a:buFont typeface="Arial" panose="020B0604020202020204" pitchFamily="34" charset="0"/>
              <a:buChar char="•"/>
            </a:pPr>
            <a:r>
              <a:rPr lang="en-US" sz="1600" dirty="0" smtClean="0"/>
              <a:t>Mahmoud Abuzaina</a:t>
            </a:r>
          </a:p>
          <a:p>
            <a:pPr marL="285750" indent="-285750">
              <a:buFont typeface="Arial" panose="020B0604020202020204" pitchFamily="34" charset="0"/>
              <a:buChar char="•"/>
            </a:pPr>
            <a:r>
              <a:rPr lang="en-US" sz="1600" dirty="0" smtClean="0"/>
              <a:t>AG Ramesh</a:t>
            </a:r>
          </a:p>
          <a:p>
            <a:pPr marL="285750" indent="-285750">
              <a:buFont typeface="Arial" panose="020B0604020202020204" pitchFamily="34" charset="0"/>
              <a:buChar char="•"/>
            </a:pPr>
            <a:r>
              <a:rPr lang="en-US" sz="1600" dirty="0"/>
              <a:t>Niranjan Hasabnis</a:t>
            </a:r>
            <a:endParaRPr lang="en-US" sz="1600" dirty="0" smtClean="0"/>
          </a:p>
          <a:p>
            <a:pPr marL="285750" indent="-285750">
              <a:buFont typeface="Arial" panose="020B0604020202020204" pitchFamily="34" charset="0"/>
              <a:buChar char="•"/>
            </a:pPr>
            <a:r>
              <a:rPr lang="en-US" sz="1600" dirty="0" smtClean="0"/>
              <a:t>Md </a:t>
            </a:r>
            <a:r>
              <a:rPr lang="en-US" sz="1600" dirty="0"/>
              <a:t>Faijul </a:t>
            </a:r>
            <a:r>
              <a:rPr lang="en-US" sz="1600" dirty="0" smtClean="0"/>
              <a:t>Amin</a:t>
            </a:r>
          </a:p>
          <a:p>
            <a:pPr marL="285750" indent="-285750">
              <a:buFont typeface="Arial" panose="020B0604020202020204" pitchFamily="34" charset="0"/>
              <a:buChar char="•"/>
            </a:pPr>
            <a:r>
              <a:rPr lang="en-US" sz="1600" dirty="0" smtClean="0"/>
              <a:t>Jayaram Bobba</a:t>
            </a:r>
          </a:p>
          <a:p>
            <a:pPr marL="285750" indent="-285750">
              <a:buFont typeface="Arial" panose="020B0604020202020204" pitchFamily="34" charset="0"/>
              <a:buChar char="•"/>
            </a:pPr>
            <a:r>
              <a:rPr lang="en-US" sz="1600" dirty="0" smtClean="0"/>
              <a:t>Roman </a:t>
            </a:r>
            <a:r>
              <a:rPr lang="en-US" sz="1600" dirty="0"/>
              <a:t>S </a:t>
            </a:r>
            <a:r>
              <a:rPr lang="en-US" sz="1600" dirty="0" smtClean="0"/>
              <a:t>Dubtsov </a:t>
            </a:r>
          </a:p>
        </p:txBody>
      </p:sp>
      <p:sp>
        <p:nvSpPr>
          <p:cNvPr id="6" name="Content Placeholder 5"/>
          <p:cNvSpPr>
            <a:spLocks noGrp="1"/>
          </p:cNvSpPr>
          <p:nvPr>
            <p:ph sz="half" idx="13"/>
          </p:nvPr>
        </p:nvSpPr>
        <p:spPr>
          <a:xfrm>
            <a:off x="3833073" y="900853"/>
            <a:ext cx="2330660" cy="3461174"/>
          </a:xfrm>
        </p:spPr>
        <p:txBody>
          <a:bodyPr/>
          <a:lstStyle/>
          <a:p>
            <a:pPr marL="285750" indent="-285750">
              <a:buFont typeface="Arial" panose="020B0604020202020204" pitchFamily="34" charset="0"/>
              <a:buChar char="•"/>
            </a:pPr>
            <a:r>
              <a:rPr lang="en-US" sz="1600" dirty="0"/>
              <a:t>Evarist M </a:t>
            </a:r>
            <a:r>
              <a:rPr lang="en-US" sz="1600" dirty="0" smtClean="0"/>
              <a:t>Fomenko</a:t>
            </a:r>
          </a:p>
          <a:p>
            <a:pPr marL="285750" indent="-285750">
              <a:buFont typeface="Arial" panose="020B0604020202020204" pitchFamily="34" charset="0"/>
              <a:buChar char="•"/>
            </a:pPr>
            <a:r>
              <a:rPr lang="en-US" sz="1600" dirty="0" err="1" smtClean="0"/>
              <a:t>Mukesh</a:t>
            </a:r>
            <a:r>
              <a:rPr lang="en-US" sz="1600" dirty="0" smtClean="0"/>
              <a:t> </a:t>
            </a:r>
            <a:r>
              <a:rPr lang="en-US" sz="1600" dirty="0" err="1"/>
              <a:t>Gangadhar</a:t>
            </a:r>
            <a:endParaRPr lang="en-US" sz="1600" dirty="0"/>
          </a:p>
          <a:p>
            <a:pPr marL="285750" indent="-285750">
              <a:buFont typeface="Arial" panose="020B0604020202020204" pitchFamily="34" charset="0"/>
              <a:buChar char="•"/>
            </a:pPr>
            <a:r>
              <a:rPr lang="en-US" sz="1600" dirty="0"/>
              <a:t>Jing </a:t>
            </a:r>
            <a:r>
              <a:rPr lang="en-US" sz="1600" dirty="0" smtClean="0"/>
              <a:t>Huang</a:t>
            </a:r>
          </a:p>
          <a:p>
            <a:pPr marL="285750" indent="-285750">
              <a:buFont typeface="Arial" panose="020B0604020202020204" pitchFamily="34" charset="0"/>
              <a:buChar char="•"/>
            </a:pPr>
            <a:r>
              <a:rPr lang="en-US" sz="1600" dirty="0" err="1" smtClean="0"/>
              <a:t>Deepthi</a:t>
            </a:r>
            <a:r>
              <a:rPr lang="en-US" sz="1600" dirty="0" smtClean="0"/>
              <a:t> </a:t>
            </a:r>
            <a:r>
              <a:rPr lang="en-US" sz="1600" dirty="0" err="1" smtClean="0"/>
              <a:t>Karkada</a:t>
            </a:r>
            <a:endParaRPr lang="en-US" sz="1600" dirty="0" smtClean="0"/>
          </a:p>
          <a:p>
            <a:pPr marL="285750" indent="-285750">
              <a:buFont typeface="Arial" panose="020B0604020202020204" pitchFamily="34" charset="0"/>
              <a:buChar char="•"/>
            </a:pPr>
            <a:r>
              <a:rPr lang="en-US" sz="1600" dirty="0" smtClean="0"/>
              <a:t>Young </a:t>
            </a:r>
            <a:r>
              <a:rPr lang="en-US" sz="1600" dirty="0"/>
              <a:t>Jin </a:t>
            </a:r>
            <a:r>
              <a:rPr lang="en-US" sz="1600" dirty="0" smtClean="0"/>
              <a:t>Kim</a:t>
            </a:r>
          </a:p>
          <a:p>
            <a:pPr marL="285750" indent="-285750">
              <a:buFont typeface="Arial" panose="020B0604020202020204" pitchFamily="34" charset="0"/>
              <a:buChar char="•"/>
            </a:pPr>
            <a:r>
              <a:rPr lang="en-US" sz="1600" dirty="0" smtClean="0"/>
              <a:t>Srihari </a:t>
            </a:r>
            <a:r>
              <a:rPr lang="en-US" sz="1600" dirty="0" err="1" smtClean="0"/>
              <a:t>Makineni</a:t>
            </a:r>
            <a:endParaRPr lang="en-US" sz="1600" dirty="0" smtClean="0"/>
          </a:p>
          <a:p>
            <a:pPr marL="285750" indent="-285750">
              <a:buFont typeface="Arial" panose="020B0604020202020204" pitchFamily="34" charset="0"/>
              <a:buChar char="•"/>
            </a:pPr>
            <a:r>
              <a:rPr lang="en-US" sz="1600" dirty="0" smtClean="0"/>
              <a:t>Dmitri </a:t>
            </a:r>
            <a:r>
              <a:rPr lang="en-US" sz="1600" dirty="0" err="1" smtClean="0"/>
              <a:t>Mishura</a:t>
            </a:r>
            <a:endParaRPr lang="en-US" sz="1600" dirty="0" smtClean="0"/>
          </a:p>
          <a:p>
            <a:pPr marL="285750" indent="-285750">
              <a:buFont typeface="Arial" panose="020B0604020202020204" pitchFamily="34" charset="0"/>
              <a:buChar char="•"/>
            </a:pPr>
            <a:r>
              <a:rPr lang="en-US" sz="1600" dirty="0" err="1" smtClean="0"/>
              <a:t>Karthik</a:t>
            </a:r>
            <a:r>
              <a:rPr lang="en-US" sz="1600" dirty="0" smtClean="0"/>
              <a:t> Raman </a:t>
            </a:r>
          </a:p>
        </p:txBody>
      </p:sp>
      <p:sp>
        <p:nvSpPr>
          <p:cNvPr id="3" name="Title 2"/>
          <p:cNvSpPr>
            <a:spLocks noGrp="1"/>
          </p:cNvSpPr>
          <p:nvPr>
            <p:ph type="title"/>
          </p:nvPr>
        </p:nvSpPr>
        <p:spPr>
          <a:xfrm>
            <a:off x="454027" y="166608"/>
            <a:ext cx="8229600" cy="539008"/>
          </a:xfrm>
        </p:spPr>
        <p:txBody>
          <a:bodyPr/>
          <a:lstStyle/>
          <a:p>
            <a:r>
              <a:rPr lang="en-US" dirty="0" smtClean="0"/>
              <a:t>Acknowledgement</a:t>
            </a:r>
            <a:endParaRPr lang="en-US" dirty="0"/>
          </a:p>
        </p:txBody>
      </p:sp>
      <p:sp>
        <p:nvSpPr>
          <p:cNvPr id="7" name="Content Placeholder 5"/>
          <p:cNvSpPr txBox="1">
            <a:spLocks/>
          </p:cNvSpPr>
          <p:nvPr/>
        </p:nvSpPr>
        <p:spPr>
          <a:xfrm>
            <a:off x="6266710" y="900853"/>
            <a:ext cx="2362517" cy="3508587"/>
          </a:xfrm>
          <a:prstGeom prst="rect">
            <a:avLst/>
          </a:prstGeom>
        </p:spPr>
        <p:txBody>
          <a:bodyPr vert="horz" lIns="0" tIns="0" rIns="0" bIns="0" rtlCol="0">
            <a:noAutofit/>
          </a:bodyPr>
          <a:lstStyle>
            <a:lvl1pPr marL="0" indent="0" algn="l" defTabSz="457200" rtl="0" eaLnBrk="1" latinLnBrk="0" hangingPunct="1">
              <a:spcBef>
                <a:spcPts val="1200"/>
              </a:spcBef>
              <a:spcAft>
                <a:spcPts val="0"/>
              </a:spcAft>
              <a:buFont typeface="Wingdings" panose="05000000000000000000" pitchFamily="2" charset="2"/>
              <a:buNone/>
              <a:defRPr lang="en-US" sz="1800" b="0" kern="1200" dirty="0" smtClean="0">
                <a:solidFill>
                  <a:srgbClr val="0071C5"/>
                </a:solidFill>
                <a:latin typeface="+mn-lt"/>
                <a:ea typeface="+mn-ea"/>
                <a:cs typeface="Arial" panose="020B0604020202020204" pitchFamily="34" charset="0"/>
              </a:defRPr>
            </a:lvl1pPr>
            <a:lvl2pPr marL="225425" indent="-225425" algn="l" defTabSz="457200" rtl="0" eaLnBrk="1" latinLnBrk="0" hangingPunct="1">
              <a:spcBef>
                <a:spcPts val="1200"/>
              </a:spcBef>
              <a:buFont typeface="Wingdings" charset="2"/>
              <a:buChar char="§"/>
              <a:defRPr lang="en-US" sz="1600" kern="1200" baseline="0" dirty="0" smtClean="0">
                <a:solidFill>
                  <a:schemeClr val="tx2"/>
                </a:solidFill>
                <a:latin typeface="+mn-lt"/>
                <a:ea typeface="+mn-ea"/>
                <a:cs typeface="Arial" panose="020B0604020202020204" pitchFamily="34" charset="0"/>
              </a:defRPr>
            </a:lvl2pPr>
            <a:lvl3pPr marL="571500" indent="-228600" algn="l" defTabSz="457200" rtl="0" eaLnBrk="1" latinLnBrk="0" hangingPunct="1">
              <a:spcBef>
                <a:spcPts val="800"/>
              </a:spcBef>
              <a:buFont typeface="Intel Clear" panose="020B0604020203020204" pitchFamily="34" charset="0"/>
              <a:buChar char="–"/>
              <a:defRPr lang="en-US" sz="1400" kern="1200" dirty="0" smtClean="0">
                <a:solidFill>
                  <a:schemeClr val="tx2"/>
                </a:solidFill>
                <a:latin typeface="+mn-lt"/>
                <a:ea typeface="+mn-ea"/>
                <a:cs typeface="Arial" panose="020B0604020202020204" pitchFamily="34" charset="0"/>
              </a:defRPr>
            </a:lvl3pPr>
            <a:lvl4pPr marL="969963" indent="-228600" algn="l" defTabSz="457200" rtl="0" eaLnBrk="1" latinLnBrk="0" hangingPunct="1">
              <a:spcBef>
                <a:spcPct val="20000"/>
              </a:spcBef>
              <a:buFont typeface="Arial"/>
              <a:buChar char="–"/>
              <a:defRPr lang="en-US" sz="1200" kern="1200" dirty="0" smtClean="0">
                <a:solidFill>
                  <a:schemeClr val="tx2"/>
                </a:solidFill>
                <a:latin typeface="+mn-lt"/>
                <a:ea typeface="+mn-ea"/>
                <a:cs typeface="Arial" panose="020B0604020202020204" pitchFamily="34" charset="0"/>
              </a:defRPr>
            </a:lvl4pPr>
            <a:lvl5pPr marL="1319213" indent="-228600" algn="l" defTabSz="457200" rtl="0" eaLnBrk="1" latinLnBrk="0" hangingPunct="1">
              <a:spcBef>
                <a:spcPct val="20000"/>
              </a:spcBef>
              <a:buFont typeface="Intel Clear" panose="020B0604020203020204" pitchFamily="34" charset="0"/>
              <a:buChar char="–"/>
              <a:defRPr lang="en-US" sz="1200" kern="1200" dirty="0">
                <a:solidFill>
                  <a:schemeClr val="tx2"/>
                </a:solidFill>
                <a:latin typeface="+mn-lt"/>
                <a:ea typeface="+mn-ea"/>
                <a:cs typeface="Arial" panose="020B0604020202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85750" indent="-285750">
              <a:buFont typeface="Arial" panose="020B0604020202020204" pitchFamily="34" charset="0"/>
              <a:buChar char="•"/>
            </a:pPr>
            <a:r>
              <a:rPr lang="en-US" sz="1600" dirty="0"/>
              <a:t>Vivek V Rane</a:t>
            </a:r>
          </a:p>
          <a:p>
            <a:pPr marL="285750" indent="-285750">
              <a:buFont typeface="Arial" panose="020B0604020202020204" pitchFamily="34" charset="0"/>
              <a:buChar char="•"/>
            </a:pPr>
            <a:r>
              <a:rPr lang="en-US" sz="1600" dirty="0"/>
              <a:t>Michael </a:t>
            </a:r>
            <a:r>
              <a:rPr lang="en-US" sz="1600" dirty="0" err="1" smtClean="0"/>
              <a:t>Riera</a:t>
            </a:r>
            <a:endParaRPr lang="en-US" sz="1600" dirty="0" smtClean="0"/>
          </a:p>
          <a:p>
            <a:pPr marL="285750" indent="-285750">
              <a:buFont typeface="Arial" panose="020B0604020202020204" pitchFamily="34" charset="0"/>
              <a:buChar char="•"/>
            </a:pPr>
            <a:r>
              <a:rPr lang="en-US" sz="1600" dirty="0" smtClean="0"/>
              <a:t>Dmitry </a:t>
            </a:r>
            <a:r>
              <a:rPr lang="en-US" sz="1600" dirty="0" err="1" smtClean="0"/>
              <a:t>Sergeev</a:t>
            </a:r>
            <a:endParaRPr lang="en-US" sz="1600" dirty="0" smtClean="0"/>
          </a:p>
          <a:p>
            <a:pPr marL="285750" indent="-285750">
              <a:buFont typeface="Arial" panose="020B0604020202020204" pitchFamily="34" charset="0"/>
              <a:buChar char="•"/>
            </a:pPr>
            <a:r>
              <a:rPr lang="en-US" sz="1600" dirty="0" smtClean="0"/>
              <a:t>Vamsi Sripathi</a:t>
            </a:r>
          </a:p>
          <a:p>
            <a:pPr marL="285750" indent="-285750">
              <a:buFont typeface="Arial" panose="020B0604020202020204" pitchFamily="34" charset="0"/>
              <a:buChar char="•"/>
            </a:pPr>
            <a:r>
              <a:rPr lang="en-US" sz="1600" dirty="0" err="1" smtClean="0"/>
              <a:t>Bhavani</a:t>
            </a:r>
            <a:r>
              <a:rPr lang="en-US" sz="1600" dirty="0" smtClean="0"/>
              <a:t> Subramanian</a:t>
            </a:r>
          </a:p>
          <a:p>
            <a:pPr marL="285750" indent="-285750">
              <a:buFont typeface="Arial" panose="020B0604020202020204" pitchFamily="34" charset="0"/>
              <a:buChar char="•"/>
            </a:pPr>
            <a:r>
              <a:rPr lang="en-US" sz="1600" dirty="0" smtClean="0"/>
              <a:t>Lakshay Tokas</a:t>
            </a:r>
          </a:p>
          <a:p>
            <a:pPr marL="285750" indent="-285750">
              <a:buFont typeface="Arial" panose="020B0604020202020204" pitchFamily="34" charset="0"/>
              <a:buChar char="•"/>
            </a:pPr>
            <a:r>
              <a:rPr lang="en-US" sz="1600" dirty="0" smtClean="0"/>
              <a:t>Antonio C Valles</a:t>
            </a:r>
            <a:endParaRPr lang="en-US" sz="1600" dirty="0"/>
          </a:p>
        </p:txBody>
      </p:sp>
    </p:spTree>
    <p:extLst>
      <p:ext uri="{BB962C8B-B14F-4D97-AF65-F5344CB8AC3E}">
        <p14:creationId xmlns:p14="http://schemas.microsoft.com/office/powerpoint/2010/main" val="2720465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5613" y="182434"/>
            <a:ext cx="8229600" cy="743575"/>
          </a:xfrm>
        </p:spPr>
        <p:txBody>
          <a:bodyPr/>
          <a:lstStyle/>
          <a:p>
            <a:r>
              <a:rPr lang="en-US" dirty="0" smtClean="0"/>
              <a:t>Agenda</a:t>
            </a:r>
            <a:endParaRPr lang="en-US" dirty="0"/>
          </a:p>
        </p:txBody>
      </p:sp>
      <p:sp>
        <p:nvSpPr>
          <p:cNvPr id="3" name="Content Placeholder 2"/>
          <p:cNvSpPr>
            <a:spLocks noGrp="1"/>
          </p:cNvSpPr>
          <p:nvPr>
            <p:ph sz="quarter" idx="13"/>
          </p:nvPr>
        </p:nvSpPr>
        <p:spPr>
          <a:xfrm>
            <a:off x="392405" y="828295"/>
            <a:ext cx="8237508" cy="3625718"/>
          </a:xfrm>
        </p:spPr>
        <p:txBody>
          <a:bodyPr>
            <a:noAutofit/>
          </a:bodyPr>
          <a:lstStyle/>
          <a:p>
            <a:pPr marL="285750" indent="-285750">
              <a:buFont typeface="Arial" panose="020B0604020202020204" pitchFamily="34" charset="0"/>
              <a:buChar char="•"/>
            </a:pPr>
            <a:r>
              <a:rPr lang="en-US" sz="1600" dirty="0" smtClean="0">
                <a:solidFill>
                  <a:srgbClr val="003C71"/>
                </a:solidFill>
              </a:rPr>
              <a:t>Optimizations</a:t>
            </a:r>
          </a:p>
          <a:p>
            <a:pPr marL="568325" lvl="1" indent="-342900">
              <a:buFont typeface="+mj-lt"/>
              <a:buAutoNum type="arabicPeriod"/>
            </a:pPr>
            <a:r>
              <a:rPr lang="en-US" sz="1600" dirty="0" smtClean="0">
                <a:solidFill>
                  <a:srgbClr val="003C71"/>
                </a:solidFill>
              </a:rPr>
              <a:t>Operator-level optimizations </a:t>
            </a:r>
            <a:r>
              <a:rPr lang="en-US" sz="1600" dirty="0" smtClean="0">
                <a:solidFill>
                  <a:srgbClr val="003C71"/>
                </a:solidFill>
              </a:rPr>
              <a:t>in TensorFlow</a:t>
            </a:r>
            <a:r>
              <a:rPr lang="en-US" sz="1600" dirty="0">
                <a:solidFill>
                  <a:srgbClr val="003C71"/>
                </a:solidFill>
              </a:rPr>
              <a:t>* for Intel® Architectures</a:t>
            </a:r>
            <a:endParaRPr lang="en-US" sz="1600" dirty="0" smtClean="0">
              <a:solidFill>
                <a:srgbClr val="003C71"/>
              </a:solidFill>
            </a:endParaRPr>
          </a:p>
          <a:p>
            <a:pPr marL="914400" lvl="2" indent="-342900"/>
            <a:r>
              <a:rPr lang="en-US" dirty="0">
                <a:solidFill>
                  <a:srgbClr val="003C71"/>
                </a:solidFill>
              </a:rPr>
              <a:t>Intel® </a:t>
            </a:r>
            <a:r>
              <a:rPr lang="en-US" dirty="0" smtClean="0">
                <a:solidFill>
                  <a:srgbClr val="003C71"/>
                </a:solidFill>
              </a:rPr>
              <a:t>MKL </a:t>
            </a:r>
            <a:r>
              <a:rPr lang="en-US" dirty="0" smtClean="0">
                <a:solidFill>
                  <a:srgbClr val="003C71"/>
                </a:solidFill>
              </a:rPr>
              <a:t>integration</a:t>
            </a:r>
          </a:p>
          <a:p>
            <a:pPr marL="914400" lvl="2" indent="-342900"/>
            <a:r>
              <a:rPr lang="en-US" dirty="0" smtClean="0">
                <a:solidFill>
                  <a:srgbClr val="003C71"/>
                </a:solidFill>
              </a:rPr>
              <a:t>Limitation of operator-level optimizations</a:t>
            </a:r>
          </a:p>
          <a:p>
            <a:pPr marL="568325" lvl="1" indent="-342900">
              <a:buFont typeface="+mj-lt"/>
              <a:buAutoNum type="arabicPeriod"/>
            </a:pPr>
            <a:r>
              <a:rPr lang="en-US" sz="1600" dirty="0" smtClean="0">
                <a:solidFill>
                  <a:srgbClr val="003C71"/>
                </a:solidFill>
              </a:rPr>
              <a:t>Graph-level optimizations in </a:t>
            </a:r>
            <a:r>
              <a:rPr lang="en-US" sz="1600" dirty="0">
                <a:solidFill>
                  <a:srgbClr val="003C71"/>
                </a:solidFill>
              </a:rPr>
              <a:t>TensorFlow* for Intel® Architectures </a:t>
            </a:r>
            <a:endParaRPr lang="en-US" sz="1600" dirty="0" smtClean="0">
              <a:solidFill>
                <a:srgbClr val="003C71"/>
              </a:solidFill>
            </a:endParaRPr>
          </a:p>
          <a:p>
            <a:pPr marL="914400" lvl="2" indent="-342900">
              <a:buFont typeface="+mj-lt"/>
              <a:buAutoNum type="arabicPeriod"/>
            </a:pPr>
            <a:r>
              <a:rPr lang="en-US" dirty="0" smtClean="0">
                <a:solidFill>
                  <a:srgbClr val="003C71"/>
                </a:solidFill>
              </a:rPr>
              <a:t>Data </a:t>
            </a:r>
            <a:r>
              <a:rPr lang="en-US" dirty="0" smtClean="0">
                <a:solidFill>
                  <a:srgbClr val="003C71"/>
                </a:solidFill>
              </a:rPr>
              <a:t>layout conversion optimization</a:t>
            </a:r>
          </a:p>
          <a:p>
            <a:pPr marL="914400" lvl="2" indent="-342900">
              <a:buFont typeface="+mj-lt"/>
              <a:buAutoNum type="arabicPeriod"/>
            </a:pPr>
            <a:r>
              <a:rPr lang="en-US" dirty="0" smtClean="0">
                <a:solidFill>
                  <a:srgbClr val="003C71"/>
                </a:solidFill>
              </a:rPr>
              <a:t>Node merging optimization</a:t>
            </a:r>
          </a:p>
          <a:p>
            <a:pPr marL="914400" lvl="2" indent="-342900">
              <a:buFont typeface="+mj-lt"/>
              <a:buAutoNum type="arabicPeriod"/>
            </a:pPr>
            <a:r>
              <a:rPr lang="en-US" dirty="0" smtClean="0">
                <a:solidFill>
                  <a:srgbClr val="003C71"/>
                </a:solidFill>
              </a:rPr>
              <a:t>Memory allocation</a:t>
            </a:r>
          </a:p>
          <a:p>
            <a:pPr marL="914400" lvl="2" indent="-342900">
              <a:buFont typeface="+mj-lt"/>
              <a:buAutoNum type="arabicPeriod"/>
            </a:pPr>
            <a:r>
              <a:rPr lang="en-US" dirty="0" smtClean="0">
                <a:solidFill>
                  <a:srgbClr val="003C71"/>
                </a:solidFill>
              </a:rPr>
              <a:t>Load balancing</a:t>
            </a:r>
          </a:p>
          <a:p>
            <a:pPr marL="568325" lvl="1" indent="-342900">
              <a:buFont typeface="+mj-lt"/>
              <a:buAutoNum type="arabicPeriod"/>
            </a:pPr>
            <a:r>
              <a:rPr lang="en-US" sz="1600" dirty="0" smtClean="0">
                <a:solidFill>
                  <a:srgbClr val="003C71"/>
                </a:solidFill>
              </a:rPr>
              <a:t>Default graph-level optimizations offered in </a:t>
            </a:r>
            <a:r>
              <a:rPr lang="en-US" sz="1600" dirty="0" smtClean="0">
                <a:solidFill>
                  <a:srgbClr val="003C71"/>
                </a:solidFill>
              </a:rPr>
              <a:t>Google’s TensorFlow*</a:t>
            </a:r>
            <a:endParaRPr lang="en-US" sz="1600" dirty="0">
              <a:solidFill>
                <a:srgbClr val="003C71"/>
              </a:solidFill>
            </a:endParaRPr>
          </a:p>
        </p:txBody>
      </p:sp>
    </p:spTree>
    <p:extLst>
      <p:ext uri="{BB962C8B-B14F-4D97-AF65-F5344CB8AC3E}">
        <p14:creationId xmlns:p14="http://schemas.microsoft.com/office/powerpoint/2010/main" val="1528079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Operator-level optimization</a:t>
            </a:r>
            <a:endParaRPr lang="en-US" dirty="0"/>
          </a:p>
        </p:txBody>
      </p:sp>
      <p:sp>
        <p:nvSpPr>
          <p:cNvPr id="5" name="Content Placeholder 4"/>
          <p:cNvSpPr>
            <a:spLocks noGrp="1"/>
          </p:cNvSpPr>
          <p:nvPr>
            <p:ph sz="quarter" idx="13"/>
          </p:nvPr>
        </p:nvSpPr>
        <p:spPr>
          <a:xfrm>
            <a:off x="455613" y="1203325"/>
            <a:ext cx="4250344" cy="3400053"/>
          </a:xfrm>
        </p:spPr>
        <p:txBody>
          <a:bodyPr>
            <a:normAutofit lnSpcReduction="10000"/>
          </a:bodyPr>
          <a:lstStyle/>
          <a:p>
            <a:pPr marL="285750" indent="-285750">
              <a:buFont typeface="Arial" panose="020B0604020202020204" pitchFamily="34" charset="0"/>
              <a:buChar char="•"/>
            </a:pPr>
            <a:r>
              <a:rPr lang="en-US" dirty="0">
                <a:solidFill>
                  <a:srgbClr val="003C71"/>
                </a:solidFill>
              </a:rPr>
              <a:t>Intel® </a:t>
            </a:r>
            <a:r>
              <a:rPr lang="en-US" dirty="0" smtClean="0">
                <a:solidFill>
                  <a:srgbClr val="003C71"/>
                </a:solidFill>
              </a:rPr>
              <a:t>MKL has </a:t>
            </a:r>
            <a:r>
              <a:rPr lang="en-US" dirty="0" smtClean="0">
                <a:solidFill>
                  <a:srgbClr val="003C71"/>
                </a:solidFill>
              </a:rPr>
              <a:t>optimized common set of primitives</a:t>
            </a:r>
          </a:p>
          <a:p>
            <a:pPr marL="285750" indent="-285750">
              <a:buFont typeface="Arial" panose="020B0604020202020204" pitchFamily="34" charset="0"/>
              <a:buChar char="•"/>
            </a:pPr>
            <a:r>
              <a:rPr lang="en-US" dirty="0" smtClean="0">
                <a:solidFill>
                  <a:srgbClr val="003C71"/>
                </a:solidFill>
              </a:rPr>
              <a:t>Call </a:t>
            </a:r>
            <a:r>
              <a:rPr lang="en-US" dirty="0">
                <a:solidFill>
                  <a:srgbClr val="003C71"/>
                </a:solidFill>
              </a:rPr>
              <a:t>Intel® </a:t>
            </a:r>
            <a:r>
              <a:rPr lang="en-US" dirty="0" smtClean="0">
                <a:solidFill>
                  <a:srgbClr val="003C71"/>
                </a:solidFill>
              </a:rPr>
              <a:t>MKL </a:t>
            </a:r>
            <a:r>
              <a:rPr lang="en-US" dirty="0" smtClean="0">
                <a:solidFill>
                  <a:srgbClr val="003C71"/>
                </a:solidFill>
              </a:rPr>
              <a:t>API for executing Tensorflow operation (</a:t>
            </a:r>
            <a:r>
              <a:rPr lang="en-US" dirty="0" smtClean="0"/>
              <a:t>MKL integration</a:t>
            </a:r>
            <a:r>
              <a:rPr lang="en-US" dirty="0" smtClean="0">
                <a:solidFill>
                  <a:srgbClr val="003C71"/>
                </a:solidFill>
              </a:rPr>
              <a:t>)</a:t>
            </a:r>
          </a:p>
          <a:p>
            <a:pPr marL="511175" lvl="1" indent="-285750">
              <a:buFont typeface="Arial" panose="020B0604020202020204" pitchFamily="34" charset="0"/>
              <a:buChar char="•"/>
            </a:pPr>
            <a:r>
              <a:rPr lang="en-US" dirty="0" smtClean="0">
                <a:solidFill>
                  <a:srgbClr val="003C71"/>
                </a:solidFill>
                <a:hlinkClick r:id="rId2"/>
              </a:rPr>
              <a:t>Link: Which optimizations are in </a:t>
            </a:r>
            <a:r>
              <a:rPr lang="en-US" dirty="0" smtClean="0">
                <a:solidFill>
                  <a:srgbClr val="003C71"/>
                </a:solidFill>
                <a:hlinkClick r:id="rId2"/>
              </a:rPr>
              <a:t>MKL</a:t>
            </a:r>
            <a:r>
              <a:rPr lang="en-US" dirty="0" smtClean="0">
                <a:solidFill>
                  <a:srgbClr val="003C71"/>
                </a:solidFill>
              </a:rPr>
              <a:t> ? </a:t>
            </a:r>
            <a:endParaRPr lang="en-US" dirty="0" smtClean="0">
              <a:solidFill>
                <a:srgbClr val="003C71"/>
              </a:solidFill>
            </a:endParaRPr>
          </a:p>
          <a:p>
            <a:pPr marL="285750" indent="-285750">
              <a:buFont typeface="Arial" panose="020B0604020202020204" pitchFamily="34" charset="0"/>
              <a:buChar char="•"/>
            </a:pPr>
            <a:r>
              <a:rPr lang="en-US" b="1" dirty="0" smtClean="0">
                <a:solidFill>
                  <a:srgbClr val="003C71"/>
                </a:solidFill>
              </a:rPr>
              <a:t>Limitation: </a:t>
            </a:r>
            <a:r>
              <a:rPr lang="en-US" dirty="0" smtClean="0">
                <a:solidFill>
                  <a:srgbClr val="003C71"/>
                </a:solidFill>
              </a:rPr>
              <a:t>operators do not know surrounding operators </a:t>
            </a:r>
            <a:r>
              <a:rPr lang="en-US" dirty="0" smtClean="0">
                <a:solidFill>
                  <a:srgbClr val="003C71"/>
                </a:solidFill>
              </a:rPr>
              <a:t>(</a:t>
            </a:r>
            <a:r>
              <a:rPr lang="en-US" dirty="0" smtClean="0">
                <a:solidFill>
                  <a:srgbClr val="003C71"/>
                </a:solidFill>
                <a:latin typeface="Courier New" panose="02070309020205020404" pitchFamily="49" charset="0"/>
                <a:cs typeface="Courier New" panose="02070309020205020404" pitchFamily="49" charset="0"/>
              </a:rPr>
              <a:t>context</a:t>
            </a:r>
            <a:r>
              <a:rPr lang="en-US" dirty="0" smtClean="0">
                <a:solidFill>
                  <a:srgbClr val="003C71"/>
                </a:solidFill>
              </a:rPr>
              <a:t>) </a:t>
            </a:r>
            <a:r>
              <a:rPr lang="en-US" dirty="0" smtClean="0">
                <a:solidFill>
                  <a:srgbClr val="003C71"/>
                </a:solidFill>
              </a:rPr>
              <a:t>leading to some redundant computations</a:t>
            </a:r>
          </a:p>
        </p:txBody>
      </p:sp>
      <p:pic>
        <p:nvPicPr>
          <p:cNvPr id="6" name="Picture 5"/>
          <p:cNvPicPr>
            <a:picLocks noChangeAspect="1"/>
          </p:cNvPicPr>
          <p:nvPr/>
        </p:nvPicPr>
        <p:blipFill>
          <a:blip r:embed="rId3"/>
          <a:stretch>
            <a:fillRect/>
          </a:stretch>
        </p:blipFill>
        <p:spPr>
          <a:xfrm>
            <a:off x="4807322" y="1491375"/>
            <a:ext cx="4164933" cy="2347760"/>
          </a:xfrm>
          <a:prstGeom prst="rect">
            <a:avLst/>
          </a:prstGeom>
          <a:ln>
            <a:solidFill>
              <a:schemeClr val="tx1"/>
            </a:solidFill>
          </a:ln>
        </p:spPr>
      </p:pic>
    </p:spTree>
    <p:extLst>
      <p:ext uri="{BB962C8B-B14F-4D97-AF65-F5344CB8AC3E}">
        <p14:creationId xmlns:p14="http://schemas.microsoft.com/office/powerpoint/2010/main" val="2574604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Operation-level optimizations may not remove redundant conversions</a:t>
            </a:r>
            <a:endParaRPr lang="en-US" dirty="0"/>
          </a:p>
        </p:txBody>
      </p:sp>
      <p:sp>
        <p:nvSpPr>
          <p:cNvPr id="5" name="Content Placeholder 4"/>
          <p:cNvSpPr>
            <a:spLocks noGrp="1"/>
          </p:cNvSpPr>
          <p:nvPr>
            <p:ph sz="quarter" idx="13"/>
          </p:nvPr>
        </p:nvSpPr>
        <p:spPr>
          <a:xfrm>
            <a:off x="250090" y="1053780"/>
            <a:ext cx="5845909" cy="3673347"/>
          </a:xfrm>
        </p:spPr>
        <p:txBody>
          <a:bodyPr>
            <a:noAutofit/>
          </a:bodyPr>
          <a:lstStyle/>
          <a:p>
            <a:endParaRPr lang="en-US" sz="1200" dirty="0" smtClean="0">
              <a:solidFill>
                <a:schemeClr val="tx2"/>
              </a:solidFill>
              <a:latin typeface="Consolas" panose="020B0609020204030204" pitchFamily="49" charset="0"/>
              <a:cs typeface="Consolas" panose="020B0609020204030204" pitchFamily="49" charset="0"/>
            </a:endParaRPr>
          </a:p>
          <a:p>
            <a:r>
              <a:rPr lang="en-US" sz="1200" dirty="0" smtClean="0">
                <a:solidFill>
                  <a:schemeClr val="tx2"/>
                </a:solidFill>
                <a:latin typeface="Courier" pitchFamily="49" charset="0"/>
                <a:cs typeface="Consolas" panose="020B0609020204030204" pitchFamily="49" charset="0"/>
              </a:rPr>
              <a:t>   </a:t>
            </a:r>
            <a:r>
              <a:rPr lang="en-US" sz="1000" dirty="0" smtClean="0">
                <a:solidFill>
                  <a:schemeClr val="tx2"/>
                </a:solidFill>
                <a:latin typeface="Courier" pitchFamily="49" charset="0"/>
                <a:cs typeface="Consolas" panose="020B0609020204030204" pitchFamily="49" charset="0"/>
              </a:rPr>
              <a:t>class </a:t>
            </a:r>
            <a:r>
              <a:rPr lang="en-US" sz="1000" dirty="0">
                <a:solidFill>
                  <a:schemeClr val="tx2"/>
                </a:solidFill>
                <a:latin typeface="Courier" pitchFamily="49" charset="0"/>
                <a:cs typeface="Consolas" panose="020B0609020204030204" pitchFamily="49" charset="0"/>
              </a:rPr>
              <a:t>MklConv2DOp : public </a:t>
            </a:r>
            <a:r>
              <a:rPr lang="en-US" sz="1000" dirty="0" err="1">
                <a:solidFill>
                  <a:schemeClr val="tx2"/>
                </a:solidFill>
                <a:latin typeface="Courier" pitchFamily="49" charset="0"/>
                <a:cs typeface="Consolas" panose="020B0609020204030204" pitchFamily="49" charset="0"/>
              </a:rPr>
              <a:t>OpKernel</a:t>
            </a:r>
            <a:r>
              <a:rPr lang="en-US" sz="1000" dirty="0">
                <a:solidFill>
                  <a:schemeClr val="tx2"/>
                </a:solidFill>
                <a:latin typeface="Courier" pitchFamily="49" charset="0"/>
                <a:cs typeface="Consolas" panose="020B0609020204030204" pitchFamily="49" charset="0"/>
              </a:rPr>
              <a:t> {</a:t>
            </a:r>
          </a:p>
          <a:p>
            <a:pPr marL="346075" lvl="2" indent="0">
              <a:buNone/>
            </a:pPr>
            <a:r>
              <a:rPr lang="en-US" sz="1000" dirty="0">
                <a:latin typeface="Courier" pitchFamily="49" charset="0"/>
                <a:cs typeface="Consolas" panose="020B0609020204030204" pitchFamily="49" charset="0"/>
              </a:rPr>
              <a:t> void </a:t>
            </a:r>
            <a:r>
              <a:rPr lang="en-US" sz="1000" dirty="0" smtClean="0">
                <a:latin typeface="Courier" pitchFamily="49" charset="0"/>
                <a:cs typeface="Consolas" panose="020B0609020204030204" pitchFamily="49" charset="0"/>
              </a:rPr>
              <a:t>Compute (</a:t>
            </a:r>
            <a:r>
              <a:rPr lang="en-US" sz="1000" dirty="0" err="1">
                <a:latin typeface="Courier" pitchFamily="49" charset="0"/>
                <a:cs typeface="Consolas" panose="020B0609020204030204" pitchFamily="49" charset="0"/>
              </a:rPr>
              <a:t>OpKernelContext</a:t>
            </a:r>
            <a:r>
              <a:rPr lang="en-US" sz="1000" dirty="0">
                <a:latin typeface="Courier" pitchFamily="49" charset="0"/>
                <a:cs typeface="Consolas" panose="020B0609020204030204" pitchFamily="49" charset="0"/>
              </a:rPr>
              <a:t>* context) override {</a:t>
            </a:r>
          </a:p>
          <a:p>
            <a:pPr marL="346075" lvl="2" indent="0">
              <a:buNone/>
            </a:pPr>
            <a:r>
              <a:rPr lang="en-US" sz="1000" dirty="0">
                <a:latin typeface="Courier" pitchFamily="49" charset="0"/>
                <a:cs typeface="Consolas" panose="020B0609020204030204" pitchFamily="49" charset="0"/>
              </a:rPr>
              <a:t>  </a:t>
            </a:r>
            <a:r>
              <a:rPr lang="en-US" sz="1000" dirty="0" err="1">
                <a:latin typeface="Courier" pitchFamily="49" charset="0"/>
                <a:cs typeface="Consolas" panose="020B0609020204030204" pitchFamily="49" charset="0"/>
              </a:rPr>
              <a:t>const</a:t>
            </a:r>
            <a:r>
              <a:rPr lang="en-US" sz="1000" dirty="0">
                <a:latin typeface="Courier" pitchFamily="49" charset="0"/>
                <a:cs typeface="Consolas" panose="020B0609020204030204" pitchFamily="49" charset="0"/>
              </a:rPr>
              <a:t> Tensor&amp; </a:t>
            </a:r>
            <a:r>
              <a:rPr lang="en-US" sz="1000" dirty="0" err="1">
                <a:latin typeface="Courier" pitchFamily="49" charset="0"/>
                <a:cs typeface="Consolas" panose="020B0609020204030204" pitchFamily="49" charset="0"/>
              </a:rPr>
              <a:t>tf_input</a:t>
            </a:r>
            <a:r>
              <a:rPr lang="en-US" sz="1000" dirty="0">
                <a:latin typeface="Courier" pitchFamily="49" charset="0"/>
                <a:cs typeface="Consolas" panose="020B0609020204030204" pitchFamily="49" charset="0"/>
              </a:rPr>
              <a:t> = context-&gt;input(0);</a:t>
            </a:r>
          </a:p>
          <a:p>
            <a:pPr marL="346075" lvl="2" indent="0">
              <a:buNone/>
            </a:pPr>
            <a:r>
              <a:rPr lang="en-US" sz="1000" dirty="0">
                <a:latin typeface="Courier" pitchFamily="49" charset="0"/>
                <a:cs typeface="Consolas" panose="020B0609020204030204" pitchFamily="49" charset="0"/>
              </a:rPr>
              <a:t>  </a:t>
            </a:r>
            <a:r>
              <a:rPr lang="en-US" sz="1000" dirty="0" err="1">
                <a:latin typeface="Courier" pitchFamily="49" charset="0"/>
                <a:cs typeface="Consolas" panose="020B0609020204030204" pitchFamily="49" charset="0"/>
              </a:rPr>
              <a:t>const</a:t>
            </a:r>
            <a:r>
              <a:rPr lang="en-US" sz="1000" dirty="0">
                <a:latin typeface="Courier" pitchFamily="49" charset="0"/>
                <a:cs typeface="Consolas" panose="020B0609020204030204" pitchFamily="49" charset="0"/>
              </a:rPr>
              <a:t> Tensor&amp; </a:t>
            </a:r>
            <a:r>
              <a:rPr lang="en-US" sz="1000" dirty="0" err="1">
                <a:latin typeface="Courier" pitchFamily="49" charset="0"/>
                <a:cs typeface="Consolas" panose="020B0609020204030204" pitchFamily="49" charset="0"/>
              </a:rPr>
              <a:t>tf_filter</a:t>
            </a:r>
            <a:r>
              <a:rPr lang="en-US" sz="1000" dirty="0">
                <a:latin typeface="Courier" pitchFamily="49" charset="0"/>
                <a:cs typeface="Consolas" panose="020B0609020204030204" pitchFamily="49" charset="0"/>
              </a:rPr>
              <a:t> = context-&gt;input(1);</a:t>
            </a:r>
          </a:p>
          <a:p>
            <a:pPr marL="346075" lvl="2" indent="0">
              <a:buNone/>
            </a:pPr>
            <a:r>
              <a:rPr lang="en-US" sz="1000" dirty="0">
                <a:latin typeface="Courier" pitchFamily="49" charset="0"/>
                <a:cs typeface="Consolas" panose="020B0609020204030204" pitchFamily="49" charset="0"/>
              </a:rPr>
              <a:t>  Tensor* output = context-&gt;</a:t>
            </a:r>
            <a:r>
              <a:rPr lang="en-US" sz="1000" dirty="0" err="1">
                <a:latin typeface="Courier" pitchFamily="49" charset="0"/>
                <a:cs typeface="Consolas" panose="020B0609020204030204" pitchFamily="49" charset="0"/>
              </a:rPr>
              <a:t>allocate_output</a:t>
            </a:r>
            <a:r>
              <a:rPr lang="en-US" sz="1000" dirty="0">
                <a:latin typeface="Courier" pitchFamily="49" charset="0"/>
                <a:cs typeface="Consolas" panose="020B0609020204030204" pitchFamily="49" charset="0"/>
              </a:rPr>
              <a:t>(..);</a:t>
            </a:r>
          </a:p>
          <a:p>
            <a:pPr marL="346075" lvl="2" indent="0">
              <a:buNone/>
            </a:pPr>
            <a:r>
              <a:rPr lang="en-US" sz="1000" dirty="0" smtClean="0">
                <a:latin typeface="Courier" pitchFamily="49" charset="0"/>
                <a:cs typeface="Consolas" panose="020B0609020204030204" pitchFamily="49" charset="0"/>
              </a:rPr>
              <a:t>  </a:t>
            </a:r>
            <a:r>
              <a:rPr lang="en-US" sz="1000" dirty="0" err="1">
                <a:solidFill>
                  <a:srgbClr val="FF0000"/>
                </a:solidFill>
                <a:latin typeface="Courier" pitchFamily="49" charset="0"/>
                <a:cs typeface="Consolas" panose="020B0609020204030204" pitchFamily="49" charset="0"/>
              </a:rPr>
              <a:t>mkl_input</a:t>
            </a:r>
            <a:r>
              <a:rPr lang="en-US" sz="1000" dirty="0">
                <a:solidFill>
                  <a:srgbClr val="FF0000"/>
                </a:solidFill>
                <a:latin typeface="Courier" pitchFamily="49" charset="0"/>
                <a:cs typeface="Consolas" panose="020B0609020204030204" pitchFamily="49" charset="0"/>
              </a:rPr>
              <a:t> = </a:t>
            </a:r>
            <a:r>
              <a:rPr lang="en-US" sz="1000" dirty="0" err="1">
                <a:solidFill>
                  <a:srgbClr val="FF0000"/>
                </a:solidFill>
                <a:latin typeface="Courier" pitchFamily="49" charset="0"/>
                <a:cs typeface="Consolas" panose="020B0609020204030204" pitchFamily="49" charset="0"/>
              </a:rPr>
              <a:t>convert_to_mkldnnlayout</a:t>
            </a:r>
            <a:r>
              <a:rPr lang="en-US" sz="1000" dirty="0">
                <a:solidFill>
                  <a:srgbClr val="FF0000"/>
                </a:solidFill>
                <a:latin typeface="Courier" pitchFamily="49" charset="0"/>
                <a:cs typeface="Consolas" panose="020B0609020204030204" pitchFamily="49" charset="0"/>
              </a:rPr>
              <a:t>(</a:t>
            </a:r>
            <a:r>
              <a:rPr lang="en-US" sz="1000" dirty="0" err="1">
                <a:solidFill>
                  <a:srgbClr val="FF0000"/>
                </a:solidFill>
                <a:latin typeface="Courier" pitchFamily="49" charset="0"/>
                <a:cs typeface="Consolas" panose="020B0609020204030204" pitchFamily="49" charset="0"/>
              </a:rPr>
              <a:t>tf_input</a:t>
            </a:r>
            <a:r>
              <a:rPr lang="en-US" sz="1000" dirty="0">
                <a:solidFill>
                  <a:srgbClr val="FF0000"/>
                </a:solidFill>
                <a:latin typeface="Courier" pitchFamily="49" charset="0"/>
                <a:cs typeface="Consolas" panose="020B0609020204030204" pitchFamily="49" charset="0"/>
              </a:rPr>
              <a:t>);</a:t>
            </a:r>
          </a:p>
          <a:p>
            <a:pPr marL="346075" lvl="2" indent="0">
              <a:buNone/>
            </a:pPr>
            <a:r>
              <a:rPr lang="en-US" sz="1000" dirty="0">
                <a:solidFill>
                  <a:srgbClr val="FF0000"/>
                </a:solidFill>
                <a:latin typeface="Courier" pitchFamily="49" charset="0"/>
                <a:cs typeface="Consolas" panose="020B0609020204030204" pitchFamily="49" charset="0"/>
              </a:rPr>
              <a:t>  </a:t>
            </a:r>
            <a:r>
              <a:rPr lang="en-US" sz="1000" dirty="0" err="1">
                <a:solidFill>
                  <a:srgbClr val="FF0000"/>
                </a:solidFill>
                <a:latin typeface="Courier" pitchFamily="49" charset="0"/>
                <a:cs typeface="Consolas" panose="020B0609020204030204" pitchFamily="49" charset="0"/>
              </a:rPr>
              <a:t>mkl_filter</a:t>
            </a:r>
            <a:r>
              <a:rPr lang="en-US" sz="1000" dirty="0">
                <a:solidFill>
                  <a:srgbClr val="FF0000"/>
                </a:solidFill>
                <a:latin typeface="Courier" pitchFamily="49" charset="0"/>
                <a:cs typeface="Consolas" panose="020B0609020204030204" pitchFamily="49" charset="0"/>
              </a:rPr>
              <a:t> = </a:t>
            </a:r>
            <a:r>
              <a:rPr lang="en-US" sz="1000" dirty="0" err="1">
                <a:solidFill>
                  <a:srgbClr val="FF0000"/>
                </a:solidFill>
                <a:latin typeface="Courier" pitchFamily="49" charset="0"/>
                <a:cs typeface="Consolas" panose="020B0609020204030204" pitchFamily="49" charset="0"/>
              </a:rPr>
              <a:t>convert_to_mkldnnlayout</a:t>
            </a:r>
            <a:r>
              <a:rPr lang="en-US" sz="1000" dirty="0">
                <a:solidFill>
                  <a:srgbClr val="FF0000"/>
                </a:solidFill>
                <a:latin typeface="Courier" pitchFamily="49" charset="0"/>
                <a:cs typeface="Consolas" panose="020B0609020204030204" pitchFamily="49" charset="0"/>
              </a:rPr>
              <a:t>(</a:t>
            </a:r>
            <a:r>
              <a:rPr lang="en-US" sz="1000" dirty="0" err="1">
                <a:solidFill>
                  <a:srgbClr val="FF0000"/>
                </a:solidFill>
                <a:latin typeface="Courier" pitchFamily="49" charset="0"/>
                <a:cs typeface="Consolas" panose="020B0609020204030204" pitchFamily="49" charset="0"/>
              </a:rPr>
              <a:t>tf_filter</a:t>
            </a:r>
            <a:r>
              <a:rPr lang="en-US" sz="1000" dirty="0">
                <a:solidFill>
                  <a:srgbClr val="FF0000"/>
                </a:solidFill>
                <a:latin typeface="Courier" pitchFamily="49" charset="0"/>
                <a:cs typeface="Consolas" panose="020B0609020204030204" pitchFamily="49" charset="0"/>
              </a:rPr>
              <a:t>);</a:t>
            </a:r>
          </a:p>
          <a:p>
            <a:pPr marL="346075" lvl="2" indent="0">
              <a:buNone/>
            </a:pPr>
            <a:r>
              <a:rPr lang="en-US" sz="1000" dirty="0" smtClean="0">
                <a:latin typeface="Courier" pitchFamily="49" charset="0"/>
                <a:cs typeface="Consolas" panose="020B0609020204030204" pitchFamily="49" charset="0"/>
              </a:rPr>
              <a:t>  </a:t>
            </a:r>
            <a:r>
              <a:rPr lang="en-US" sz="1000" dirty="0" err="1">
                <a:latin typeface="Courier" pitchFamily="49" charset="0"/>
                <a:cs typeface="Consolas" panose="020B0609020204030204" pitchFamily="49" charset="0"/>
              </a:rPr>
              <a:t>mkl_output</a:t>
            </a:r>
            <a:r>
              <a:rPr lang="en-US" sz="1000" dirty="0">
                <a:latin typeface="Courier" pitchFamily="49" charset="0"/>
                <a:cs typeface="Consolas" panose="020B0609020204030204" pitchFamily="49" charset="0"/>
              </a:rPr>
              <a:t> = </a:t>
            </a:r>
            <a:r>
              <a:rPr lang="en-US" sz="1000" dirty="0" smtClean="0">
                <a:latin typeface="Courier" pitchFamily="49" charset="0"/>
                <a:cs typeface="Consolas" panose="020B0609020204030204" pitchFamily="49" charset="0"/>
              </a:rPr>
              <a:t>mkldnn_conv2d_fwd(</a:t>
            </a:r>
            <a:r>
              <a:rPr lang="en-US" sz="1000" dirty="0" err="1" smtClean="0">
                <a:latin typeface="Courier" pitchFamily="49" charset="0"/>
                <a:cs typeface="Consolas" panose="020B0609020204030204" pitchFamily="49" charset="0"/>
              </a:rPr>
              <a:t>mkl_input</a:t>
            </a:r>
            <a:r>
              <a:rPr lang="en-US" sz="1000" dirty="0" smtClean="0">
                <a:latin typeface="Courier" pitchFamily="49" charset="0"/>
                <a:cs typeface="Consolas" panose="020B0609020204030204" pitchFamily="49" charset="0"/>
              </a:rPr>
              <a:t>, </a:t>
            </a:r>
            <a:r>
              <a:rPr lang="en-US" sz="1000" dirty="0" err="1" smtClean="0">
                <a:latin typeface="Courier" pitchFamily="49" charset="0"/>
                <a:cs typeface="Consolas" panose="020B0609020204030204" pitchFamily="49" charset="0"/>
              </a:rPr>
              <a:t>mkl_filter</a:t>
            </a:r>
            <a:r>
              <a:rPr lang="en-US" sz="1000" dirty="0" smtClean="0">
                <a:latin typeface="Courier" pitchFamily="49" charset="0"/>
                <a:cs typeface="Consolas" panose="020B0609020204030204" pitchFamily="49" charset="0"/>
              </a:rPr>
              <a:t>,…);</a:t>
            </a:r>
            <a:endParaRPr lang="en-US" sz="1000" dirty="0">
              <a:latin typeface="Courier" pitchFamily="49" charset="0"/>
              <a:cs typeface="Consolas" panose="020B0609020204030204" pitchFamily="49" charset="0"/>
            </a:endParaRPr>
          </a:p>
          <a:p>
            <a:pPr marL="346075" lvl="2" indent="0">
              <a:buNone/>
            </a:pPr>
            <a:r>
              <a:rPr lang="en-US" sz="1000" dirty="0">
                <a:latin typeface="Courier" pitchFamily="49" charset="0"/>
                <a:cs typeface="Consolas" panose="020B0609020204030204" pitchFamily="49" charset="0"/>
              </a:rPr>
              <a:t>  </a:t>
            </a:r>
            <a:r>
              <a:rPr lang="en-US" sz="1000" dirty="0">
                <a:solidFill>
                  <a:srgbClr val="FF0000"/>
                </a:solidFill>
                <a:latin typeface="Courier" pitchFamily="49" charset="0"/>
                <a:cs typeface="Consolas" panose="020B0609020204030204" pitchFamily="49" charset="0"/>
              </a:rPr>
              <a:t>*output = </a:t>
            </a:r>
            <a:r>
              <a:rPr lang="en-US" sz="1000" dirty="0" err="1">
                <a:solidFill>
                  <a:srgbClr val="FF0000"/>
                </a:solidFill>
                <a:latin typeface="Courier" pitchFamily="49" charset="0"/>
                <a:cs typeface="Consolas" panose="020B0609020204030204" pitchFamily="49" charset="0"/>
              </a:rPr>
              <a:t>convert_to_tflayout</a:t>
            </a:r>
            <a:r>
              <a:rPr lang="en-US" sz="1000" dirty="0">
                <a:solidFill>
                  <a:srgbClr val="FF0000"/>
                </a:solidFill>
                <a:latin typeface="Courier" pitchFamily="49" charset="0"/>
                <a:cs typeface="Consolas" panose="020B0609020204030204" pitchFamily="49" charset="0"/>
              </a:rPr>
              <a:t>(</a:t>
            </a:r>
            <a:r>
              <a:rPr lang="en-US" sz="1000" dirty="0" err="1">
                <a:solidFill>
                  <a:srgbClr val="FF0000"/>
                </a:solidFill>
                <a:latin typeface="Courier" pitchFamily="49" charset="0"/>
                <a:cs typeface="Consolas" panose="020B0609020204030204" pitchFamily="49" charset="0"/>
              </a:rPr>
              <a:t>mkl_output</a:t>
            </a:r>
            <a:r>
              <a:rPr lang="en-US" sz="1000" dirty="0">
                <a:solidFill>
                  <a:srgbClr val="FF0000"/>
                </a:solidFill>
                <a:latin typeface="Courier" pitchFamily="49" charset="0"/>
                <a:cs typeface="Consolas" panose="020B0609020204030204" pitchFamily="49" charset="0"/>
              </a:rPr>
              <a:t>);</a:t>
            </a:r>
          </a:p>
          <a:p>
            <a:pPr marL="346075" lvl="2" indent="0">
              <a:buNone/>
            </a:pPr>
            <a:r>
              <a:rPr lang="en-US" sz="1000" dirty="0">
                <a:latin typeface="Courier" pitchFamily="49" charset="0"/>
                <a:cs typeface="Consolas" panose="020B0609020204030204" pitchFamily="49" charset="0"/>
              </a:rPr>
              <a:t> </a:t>
            </a:r>
            <a:r>
              <a:rPr lang="en-US" sz="1000" dirty="0" smtClean="0">
                <a:latin typeface="Courier" pitchFamily="49" charset="0"/>
                <a:cs typeface="Consolas" panose="020B0609020204030204" pitchFamily="49" charset="0"/>
              </a:rPr>
              <a:t>}</a:t>
            </a:r>
          </a:p>
          <a:p>
            <a:pPr marL="346075" lvl="2" indent="0">
              <a:buNone/>
            </a:pPr>
            <a:r>
              <a:rPr lang="en-US" sz="1000" dirty="0" smtClean="0">
                <a:latin typeface="Courier" pitchFamily="49" charset="0"/>
                <a:cs typeface="Consolas" panose="020B0609020204030204" pitchFamily="49" charset="0"/>
              </a:rPr>
              <a:t>};</a:t>
            </a:r>
          </a:p>
        </p:txBody>
      </p:sp>
      <p:pic>
        <p:nvPicPr>
          <p:cNvPr id="2" name="Picture 1"/>
          <p:cNvPicPr>
            <a:picLocks noChangeAspect="1"/>
          </p:cNvPicPr>
          <p:nvPr/>
        </p:nvPicPr>
        <p:blipFill>
          <a:blip r:embed="rId2"/>
          <a:stretch>
            <a:fillRect/>
          </a:stretch>
        </p:blipFill>
        <p:spPr>
          <a:xfrm>
            <a:off x="5946044" y="890456"/>
            <a:ext cx="1747246" cy="3702614"/>
          </a:xfrm>
          <a:prstGeom prst="rect">
            <a:avLst/>
          </a:prstGeom>
        </p:spPr>
      </p:pic>
      <p:sp>
        <p:nvSpPr>
          <p:cNvPr id="3" name="TextBox 2"/>
          <p:cNvSpPr txBox="1"/>
          <p:nvPr/>
        </p:nvSpPr>
        <p:spPr>
          <a:xfrm>
            <a:off x="545956" y="4320293"/>
            <a:ext cx="5550043" cy="184666"/>
          </a:xfrm>
          <a:prstGeom prst="rect">
            <a:avLst/>
          </a:prstGeom>
          <a:noFill/>
          <a:ln>
            <a:noFill/>
            <a:prstDash val="solid"/>
          </a:ln>
        </p:spPr>
        <p:txBody>
          <a:bodyPr vert="horz" wrap="square" lIns="0" tIns="0" rIns="0" bIns="0" rtlCol="0">
            <a:spAutoFit/>
          </a:bodyPr>
          <a:lstStyle/>
          <a:p>
            <a:r>
              <a:rPr lang="en-US" sz="1200" dirty="0" smtClean="0">
                <a:solidFill>
                  <a:srgbClr val="003C71"/>
                </a:solidFill>
              </a:rPr>
              <a:t> Graph optimizations address the limitations of operation-level optimizations.</a:t>
            </a:r>
          </a:p>
        </p:txBody>
      </p:sp>
    </p:spTree>
    <p:extLst>
      <p:ext uri="{BB962C8B-B14F-4D97-AF65-F5344CB8AC3E}">
        <p14:creationId xmlns:p14="http://schemas.microsoft.com/office/powerpoint/2010/main" val="765619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E2556C5-CE8C-6547-B838-EA80C61A4AF7}" type="slidenum">
              <a:rPr lang="en-US" smtClean="0"/>
              <a:pPr/>
              <a:t>6</a:t>
            </a:fld>
            <a:endParaRPr lang="en-US" dirty="0"/>
          </a:p>
        </p:txBody>
      </p:sp>
      <p:sp>
        <p:nvSpPr>
          <p:cNvPr id="3" name="Title 2"/>
          <p:cNvSpPr>
            <a:spLocks noGrp="1"/>
          </p:cNvSpPr>
          <p:nvPr>
            <p:ph type="title"/>
          </p:nvPr>
        </p:nvSpPr>
        <p:spPr>
          <a:xfrm>
            <a:off x="1" y="124818"/>
            <a:ext cx="9144000" cy="622805"/>
          </a:xfrm>
        </p:spPr>
        <p:txBody>
          <a:bodyPr/>
          <a:lstStyle/>
          <a:p>
            <a:r>
              <a:rPr lang="en-US" sz="2600" dirty="0"/>
              <a:t>Tensorflow* Operations optimized for </a:t>
            </a:r>
            <a:r>
              <a:rPr lang="en-US" sz="2600" dirty="0" smtClean="0"/>
              <a:t>Intel® Architectures</a:t>
            </a:r>
            <a:endParaRPr lang="en-US" sz="2600" dirty="0"/>
          </a:p>
        </p:txBody>
      </p:sp>
      <p:graphicFrame>
        <p:nvGraphicFramePr>
          <p:cNvPr id="5" name="Table 4"/>
          <p:cNvGraphicFramePr>
            <a:graphicFrameLocks noGrp="1"/>
          </p:cNvGraphicFramePr>
          <p:nvPr>
            <p:extLst>
              <p:ext uri="{D42A27DB-BD31-4B8C-83A1-F6EECF244321}">
                <p14:modId xmlns:p14="http://schemas.microsoft.com/office/powerpoint/2010/main" val="3078035264"/>
              </p:ext>
            </p:extLst>
          </p:nvPr>
        </p:nvGraphicFramePr>
        <p:xfrm>
          <a:off x="1495244" y="628400"/>
          <a:ext cx="5135594" cy="2381205"/>
        </p:xfrm>
        <a:graphic>
          <a:graphicData uri="http://schemas.openxmlformats.org/drawingml/2006/table">
            <a:tbl>
              <a:tblPr firstRow="1" bandRow="1">
                <a:tableStyleId>{5C22544A-7EE6-4342-B048-85BDC9FD1C3A}</a:tableStyleId>
              </a:tblPr>
              <a:tblGrid>
                <a:gridCol w="2567797"/>
                <a:gridCol w="2567797"/>
              </a:tblGrid>
              <a:tr h="327803">
                <a:tc>
                  <a:txBody>
                    <a:bodyPr/>
                    <a:lstStyle/>
                    <a:p>
                      <a:r>
                        <a:rPr lang="en-US" sz="1600" dirty="0" smtClean="0"/>
                        <a:t>Forward</a:t>
                      </a:r>
                      <a:endParaRPr lang="en-US" sz="1600" dirty="0"/>
                    </a:p>
                  </a:txBody>
                  <a:tcPr/>
                </a:tc>
                <a:tc>
                  <a:txBody>
                    <a:bodyPr/>
                    <a:lstStyle/>
                    <a:p>
                      <a:r>
                        <a:rPr lang="en-US" sz="1600" dirty="0" smtClean="0"/>
                        <a:t>Backward</a:t>
                      </a:r>
                      <a:endParaRPr lang="en-US" sz="1600" dirty="0"/>
                    </a:p>
                  </a:txBody>
                  <a:tcPr/>
                </a:tc>
              </a:tr>
              <a:tr h="322843">
                <a:tc>
                  <a:txBody>
                    <a:bodyPr/>
                    <a:lstStyle/>
                    <a:p>
                      <a:r>
                        <a:rPr lang="en-US" sz="1400" dirty="0" smtClean="0">
                          <a:latin typeface="Courier" pitchFamily="49" charset="0"/>
                        </a:rPr>
                        <a:t>Conv2D</a:t>
                      </a:r>
                      <a:endParaRPr lang="en-US" sz="1400" dirty="0">
                        <a:latin typeface="Courier" pitchFamily="49" charset="0"/>
                      </a:endParaRPr>
                    </a:p>
                  </a:txBody>
                  <a:tcPr/>
                </a:tc>
                <a:tc>
                  <a:txBody>
                    <a:bodyPr/>
                    <a:lstStyle/>
                    <a:p>
                      <a:r>
                        <a:rPr lang="en-US" sz="1400" dirty="0" smtClean="0">
                          <a:latin typeface="Courier" pitchFamily="49" charset="0"/>
                        </a:rPr>
                        <a:t>Conv2DGrad</a:t>
                      </a:r>
                      <a:endParaRPr lang="en-US" sz="1400" dirty="0">
                        <a:latin typeface="Courier" pitchFamily="49" charset="0"/>
                      </a:endParaRPr>
                    </a:p>
                  </a:txBody>
                  <a:tcPr/>
                </a:tc>
              </a:tr>
              <a:tr h="322843">
                <a:tc>
                  <a:txBody>
                    <a:bodyPr/>
                    <a:lstStyle/>
                    <a:p>
                      <a:r>
                        <a:rPr lang="en-US" sz="1400" dirty="0" smtClean="0">
                          <a:latin typeface="Courier" pitchFamily="49" charset="0"/>
                        </a:rPr>
                        <a:t>Relu</a:t>
                      </a:r>
                      <a:endParaRPr lang="en-US" sz="1400" dirty="0">
                        <a:latin typeface="Courier" pitchFamily="49" charset="0"/>
                      </a:endParaRPr>
                    </a:p>
                  </a:txBody>
                  <a:tcPr/>
                </a:tc>
                <a:tc>
                  <a:txBody>
                    <a:bodyPr/>
                    <a:lstStyle/>
                    <a:p>
                      <a:r>
                        <a:rPr lang="en-US" sz="1400" dirty="0" smtClean="0">
                          <a:latin typeface="Courier" pitchFamily="49" charset="0"/>
                        </a:rPr>
                        <a:t>ReluGrad</a:t>
                      </a:r>
                      <a:endParaRPr lang="en-US" sz="1400" dirty="0">
                        <a:latin typeface="Courier" pitchFamily="49" charset="0"/>
                      </a:endParaRPr>
                    </a:p>
                  </a:txBody>
                  <a:tcPr/>
                </a:tc>
              </a:tr>
              <a:tr h="343663">
                <a:tc>
                  <a:txBody>
                    <a:bodyPr/>
                    <a:lstStyle/>
                    <a:p>
                      <a:r>
                        <a:rPr lang="en-US" sz="1400" dirty="0" smtClean="0">
                          <a:latin typeface="Courier" pitchFamily="49" charset="0"/>
                        </a:rPr>
                        <a:t>MaxPooling</a:t>
                      </a:r>
                      <a:endParaRPr lang="en-US" sz="1400" dirty="0">
                        <a:latin typeface="Courier" pitchFamily="49" charset="0"/>
                      </a:endParaRPr>
                    </a:p>
                  </a:txBody>
                  <a:tcPr/>
                </a:tc>
                <a:tc>
                  <a:txBody>
                    <a:bodyPr/>
                    <a:lstStyle/>
                    <a:p>
                      <a:r>
                        <a:rPr lang="en-US" sz="1400" dirty="0" smtClean="0">
                          <a:latin typeface="Courier" pitchFamily="49" charset="0"/>
                        </a:rPr>
                        <a:t>MaxPoolingGrad</a:t>
                      </a:r>
                      <a:endParaRPr lang="en-US" sz="1400" dirty="0">
                        <a:latin typeface="Courier" pitchFamily="49" charset="0"/>
                      </a:endParaRPr>
                    </a:p>
                  </a:txBody>
                  <a:tcPr/>
                </a:tc>
              </a:tr>
              <a:tr h="352192">
                <a:tc>
                  <a:txBody>
                    <a:bodyPr/>
                    <a:lstStyle/>
                    <a:p>
                      <a:r>
                        <a:rPr lang="en-US" sz="1400" dirty="0" smtClean="0">
                          <a:latin typeface="Courier" pitchFamily="49" charset="0"/>
                        </a:rPr>
                        <a:t>AvgPooling</a:t>
                      </a:r>
                      <a:endParaRPr lang="en-US" sz="1400" dirty="0">
                        <a:latin typeface="Courier" pitchFamily="49" charset="0"/>
                      </a:endParaRPr>
                    </a:p>
                  </a:txBody>
                  <a:tcPr/>
                </a:tc>
                <a:tc>
                  <a:txBody>
                    <a:bodyPr/>
                    <a:lstStyle/>
                    <a:p>
                      <a:r>
                        <a:rPr lang="en-US" sz="1400" dirty="0" smtClean="0">
                          <a:latin typeface="Courier" pitchFamily="49" charset="0"/>
                        </a:rPr>
                        <a:t>AvgPolingGrad</a:t>
                      </a:r>
                      <a:endParaRPr lang="en-US" sz="1400" dirty="0">
                        <a:latin typeface="Courier" pitchFamily="49" charset="0"/>
                      </a:endParaRPr>
                    </a:p>
                  </a:txBody>
                  <a:tcPr/>
                </a:tc>
              </a:tr>
              <a:tr h="352192">
                <a:tc>
                  <a:txBody>
                    <a:bodyPr/>
                    <a:lstStyle/>
                    <a:p>
                      <a:r>
                        <a:rPr lang="en-US" sz="1400" dirty="0" smtClean="0">
                          <a:latin typeface="Courier" pitchFamily="49" charset="0"/>
                        </a:rPr>
                        <a:t>LRN</a:t>
                      </a:r>
                      <a:endParaRPr lang="en-US" sz="1400" dirty="0">
                        <a:latin typeface="Courier" pitchFamily="49" charset="0"/>
                      </a:endParaRPr>
                    </a:p>
                  </a:txBody>
                  <a:tcPr/>
                </a:tc>
                <a:tc>
                  <a:txBody>
                    <a:bodyPr/>
                    <a:lstStyle/>
                    <a:p>
                      <a:r>
                        <a:rPr lang="en-US" sz="1400" dirty="0" smtClean="0">
                          <a:latin typeface="Courier" pitchFamily="49" charset="0"/>
                        </a:rPr>
                        <a:t>LRNGrad</a:t>
                      </a:r>
                      <a:endParaRPr lang="en-US" sz="1400" dirty="0">
                        <a:latin typeface="Courier" pitchFamily="49" charset="0"/>
                      </a:endParaRPr>
                    </a:p>
                  </a:txBody>
                  <a:tcPr/>
                </a:tc>
              </a:tr>
              <a:tr h="352192">
                <a:tc>
                  <a:txBody>
                    <a:bodyPr/>
                    <a:lstStyle/>
                    <a:p>
                      <a:r>
                        <a:rPr lang="en-US" sz="1400" dirty="0" smtClean="0">
                          <a:latin typeface="Courier" pitchFamily="49" charset="0"/>
                        </a:rPr>
                        <a:t>FusedBatchNorm</a:t>
                      </a:r>
                    </a:p>
                  </a:txBody>
                  <a:tcPr/>
                </a:tc>
                <a:tc>
                  <a:txBody>
                    <a:bodyPr/>
                    <a:lstStyle/>
                    <a:p>
                      <a:r>
                        <a:rPr lang="en-US" sz="1400" dirty="0" smtClean="0">
                          <a:latin typeface="Courier" pitchFamily="49" charset="0"/>
                        </a:rPr>
                        <a:t>FusedBatchNormGrad</a:t>
                      </a:r>
                      <a:endParaRPr lang="en-US" sz="1400" dirty="0">
                        <a:latin typeface="Courier" pitchFamily="49" charset="0"/>
                      </a:endParaRPr>
                    </a:p>
                  </a:txBody>
                  <a:tcPr/>
                </a:tc>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1046553132"/>
              </p:ext>
            </p:extLst>
          </p:nvPr>
        </p:nvGraphicFramePr>
        <p:xfrm>
          <a:off x="1495244" y="3009605"/>
          <a:ext cx="5135594" cy="1305666"/>
        </p:xfrm>
        <a:graphic>
          <a:graphicData uri="http://schemas.openxmlformats.org/drawingml/2006/table">
            <a:tbl>
              <a:tblPr firstRow="1" bandRow="1">
                <a:tableStyleId>{5C22544A-7EE6-4342-B048-85BDC9FD1C3A}</a:tableStyleId>
              </a:tblPr>
              <a:tblGrid>
                <a:gridCol w="2582254"/>
                <a:gridCol w="2553340"/>
              </a:tblGrid>
              <a:tr h="205170">
                <a:tc>
                  <a:txBody>
                    <a:bodyPr/>
                    <a:lstStyle/>
                    <a:p>
                      <a:r>
                        <a:rPr lang="en-US" sz="300" dirty="0" smtClean="0"/>
                        <a:t>  </a:t>
                      </a:r>
                      <a:endParaRPr lang="en-US" sz="300" dirty="0"/>
                    </a:p>
                  </a:txBody>
                  <a:tcPr/>
                </a:tc>
                <a:tc>
                  <a:txBody>
                    <a:bodyPr/>
                    <a:lstStyle/>
                    <a:p>
                      <a:endParaRPr lang="en-US" sz="300" dirty="0"/>
                    </a:p>
                  </a:txBody>
                  <a:tcPr/>
                </a:tc>
              </a:tr>
              <a:tr h="366832">
                <a:tc>
                  <a:txBody>
                    <a:bodyPr/>
                    <a:lstStyle/>
                    <a:p>
                      <a:r>
                        <a:rPr lang="en-US" sz="1400" dirty="0" err="1" smtClean="0">
                          <a:latin typeface="Courier" pitchFamily="49" charset="0"/>
                        </a:rPr>
                        <a:t>MutMul</a:t>
                      </a:r>
                      <a:endParaRPr lang="en-US" sz="1400" dirty="0">
                        <a:latin typeface="Courier" pitchFamily="49" charset="0"/>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400" dirty="0" err="1" smtClean="0">
                          <a:latin typeface="Courier" pitchFamily="49" charset="0"/>
                        </a:rPr>
                        <a:t>TransposeCpu</a:t>
                      </a:r>
                      <a:endParaRPr lang="en-US" sz="1400" dirty="0" smtClean="0">
                        <a:latin typeface="Courier" pitchFamily="49" charset="0"/>
                      </a:endParaRPr>
                    </a:p>
                  </a:txBody>
                  <a:tcPr/>
                </a:tc>
              </a:tr>
              <a:tr h="366832">
                <a:tc>
                  <a:txBody>
                    <a:bodyPr/>
                    <a:lstStyle/>
                    <a:p>
                      <a:r>
                        <a:rPr lang="en-US" sz="1400" dirty="0" smtClean="0">
                          <a:latin typeface="Courier" pitchFamily="49" charset="0"/>
                        </a:rPr>
                        <a:t>Identity</a:t>
                      </a:r>
                      <a:endParaRPr lang="en-US" sz="1400" dirty="0">
                        <a:latin typeface="Courier" pitchFamily="49" charset="0"/>
                      </a:endParaRPr>
                    </a:p>
                  </a:txBody>
                  <a:tcPr/>
                </a:tc>
                <a:tc>
                  <a:txBody>
                    <a:bodyPr/>
                    <a:lstStyle/>
                    <a:p>
                      <a:r>
                        <a:rPr lang="en-US" sz="1400" dirty="0" smtClean="0">
                          <a:latin typeface="Courier" pitchFamily="49" charset="0"/>
                        </a:rPr>
                        <a:t>Reshape</a:t>
                      </a:r>
                      <a:endParaRPr lang="en-US" sz="1400" dirty="0">
                        <a:latin typeface="Courier" pitchFamily="49" charset="0"/>
                      </a:endParaRPr>
                    </a:p>
                  </a:txBody>
                  <a:tcPr/>
                </a:tc>
              </a:tr>
              <a:tr h="366832">
                <a:tc>
                  <a:txBody>
                    <a:bodyPr/>
                    <a:lstStyle/>
                    <a:p>
                      <a:r>
                        <a:rPr lang="en-US" sz="1400" dirty="0" err="1" smtClean="0">
                          <a:latin typeface="Courier" pitchFamily="49" charset="0"/>
                        </a:rPr>
                        <a:t>MklToTF</a:t>
                      </a:r>
                      <a:r>
                        <a:rPr lang="en-US" sz="1400" dirty="0" smtClean="0">
                          <a:latin typeface="Courier" pitchFamily="49" charset="0"/>
                        </a:rPr>
                        <a:t> (convert)</a:t>
                      </a:r>
                      <a:endParaRPr lang="en-US" sz="1400" dirty="0">
                        <a:latin typeface="Courier" pitchFamily="49" charset="0"/>
                      </a:endParaRPr>
                    </a:p>
                  </a:txBody>
                  <a:tcPr/>
                </a:tc>
                <a:tc>
                  <a:txBody>
                    <a:bodyPr/>
                    <a:lstStyle/>
                    <a:p>
                      <a:endParaRPr lang="en-US" sz="1400" dirty="0">
                        <a:latin typeface="Courier" pitchFamily="49" charset="0"/>
                      </a:endParaRPr>
                    </a:p>
                  </a:txBody>
                  <a:tcPr/>
                </a:tc>
              </a:tr>
            </a:tbl>
          </a:graphicData>
        </a:graphic>
      </p:graphicFrame>
      <p:sp>
        <p:nvSpPr>
          <p:cNvPr id="7" name="TextBox 6"/>
          <p:cNvSpPr txBox="1"/>
          <p:nvPr/>
        </p:nvSpPr>
        <p:spPr>
          <a:xfrm>
            <a:off x="1058259" y="4389120"/>
            <a:ext cx="6852993" cy="184666"/>
          </a:xfrm>
          <a:prstGeom prst="rect">
            <a:avLst/>
          </a:prstGeom>
          <a:noFill/>
        </p:spPr>
        <p:txBody>
          <a:bodyPr vert="horz" wrap="square" lIns="0" tIns="0" rIns="0" bIns="0" rtlCol="0">
            <a:spAutoFit/>
          </a:bodyPr>
          <a:lstStyle/>
          <a:p>
            <a:r>
              <a:rPr lang="en-US" sz="1200" b="1" dirty="0">
                <a:solidFill>
                  <a:srgbClr val="0071C5"/>
                </a:solidFill>
              </a:rPr>
              <a:t>Source</a:t>
            </a:r>
            <a:r>
              <a:rPr lang="en-US" sz="1200" dirty="0">
                <a:solidFill>
                  <a:srgbClr val="0071C5"/>
                </a:solidFill>
              </a:rPr>
              <a:t>: </a:t>
            </a:r>
            <a:r>
              <a:rPr lang="en-US" sz="1200" dirty="0">
                <a:solidFill>
                  <a:srgbClr val="003C71"/>
                </a:solidFill>
                <a:hlinkClick r:id="rId3"/>
              </a:rPr>
              <a:t>https://</a:t>
            </a:r>
            <a:r>
              <a:rPr lang="en-US" sz="1200" dirty="0" smtClean="0">
                <a:solidFill>
                  <a:srgbClr val="0071C5"/>
                </a:solidFill>
                <a:hlinkClick r:id="rId3"/>
              </a:rPr>
              <a:t>github.com/tensorflow/tensorflow/tree/master/tensorflow/core/kernels</a:t>
            </a:r>
            <a:r>
              <a:rPr lang="en-US" sz="1200" dirty="0" smtClean="0">
                <a:solidFill>
                  <a:srgbClr val="0071C5"/>
                </a:solidFill>
              </a:rPr>
              <a:t>  (</a:t>
            </a:r>
            <a:r>
              <a:rPr lang="en-US" sz="1200" dirty="0" err="1" smtClean="0">
                <a:solidFill>
                  <a:srgbClr val="0071C5"/>
                </a:solidFill>
              </a:rPr>
              <a:t>mkl</a:t>
            </a:r>
            <a:r>
              <a:rPr lang="en-US" sz="1200" dirty="0" smtClean="0">
                <a:solidFill>
                  <a:srgbClr val="0071C5"/>
                </a:solidFill>
              </a:rPr>
              <a:t>_*.cc</a:t>
            </a:r>
            <a:r>
              <a:rPr lang="en-US" sz="1100" dirty="0" smtClean="0">
                <a:solidFill>
                  <a:srgbClr val="0071C5"/>
                </a:solidFill>
              </a:rPr>
              <a:t>)</a:t>
            </a:r>
          </a:p>
        </p:txBody>
      </p:sp>
    </p:spTree>
    <p:extLst>
      <p:ext uri="{BB962C8B-B14F-4D97-AF65-F5344CB8AC3E}">
        <p14:creationId xmlns:p14="http://schemas.microsoft.com/office/powerpoint/2010/main" val="731476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Graph optimizations</a:t>
            </a:r>
            <a:endParaRPr lang="en-US" dirty="0"/>
          </a:p>
        </p:txBody>
      </p:sp>
    </p:spTree>
    <p:extLst>
      <p:ext uri="{BB962C8B-B14F-4D97-AF65-F5344CB8AC3E}">
        <p14:creationId xmlns:p14="http://schemas.microsoft.com/office/powerpoint/2010/main" val="57133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EE2556C5-CE8C-6547-B838-EA80C61A4AF7}" type="slidenum">
              <a:rPr lang="en-US" smtClean="0"/>
              <a:pPr/>
              <a:t>8</a:t>
            </a:fld>
            <a:endParaRPr lang="en-US" dirty="0"/>
          </a:p>
        </p:txBody>
      </p:sp>
      <p:sp>
        <p:nvSpPr>
          <p:cNvPr id="5" name="Title 4"/>
          <p:cNvSpPr>
            <a:spLocks noGrp="1"/>
          </p:cNvSpPr>
          <p:nvPr>
            <p:ph type="title"/>
          </p:nvPr>
        </p:nvSpPr>
        <p:spPr>
          <a:xfrm>
            <a:off x="455613" y="139408"/>
            <a:ext cx="8229600" cy="868680"/>
          </a:xfrm>
        </p:spPr>
        <p:txBody>
          <a:bodyPr/>
          <a:lstStyle/>
          <a:p>
            <a:r>
              <a:rPr lang="en-US" dirty="0" smtClean="0"/>
              <a:t>Graph optimizations in </a:t>
            </a:r>
            <a:r>
              <a:rPr lang="en-US" dirty="0" smtClean="0"/>
              <a:t>TensorFlow* </a:t>
            </a:r>
            <a:r>
              <a:rPr lang="en-US" dirty="0">
                <a:solidFill>
                  <a:srgbClr val="003C71"/>
                </a:solidFill>
              </a:rPr>
              <a:t>for Intel® Architectures</a:t>
            </a:r>
            <a:endParaRPr lang="en-US" dirty="0"/>
          </a:p>
        </p:txBody>
      </p:sp>
      <p:sp>
        <p:nvSpPr>
          <p:cNvPr id="6" name="Content Placeholder 5"/>
          <p:cNvSpPr>
            <a:spLocks noGrp="1"/>
          </p:cNvSpPr>
          <p:nvPr>
            <p:ph sz="quarter" idx="13"/>
          </p:nvPr>
        </p:nvSpPr>
        <p:spPr/>
        <p:txBody>
          <a:bodyPr>
            <a:normAutofit/>
          </a:bodyPr>
          <a:lstStyle/>
          <a:p>
            <a:pPr marL="285750" indent="-285750">
              <a:buFont typeface="Arial" panose="020B0604020202020204" pitchFamily="34" charset="0"/>
              <a:buChar char="•"/>
            </a:pPr>
            <a:r>
              <a:rPr lang="en-US" dirty="0" smtClean="0">
                <a:solidFill>
                  <a:srgbClr val="003C71"/>
                </a:solidFill>
              </a:rPr>
              <a:t>Process complete data-flow graph and have complete view of the operations and their context.</a:t>
            </a:r>
          </a:p>
          <a:p>
            <a:pPr marL="285750" indent="-285750">
              <a:buFont typeface="Arial" panose="020B0604020202020204" pitchFamily="34" charset="0"/>
              <a:buChar char="•"/>
            </a:pPr>
            <a:r>
              <a:rPr lang="en-US" dirty="0">
                <a:solidFill>
                  <a:srgbClr val="003C71"/>
                </a:solidFill>
              </a:rPr>
              <a:t>P</a:t>
            </a:r>
            <a:r>
              <a:rPr lang="en-US" dirty="0" smtClean="0">
                <a:solidFill>
                  <a:srgbClr val="003C71"/>
                </a:solidFill>
              </a:rPr>
              <a:t>er cross-operation optimizations</a:t>
            </a:r>
          </a:p>
          <a:p>
            <a:pPr marL="285750" indent="-285750">
              <a:buFont typeface="Arial" panose="020B0604020202020204" pitchFamily="34" charset="0"/>
              <a:buChar char="•"/>
            </a:pPr>
            <a:r>
              <a:rPr lang="en-US" dirty="0" smtClean="0">
                <a:solidFill>
                  <a:srgbClr val="003C71"/>
                </a:solidFill>
              </a:rPr>
              <a:t>Graph optimizations</a:t>
            </a:r>
          </a:p>
          <a:p>
            <a:pPr marL="568325" lvl="1" indent="-342900">
              <a:buFont typeface="+mj-lt"/>
              <a:buAutoNum type="arabicPeriod"/>
            </a:pPr>
            <a:r>
              <a:rPr lang="en-US" dirty="0" smtClean="0"/>
              <a:t>Data layout conversion optimizations</a:t>
            </a:r>
          </a:p>
          <a:p>
            <a:pPr marL="568325" lvl="1" indent="-342900">
              <a:buFont typeface="+mj-lt"/>
              <a:buAutoNum type="arabicPeriod"/>
            </a:pPr>
            <a:r>
              <a:rPr lang="en-US" dirty="0" smtClean="0"/>
              <a:t>Node merging (also called as Fusion)</a:t>
            </a:r>
          </a:p>
          <a:p>
            <a:pPr marL="568325" lvl="1" indent="-342900">
              <a:buFont typeface="+mj-lt"/>
              <a:buAutoNum type="arabicPeriod"/>
            </a:pPr>
            <a:r>
              <a:rPr lang="en-US" dirty="0" smtClean="0"/>
              <a:t>Memory allocation</a:t>
            </a:r>
          </a:p>
          <a:p>
            <a:pPr marL="568325" lvl="1" indent="-342900">
              <a:buFont typeface="+mj-lt"/>
              <a:buAutoNum type="arabicPeriod"/>
            </a:pPr>
            <a:r>
              <a:rPr lang="en-US" dirty="0" smtClean="0"/>
              <a:t>Load balancing</a:t>
            </a:r>
            <a:endParaRPr lang="en-US" dirty="0"/>
          </a:p>
        </p:txBody>
      </p:sp>
    </p:spTree>
    <p:extLst>
      <p:ext uri="{BB962C8B-B14F-4D97-AF65-F5344CB8AC3E}">
        <p14:creationId xmlns:p14="http://schemas.microsoft.com/office/powerpoint/2010/main" val="2963658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Layout Conversion Optimization</a:t>
            </a:r>
            <a:endParaRPr lang="en-US" dirty="0"/>
          </a:p>
        </p:txBody>
      </p:sp>
      <p:sp>
        <p:nvSpPr>
          <p:cNvPr id="4" name="Slide Number Placeholder 3"/>
          <p:cNvSpPr>
            <a:spLocks noGrp="1"/>
          </p:cNvSpPr>
          <p:nvPr>
            <p:ph type="sldNum" sz="quarter" idx="12"/>
          </p:nvPr>
        </p:nvSpPr>
        <p:spPr/>
        <p:txBody>
          <a:bodyPr/>
          <a:lstStyle/>
          <a:p>
            <a:fld id="{EE2556C5-CE8C-6547-B838-EA80C61A4AF7}" type="slidenum">
              <a:rPr lang="en-US" smtClean="0"/>
              <a:pPr/>
              <a:t>9</a:t>
            </a:fld>
            <a:endParaRPr lang="en-US" dirty="0"/>
          </a:p>
        </p:txBody>
      </p:sp>
    </p:spTree>
    <p:extLst>
      <p:ext uri="{BB962C8B-B14F-4D97-AF65-F5344CB8AC3E}">
        <p14:creationId xmlns:p14="http://schemas.microsoft.com/office/powerpoint/2010/main" val="3394483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E2556C5-CE8C-6547-B838-EA80C61A4AF7}" type="slidenum">
              <a:rPr lang="en-US" smtClean="0"/>
              <a:pPr/>
              <a:t>10</a:t>
            </a:fld>
            <a:endParaRPr lang="en-US" dirty="0"/>
          </a:p>
        </p:txBody>
      </p:sp>
      <p:sp>
        <p:nvSpPr>
          <p:cNvPr id="3" name="Title 2"/>
          <p:cNvSpPr>
            <a:spLocks noGrp="1"/>
          </p:cNvSpPr>
          <p:nvPr>
            <p:ph type="title"/>
          </p:nvPr>
        </p:nvSpPr>
        <p:spPr/>
        <p:txBody>
          <a:bodyPr/>
          <a:lstStyle/>
          <a:p>
            <a:r>
              <a:rPr lang="en-US" dirty="0" smtClean="0"/>
              <a:t>Data layout conversion optimization</a:t>
            </a:r>
            <a:endParaRPr lang="en-US" dirty="0"/>
          </a:p>
        </p:txBody>
      </p:sp>
      <p:sp>
        <p:nvSpPr>
          <p:cNvPr id="4" name="Content Placeholder 3"/>
          <p:cNvSpPr>
            <a:spLocks noGrp="1"/>
          </p:cNvSpPr>
          <p:nvPr>
            <p:ph sz="quarter" idx="13"/>
          </p:nvPr>
        </p:nvSpPr>
        <p:spPr/>
        <p:txBody>
          <a:bodyPr/>
          <a:lstStyle/>
          <a:p>
            <a:pPr marL="285750" indent="-285750">
              <a:buFont typeface="Arial" panose="020B0604020202020204" pitchFamily="34" charset="0"/>
              <a:buChar char="•"/>
            </a:pPr>
            <a:r>
              <a:rPr lang="en-US" dirty="0" smtClean="0">
                <a:solidFill>
                  <a:srgbClr val="003C71"/>
                </a:solidFill>
              </a:rPr>
              <a:t>Layout conversions are expensive data shuffling operations.</a:t>
            </a:r>
          </a:p>
          <a:p>
            <a:pPr marL="285750" indent="-285750">
              <a:buFont typeface="Arial" panose="020B0604020202020204" pitchFamily="34" charset="0"/>
              <a:buChar char="•"/>
            </a:pPr>
            <a:r>
              <a:rPr lang="en-US" dirty="0" smtClean="0">
                <a:solidFill>
                  <a:srgbClr val="003C71"/>
                </a:solidFill>
              </a:rPr>
              <a:t>The c</a:t>
            </a:r>
            <a:r>
              <a:rPr lang="en-US" dirty="0" smtClean="0">
                <a:solidFill>
                  <a:srgbClr val="003C71"/>
                </a:solidFill>
              </a:rPr>
              <a:t>hallenge is how </a:t>
            </a:r>
            <a:r>
              <a:rPr lang="en-US" dirty="0" smtClean="0">
                <a:solidFill>
                  <a:srgbClr val="003C71"/>
                </a:solidFill>
              </a:rPr>
              <a:t>to avoid unnecessary </a:t>
            </a:r>
            <a:r>
              <a:rPr lang="en-US" dirty="0" smtClean="0">
                <a:solidFill>
                  <a:srgbClr val="003C71"/>
                </a:solidFill>
              </a:rPr>
              <a:t>conversions</a:t>
            </a:r>
            <a:endParaRPr lang="en-US" dirty="0" smtClean="0">
              <a:solidFill>
                <a:srgbClr val="003C71"/>
              </a:solidFill>
            </a:endParaRPr>
          </a:p>
          <a:p>
            <a:pPr marL="285750" indent="-285750">
              <a:buFont typeface="Arial" panose="020B0604020202020204" pitchFamily="34" charset="0"/>
              <a:buChar char="•"/>
            </a:pPr>
            <a:r>
              <a:rPr lang="en-US" dirty="0" smtClean="0">
                <a:solidFill>
                  <a:srgbClr val="003C71"/>
                </a:solidFill>
              </a:rPr>
              <a:t>Optimizations</a:t>
            </a:r>
            <a:r>
              <a:rPr lang="en-US" dirty="0">
                <a:solidFill>
                  <a:srgbClr val="003C71"/>
                </a:solidFill>
              </a:rPr>
              <a:t>: </a:t>
            </a:r>
            <a:endParaRPr lang="en-US" dirty="0" smtClean="0">
              <a:solidFill>
                <a:srgbClr val="003C71"/>
              </a:solidFill>
            </a:endParaRPr>
          </a:p>
          <a:p>
            <a:pPr marL="511175" lvl="1" indent="-285750">
              <a:buFont typeface="Arial" panose="020B0604020202020204" pitchFamily="34" charset="0"/>
              <a:buChar char="•"/>
            </a:pPr>
            <a:r>
              <a:rPr lang="en-US" dirty="0">
                <a:solidFill>
                  <a:srgbClr val="003C71"/>
                </a:solidFill>
              </a:rPr>
              <a:t>F</a:t>
            </a:r>
            <a:r>
              <a:rPr lang="en-US" dirty="0" smtClean="0">
                <a:solidFill>
                  <a:srgbClr val="003C71"/>
                </a:solidFill>
              </a:rPr>
              <a:t>ind out sub-graphs that contain all operators supported by </a:t>
            </a:r>
            <a:r>
              <a:rPr lang="en-US" dirty="0">
                <a:solidFill>
                  <a:srgbClr val="003C71"/>
                </a:solidFill>
              </a:rPr>
              <a:t>Intel® </a:t>
            </a:r>
            <a:r>
              <a:rPr lang="en-US" dirty="0" smtClean="0">
                <a:solidFill>
                  <a:srgbClr val="003C71"/>
                </a:solidFill>
              </a:rPr>
              <a:t>MKL</a:t>
            </a:r>
            <a:r>
              <a:rPr lang="en-US" dirty="0" smtClean="0">
                <a:solidFill>
                  <a:srgbClr val="003C71"/>
                </a:solidFill>
              </a:rPr>
              <a:t>.</a:t>
            </a:r>
            <a:endParaRPr lang="en-US" dirty="0" smtClean="0">
              <a:solidFill>
                <a:srgbClr val="003C71"/>
              </a:solidFill>
            </a:endParaRPr>
          </a:p>
          <a:p>
            <a:pPr marL="511175" lvl="1" indent="-285750">
              <a:buFont typeface="Arial" panose="020B0604020202020204" pitchFamily="34" charset="0"/>
              <a:buChar char="•"/>
            </a:pPr>
            <a:r>
              <a:rPr lang="en-US" dirty="0" smtClean="0">
                <a:solidFill>
                  <a:srgbClr val="003C71"/>
                </a:solidFill>
              </a:rPr>
              <a:t>Then introduce layout conversions on the boundary of the subgraphs.</a:t>
            </a:r>
            <a:endParaRPr lang="en-US" dirty="0">
              <a:solidFill>
                <a:srgbClr val="003C71"/>
              </a:solidFill>
            </a:endParaRPr>
          </a:p>
        </p:txBody>
      </p:sp>
    </p:spTree>
    <p:extLst>
      <p:ext uri="{BB962C8B-B14F-4D97-AF65-F5344CB8AC3E}">
        <p14:creationId xmlns:p14="http://schemas.microsoft.com/office/powerpoint/2010/main" val="42826217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4294967295"/>
          </p:nvPr>
        </p:nvSpPr>
        <p:spPr>
          <a:xfrm>
            <a:off x="6877848" y="4721303"/>
            <a:ext cx="2019645" cy="259814"/>
          </a:xfrm>
          <a:prstGeom prst="rect">
            <a:avLst/>
          </a:prstGeom>
        </p:spPr>
        <p:txBody>
          <a:bodyPr/>
          <a:lstStyle/>
          <a:p>
            <a:fld id="{EE2556C5-CE8C-6547-B838-EA80C61A4AF7}" type="slidenum">
              <a:rPr lang="en-US" smtClean="0"/>
              <a:pPr/>
              <a:t>11</a:t>
            </a:fld>
            <a:endParaRPr lang="en-US" dirty="0"/>
          </a:p>
        </p:txBody>
      </p:sp>
      <p:sp>
        <p:nvSpPr>
          <p:cNvPr id="4" name="Title 2"/>
          <p:cNvSpPr txBox="1">
            <a:spLocks/>
          </p:cNvSpPr>
          <p:nvPr/>
        </p:nvSpPr>
        <p:spPr>
          <a:xfrm>
            <a:off x="246507" y="6798"/>
            <a:ext cx="8388453" cy="562521"/>
          </a:xfrm>
          <a:prstGeom prst="rect">
            <a:avLst/>
          </a:prstGeom>
        </p:spPr>
        <p:txBody>
          <a:bodyPr vert="horz" lIns="116916" tIns="58458" rIns="116916" bIns="58458" rtlCol="0" anchor="ctr">
            <a:noAutofit/>
          </a:bodyPr>
          <a:lstStyle>
            <a:lvl1pPr algn="l" rtl="0" eaLnBrk="1" fontAlgn="base" hangingPunct="1">
              <a:spcBef>
                <a:spcPct val="0"/>
              </a:spcBef>
              <a:spcAft>
                <a:spcPct val="0"/>
              </a:spcAft>
              <a:defRPr sz="2800" b="1" baseline="0">
                <a:solidFill>
                  <a:srgbClr val="404040"/>
                </a:solidFill>
                <a:effectLst/>
                <a:latin typeface="+mj-lt"/>
                <a:ea typeface="ＭＳ Ｐゴシック" charset="-128"/>
                <a:cs typeface="ＭＳ Ｐゴシック" charset="-128"/>
              </a:defRPr>
            </a:lvl1pPr>
            <a:lvl2pPr algn="l" rtl="0" eaLnBrk="1" fontAlgn="base" hangingPunct="1">
              <a:spcBef>
                <a:spcPct val="0"/>
              </a:spcBef>
              <a:spcAft>
                <a:spcPct val="0"/>
              </a:spcAft>
              <a:defRPr sz="3400" b="1">
                <a:solidFill>
                  <a:srgbClr val="CD0921"/>
                </a:solidFill>
                <a:latin typeface="Arial" charset="0"/>
                <a:ea typeface="ＭＳ Ｐゴシック" charset="-128"/>
                <a:cs typeface="ＭＳ Ｐゴシック" charset="-128"/>
              </a:defRPr>
            </a:lvl2pPr>
            <a:lvl3pPr algn="l" rtl="0" eaLnBrk="1" fontAlgn="base" hangingPunct="1">
              <a:spcBef>
                <a:spcPct val="0"/>
              </a:spcBef>
              <a:spcAft>
                <a:spcPct val="0"/>
              </a:spcAft>
              <a:defRPr sz="3400" b="1">
                <a:solidFill>
                  <a:srgbClr val="CD0921"/>
                </a:solidFill>
                <a:latin typeface="Arial" charset="0"/>
                <a:ea typeface="ＭＳ Ｐゴシック" charset="-128"/>
                <a:cs typeface="ＭＳ Ｐゴシック" charset="-128"/>
              </a:defRPr>
            </a:lvl3pPr>
            <a:lvl4pPr algn="l" rtl="0" eaLnBrk="1" fontAlgn="base" hangingPunct="1">
              <a:spcBef>
                <a:spcPct val="0"/>
              </a:spcBef>
              <a:spcAft>
                <a:spcPct val="0"/>
              </a:spcAft>
              <a:defRPr sz="3400" b="1">
                <a:solidFill>
                  <a:srgbClr val="CD0921"/>
                </a:solidFill>
                <a:latin typeface="Arial" charset="0"/>
                <a:ea typeface="ＭＳ Ｐゴシック" charset="-128"/>
                <a:cs typeface="ＭＳ Ｐゴシック" charset="-128"/>
              </a:defRPr>
            </a:lvl4pPr>
            <a:lvl5pPr algn="l" rtl="0" eaLnBrk="1" fontAlgn="base" hangingPunct="1">
              <a:spcBef>
                <a:spcPct val="0"/>
              </a:spcBef>
              <a:spcAft>
                <a:spcPct val="0"/>
              </a:spcAft>
              <a:defRPr sz="3400" b="1">
                <a:solidFill>
                  <a:srgbClr val="CD0921"/>
                </a:solidFill>
                <a:latin typeface="Arial" charset="0"/>
                <a:ea typeface="ＭＳ Ｐゴシック" charset="-128"/>
                <a:cs typeface="ＭＳ Ｐゴシック" charset="-128"/>
              </a:defRPr>
            </a:lvl5pPr>
            <a:lvl6pPr marL="457200" algn="l" rtl="0" eaLnBrk="1" fontAlgn="base" hangingPunct="1">
              <a:spcBef>
                <a:spcPct val="0"/>
              </a:spcBef>
              <a:spcAft>
                <a:spcPct val="0"/>
              </a:spcAft>
              <a:defRPr sz="2800" b="1">
                <a:solidFill>
                  <a:schemeClr val="tx2"/>
                </a:solidFill>
                <a:latin typeface="Arial" charset="0"/>
              </a:defRPr>
            </a:lvl6pPr>
            <a:lvl7pPr marL="914400" algn="l" rtl="0" eaLnBrk="1" fontAlgn="base" hangingPunct="1">
              <a:spcBef>
                <a:spcPct val="0"/>
              </a:spcBef>
              <a:spcAft>
                <a:spcPct val="0"/>
              </a:spcAft>
              <a:defRPr sz="2800" b="1">
                <a:solidFill>
                  <a:schemeClr val="tx2"/>
                </a:solidFill>
                <a:latin typeface="Arial" charset="0"/>
              </a:defRPr>
            </a:lvl7pPr>
            <a:lvl8pPr marL="1371600" algn="l" rtl="0" eaLnBrk="1" fontAlgn="base" hangingPunct="1">
              <a:spcBef>
                <a:spcPct val="0"/>
              </a:spcBef>
              <a:spcAft>
                <a:spcPct val="0"/>
              </a:spcAft>
              <a:defRPr sz="2800" b="1">
                <a:solidFill>
                  <a:schemeClr val="tx2"/>
                </a:solidFill>
                <a:latin typeface="Arial" charset="0"/>
              </a:defRPr>
            </a:lvl8pPr>
            <a:lvl9pPr marL="1828800" algn="l" rtl="0" eaLnBrk="1" fontAlgn="base" hangingPunct="1">
              <a:spcBef>
                <a:spcPct val="0"/>
              </a:spcBef>
              <a:spcAft>
                <a:spcPct val="0"/>
              </a:spcAft>
              <a:defRPr sz="2800" b="1">
                <a:solidFill>
                  <a:schemeClr val="tx2"/>
                </a:solidFill>
                <a:latin typeface="Arial" charset="0"/>
              </a:defRPr>
            </a:lvl9pPr>
          </a:lstStyle>
          <a:p>
            <a:pPr defTabSz="1169152">
              <a:defRPr/>
            </a:pPr>
            <a:r>
              <a:rPr lang="en-US" sz="2301" kern="0" dirty="0" smtClean="0">
                <a:solidFill>
                  <a:srgbClr val="003C71"/>
                </a:solidFill>
                <a:latin typeface="+mn-lt"/>
                <a:cs typeface="+mn-cs"/>
              </a:rPr>
              <a:t>Data </a:t>
            </a:r>
            <a:r>
              <a:rPr lang="en-US" sz="2301" kern="0" dirty="0">
                <a:solidFill>
                  <a:srgbClr val="003C71"/>
                </a:solidFill>
                <a:latin typeface="+mn-lt"/>
                <a:cs typeface="+mn-cs"/>
              </a:rPr>
              <a:t>Layout Has Big Impact on </a:t>
            </a:r>
            <a:r>
              <a:rPr lang="en-US" sz="2301" kern="0" dirty="0" smtClean="0">
                <a:solidFill>
                  <a:srgbClr val="003C71"/>
                </a:solidFill>
                <a:latin typeface="+mn-lt"/>
                <a:cs typeface="+mn-cs"/>
              </a:rPr>
              <a:t>Performance - example</a:t>
            </a:r>
            <a:endParaRPr lang="en-US" sz="2301" kern="0" dirty="0">
              <a:solidFill>
                <a:srgbClr val="003C71"/>
              </a:solidFill>
              <a:latin typeface="+mn-lt"/>
              <a:cs typeface="+mn-cs"/>
            </a:endParaRPr>
          </a:p>
        </p:txBody>
      </p:sp>
      <p:sp>
        <p:nvSpPr>
          <p:cNvPr id="5" name="TextBox 4"/>
          <p:cNvSpPr txBox="1"/>
          <p:nvPr/>
        </p:nvSpPr>
        <p:spPr>
          <a:xfrm>
            <a:off x="538799" y="635551"/>
            <a:ext cx="7222650" cy="1569660"/>
          </a:xfrm>
          <a:prstGeom prst="rect">
            <a:avLst/>
          </a:prstGeom>
          <a:noFill/>
        </p:spPr>
        <p:txBody>
          <a:bodyPr wrap="square" rtlCol="0">
            <a:spAutoFit/>
          </a:bodyPr>
          <a:lstStyle/>
          <a:p>
            <a:pPr marL="219216" indent="-219216">
              <a:buFont typeface="Arial" panose="020B0604020202020204" pitchFamily="34" charset="0"/>
              <a:buChar char="•"/>
            </a:pPr>
            <a:r>
              <a:rPr lang="en-US" sz="1600" dirty="0">
                <a:solidFill>
                  <a:srgbClr val="003C71"/>
                </a:solidFill>
              </a:rPr>
              <a:t>Data Layouts impacts performance</a:t>
            </a:r>
          </a:p>
          <a:p>
            <a:pPr marL="660630" lvl="1" indent="-219216">
              <a:buFont typeface="Arial" panose="020B0604020202020204" pitchFamily="34" charset="0"/>
              <a:buChar char="•"/>
            </a:pPr>
            <a:r>
              <a:rPr lang="en-US" sz="1600" dirty="0">
                <a:solidFill>
                  <a:srgbClr val="003C71"/>
                </a:solidFill>
              </a:rPr>
              <a:t>Sequential access to avoid gather/scatter</a:t>
            </a:r>
          </a:p>
          <a:p>
            <a:pPr marL="660630" lvl="1" indent="-219216">
              <a:buFont typeface="Arial" panose="020B0604020202020204" pitchFamily="34" charset="0"/>
              <a:buChar char="•"/>
            </a:pPr>
            <a:r>
              <a:rPr lang="en-US" sz="1600" dirty="0">
                <a:solidFill>
                  <a:srgbClr val="003C71"/>
                </a:solidFill>
              </a:rPr>
              <a:t>Have iterations in inner most loop to ensure high vector utilization</a:t>
            </a:r>
          </a:p>
          <a:p>
            <a:pPr marL="660630" lvl="1" indent="-219216">
              <a:buFont typeface="Arial" panose="020B0604020202020204" pitchFamily="34" charset="0"/>
              <a:buChar char="•"/>
            </a:pPr>
            <a:r>
              <a:rPr lang="en-US" sz="1600" dirty="0">
                <a:solidFill>
                  <a:srgbClr val="003C71"/>
                </a:solidFill>
              </a:rPr>
              <a:t>Maximize data reuse; e.g. weights in a convolution layer</a:t>
            </a:r>
          </a:p>
          <a:p>
            <a:pPr marL="219216" indent="-219216">
              <a:buFont typeface="Arial" panose="020B0604020202020204" pitchFamily="34" charset="0"/>
              <a:buChar char="•"/>
            </a:pPr>
            <a:r>
              <a:rPr lang="en-US" sz="1600" dirty="0">
                <a:solidFill>
                  <a:srgbClr val="003C71"/>
                </a:solidFill>
              </a:rPr>
              <a:t>Converting to/from optimized Layout is </a:t>
            </a:r>
            <a:r>
              <a:rPr lang="en-US" sz="1600" dirty="0" smtClean="0">
                <a:solidFill>
                  <a:srgbClr val="003C71"/>
                </a:solidFill>
              </a:rPr>
              <a:t>sometimes </a:t>
            </a:r>
            <a:r>
              <a:rPr lang="en-US" sz="1600" dirty="0">
                <a:solidFill>
                  <a:srgbClr val="003C71"/>
                </a:solidFill>
              </a:rPr>
              <a:t>less expensive than operating on unoptimized Layout</a:t>
            </a:r>
          </a:p>
        </p:txBody>
      </p:sp>
      <p:graphicFrame>
        <p:nvGraphicFramePr>
          <p:cNvPr id="6" name="Table 5"/>
          <p:cNvGraphicFramePr>
            <a:graphicFrameLocks noGrp="1"/>
          </p:cNvGraphicFramePr>
          <p:nvPr>
            <p:extLst>
              <p:ext uri="{D42A27DB-BD31-4B8C-83A1-F6EECF244321}">
                <p14:modId xmlns:p14="http://schemas.microsoft.com/office/powerpoint/2010/main" val="4015939369"/>
              </p:ext>
            </p:extLst>
          </p:nvPr>
        </p:nvGraphicFramePr>
        <p:xfrm>
          <a:off x="1041990" y="2340027"/>
          <a:ext cx="1701210" cy="1879960"/>
        </p:xfrm>
        <a:graphic>
          <a:graphicData uri="http://schemas.openxmlformats.org/drawingml/2006/table">
            <a:tbl>
              <a:tblPr firstRow="1" bandRow="1">
                <a:tableStyleId>{2D5ABB26-0587-4C30-8999-92F81FD0307C}</a:tableStyleId>
              </a:tblPr>
              <a:tblGrid>
                <a:gridCol w="340242"/>
                <a:gridCol w="340242"/>
                <a:gridCol w="340242"/>
                <a:gridCol w="340242"/>
                <a:gridCol w="340242"/>
              </a:tblGrid>
              <a:tr h="375992">
                <a:tc>
                  <a:txBody>
                    <a:bodyPr/>
                    <a:lstStyle/>
                    <a:p>
                      <a:r>
                        <a:rPr lang="en-US" sz="600" dirty="0" smtClean="0"/>
                        <a:t>21</a:t>
                      </a:r>
                      <a:endParaRPr lang="en-US" sz="600" dirty="0"/>
                    </a:p>
                  </a:txBody>
                  <a:tcPr marL="116916" marR="116916" marT="58458" marB="584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600" dirty="0" smtClean="0"/>
                        <a:t>18</a:t>
                      </a:r>
                      <a:endParaRPr lang="en-US" sz="600" dirty="0"/>
                    </a:p>
                  </a:txBody>
                  <a:tcPr marL="116916" marR="116916" marT="58458" marB="584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600" dirty="0" smtClean="0"/>
                        <a:t>32</a:t>
                      </a:r>
                      <a:endParaRPr lang="en-US" sz="600" dirty="0"/>
                    </a:p>
                  </a:txBody>
                  <a:tcPr marL="116916" marR="116916" marT="58458" marB="584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600" dirty="0" smtClean="0"/>
                        <a:t>6</a:t>
                      </a:r>
                      <a:endParaRPr lang="en-US" sz="600" dirty="0"/>
                    </a:p>
                  </a:txBody>
                  <a:tcPr marL="116916" marR="116916" marT="58458" marB="584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600" dirty="0" smtClean="0"/>
                        <a:t>3</a:t>
                      </a:r>
                      <a:endParaRPr lang="en-US" sz="600" dirty="0"/>
                    </a:p>
                  </a:txBody>
                  <a:tcPr marL="116916" marR="116916" marT="58458" marB="584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5992">
                <a:tc>
                  <a:txBody>
                    <a:bodyPr/>
                    <a:lstStyle/>
                    <a:p>
                      <a:r>
                        <a:rPr lang="en-US" sz="600" dirty="0" smtClean="0"/>
                        <a:t>1</a:t>
                      </a:r>
                      <a:endParaRPr lang="en-US" sz="600" dirty="0"/>
                    </a:p>
                  </a:txBody>
                  <a:tcPr marL="116916" marR="116916" marT="58458" marB="584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600" dirty="0" smtClean="0"/>
                        <a:t>8</a:t>
                      </a:r>
                      <a:endParaRPr lang="en-US" sz="600" dirty="0"/>
                    </a:p>
                  </a:txBody>
                  <a:tcPr marL="116916" marR="116916" marT="58458" marB="584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600" dirty="0" smtClean="0"/>
                        <a:t>0</a:t>
                      </a:r>
                      <a:endParaRPr lang="en-US" sz="600" dirty="0"/>
                    </a:p>
                  </a:txBody>
                  <a:tcPr marL="116916" marR="116916" marT="58458" marB="584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600" dirty="0" smtClean="0"/>
                        <a:t>3</a:t>
                      </a:r>
                      <a:endParaRPr lang="en-US" sz="600" dirty="0"/>
                    </a:p>
                  </a:txBody>
                  <a:tcPr marL="116916" marR="116916" marT="58458" marB="584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600" dirty="0" smtClean="0"/>
                        <a:t>26</a:t>
                      </a:r>
                      <a:endParaRPr lang="en-US" sz="600" dirty="0"/>
                    </a:p>
                  </a:txBody>
                  <a:tcPr marL="116916" marR="116916" marT="58458" marB="584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5992">
                <a:tc>
                  <a:txBody>
                    <a:bodyPr/>
                    <a:lstStyle/>
                    <a:p>
                      <a:r>
                        <a:rPr lang="en-US" sz="600" dirty="0" smtClean="0"/>
                        <a:t>40</a:t>
                      </a:r>
                      <a:endParaRPr lang="en-US" sz="600" dirty="0"/>
                    </a:p>
                  </a:txBody>
                  <a:tcPr marL="116916" marR="116916" marT="58458" marB="584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600" dirty="0" smtClean="0"/>
                        <a:t>9</a:t>
                      </a:r>
                      <a:endParaRPr lang="en-US" sz="600" dirty="0"/>
                    </a:p>
                  </a:txBody>
                  <a:tcPr marL="116916" marR="116916" marT="58458" marB="584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600" dirty="0" smtClean="0"/>
                        <a:t>22</a:t>
                      </a:r>
                      <a:endParaRPr lang="en-US" sz="600" dirty="0"/>
                    </a:p>
                  </a:txBody>
                  <a:tcPr marL="116916" marR="116916" marT="58458" marB="584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600" dirty="0" smtClean="0"/>
                        <a:t>76</a:t>
                      </a:r>
                      <a:endParaRPr lang="en-US" sz="600" dirty="0"/>
                    </a:p>
                  </a:txBody>
                  <a:tcPr marL="116916" marR="116916" marT="58458" marB="584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600" dirty="0" smtClean="0"/>
                        <a:t>81</a:t>
                      </a:r>
                      <a:endParaRPr lang="en-US" sz="600" dirty="0"/>
                    </a:p>
                  </a:txBody>
                  <a:tcPr marL="116916" marR="116916" marT="58458" marB="584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5992">
                <a:tc>
                  <a:txBody>
                    <a:bodyPr/>
                    <a:lstStyle/>
                    <a:p>
                      <a:r>
                        <a:rPr lang="en-US" sz="600" dirty="0" smtClean="0"/>
                        <a:t>23</a:t>
                      </a:r>
                      <a:endParaRPr lang="en-US" sz="600" dirty="0"/>
                    </a:p>
                  </a:txBody>
                  <a:tcPr marL="116916" marR="116916" marT="58458" marB="584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600" dirty="0" smtClean="0"/>
                        <a:t>44</a:t>
                      </a:r>
                      <a:endParaRPr lang="en-US" sz="600" dirty="0"/>
                    </a:p>
                  </a:txBody>
                  <a:tcPr marL="116916" marR="116916" marT="58458" marB="584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600" dirty="0" smtClean="0"/>
                        <a:t>81</a:t>
                      </a:r>
                      <a:endParaRPr lang="en-US" sz="600" dirty="0"/>
                    </a:p>
                  </a:txBody>
                  <a:tcPr marL="116916" marR="116916" marT="58458" marB="584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600" dirty="0" smtClean="0"/>
                        <a:t>32</a:t>
                      </a:r>
                      <a:endParaRPr lang="en-US" sz="600" dirty="0"/>
                    </a:p>
                  </a:txBody>
                  <a:tcPr marL="116916" marR="116916" marT="58458" marB="584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600" dirty="0" smtClean="0"/>
                        <a:t>11</a:t>
                      </a:r>
                      <a:endParaRPr lang="en-US" sz="600" dirty="0"/>
                    </a:p>
                  </a:txBody>
                  <a:tcPr marL="116916" marR="116916" marT="58458" marB="584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5992">
                <a:tc>
                  <a:txBody>
                    <a:bodyPr/>
                    <a:lstStyle/>
                    <a:p>
                      <a:r>
                        <a:rPr lang="en-US" sz="600" dirty="0" smtClean="0"/>
                        <a:t>5</a:t>
                      </a:r>
                      <a:endParaRPr lang="en-US" sz="600" dirty="0"/>
                    </a:p>
                  </a:txBody>
                  <a:tcPr marL="116916" marR="116916" marT="58458" marB="584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600" dirty="0" smtClean="0"/>
                        <a:t>38</a:t>
                      </a:r>
                      <a:endParaRPr lang="en-US" sz="600" dirty="0"/>
                    </a:p>
                  </a:txBody>
                  <a:tcPr marL="116916" marR="116916" marT="58458" marB="584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600" dirty="0" smtClean="0"/>
                        <a:t>10</a:t>
                      </a:r>
                      <a:endParaRPr lang="en-US" sz="600" dirty="0"/>
                    </a:p>
                  </a:txBody>
                  <a:tcPr marL="116916" marR="116916" marT="58458" marB="584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600" dirty="0" smtClean="0"/>
                        <a:t>11</a:t>
                      </a:r>
                      <a:endParaRPr lang="en-US" sz="600" dirty="0"/>
                    </a:p>
                  </a:txBody>
                  <a:tcPr marL="116916" marR="116916" marT="58458" marB="584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600" dirty="0" smtClean="0"/>
                        <a:t>1</a:t>
                      </a:r>
                      <a:endParaRPr lang="en-US" sz="600" dirty="0"/>
                    </a:p>
                  </a:txBody>
                  <a:tcPr marL="116916" marR="116916" marT="58458" marB="584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710436028"/>
              </p:ext>
            </p:extLst>
          </p:nvPr>
        </p:nvGraphicFramePr>
        <p:xfrm>
          <a:off x="1590356" y="2537464"/>
          <a:ext cx="1656035" cy="1825665"/>
        </p:xfrm>
        <a:graphic>
          <a:graphicData uri="http://schemas.openxmlformats.org/drawingml/2006/table">
            <a:tbl>
              <a:tblPr firstRow="1" bandRow="1">
                <a:tableStyleId>{2D5ABB26-0587-4C30-8999-92F81FD0307C}</a:tableStyleId>
              </a:tblPr>
              <a:tblGrid>
                <a:gridCol w="331207"/>
                <a:gridCol w="331207"/>
                <a:gridCol w="331207"/>
                <a:gridCol w="331207"/>
                <a:gridCol w="331207"/>
              </a:tblGrid>
              <a:tr h="365133">
                <a:tc>
                  <a:txBody>
                    <a:bodyPr/>
                    <a:lstStyle/>
                    <a:p>
                      <a:r>
                        <a:rPr lang="en-US" sz="600" dirty="0" smtClean="0"/>
                        <a:t>8</a:t>
                      </a:r>
                      <a:endParaRPr lang="en-US" sz="600" dirty="0"/>
                    </a:p>
                  </a:txBody>
                  <a:tcPr marL="116916" marR="116916" marT="58458" marB="584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600" dirty="0" smtClean="0"/>
                        <a:t>92</a:t>
                      </a:r>
                      <a:endParaRPr lang="en-US" sz="600" dirty="0"/>
                    </a:p>
                  </a:txBody>
                  <a:tcPr marL="116916" marR="116916" marT="58458" marB="584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600" dirty="0" smtClean="0"/>
                        <a:t>37</a:t>
                      </a:r>
                      <a:endParaRPr lang="en-US" sz="600" dirty="0"/>
                    </a:p>
                  </a:txBody>
                  <a:tcPr marL="116916" marR="116916" marT="58458" marB="584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600" dirty="0" smtClean="0"/>
                        <a:t>29</a:t>
                      </a:r>
                      <a:endParaRPr lang="en-US" sz="600" dirty="0"/>
                    </a:p>
                  </a:txBody>
                  <a:tcPr marL="116916" marR="116916" marT="58458" marB="584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600" dirty="0" smtClean="0"/>
                        <a:t>44</a:t>
                      </a:r>
                      <a:endParaRPr lang="en-US" sz="600" dirty="0"/>
                    </a:p>
                  </a:txBody>
                  <a:tcPr marL="116916" marR="116916" marT="58458" marB="584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65133">
                <a:tc>
                  <a:txBody>
                    <a:bodyPr/>
                    <a:lstStyle/>
                    <a:p>
                      <a:r>
                        <a:rPr lang="en-US" sz="600" dirty="0" smtClean="0"/>
                        <a:t>11</a:t>
                      </a:r>
                      <a:endParaRPr lang="en-US" sz="600" dirty="0"/>
                    </a:p>
                  </a:txBody>
                  <a:tcPr marL="116916" marR="116916" marT="58458" marB="584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600" dirty="0" smtClean="0"/>
                        <a:t>9</a:t>
                      </a:r>
                      <a:endParaRPr lang="en-US" sz="600" dirty="0"/>
                    </a:p>
                  </a:txBody>
                  <a:tcPr marL="116916" marR="116916" marT="58458" marB="584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600" dirty="0" smtClean="0"/>
                        <a:t>22</a:t>
                      </a:r>
                      <a:endParaRPr lang="en-US" sz="600" dirty="0"/>
                    </a:p>
                  </a:txBody>
                  <a:tcPr marL="116916" marR="116916" marT="58458" marB="584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600" dirty="0" smtClean="0"/>
                        <a:t>3</a:t>
                      </a:r>
                      <a:endParaRPr lang="en-US" sz="600" dirty="0"/>
                    </a:p>
                  </a:txBody>
                  <a:tcPr marL="116916" marR="116916" marT="58458" marB="584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600" dirty="0" smtClean="0"/>
                        <a:t>26</a:t>
                      </a:r>
                      <a:endParaRPr lang="en-US" sz="600" dirty="0"/>
                    </a:p>
                  </a:txBody>
                  <a:tcPr marL="116916" marR="116916" marT="58458" marB="584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65133">
                <a:tc>
                  <a:txBody>
                    <a:bodyPr/>
                    <a:lstStyle/>
                    <a:p>
                      <a:r>
                        <a:rPr lang="en-US" sz="600" dirty="0" smtClean="0"/>
                        <a:t>3</a:t>
                      </a:r>
                      <a:endParaRPr lang="en-US" sz="600" dirty="0"/>
                    </a:p>
                  </a:txBody>
                  <a:tcPr marL="116916" marR="116916" marT="58458" marB="584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600" dirty="0" smtClean="0"/>
                        <a:t>47</a:t>
                      </a:r>
                      <a:endParaRPr lang="en-US" sz="600" dirty="0"/>
                    </a:p>
                  </a:txBody>
                  <a:tcPr marL="116916" marR="116916" marT="58458" marB="584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600" dirty="0" smtClean="0"/>
                        <a:t>29</a:t>
                      </a:r>
                      <a:endParaRPr lang="en-US" sz="600" dirty="0"/>
                    </a:p>
                  </a:txBody>
                  <a:tcPr marL="116916" marR="116916" marT="58458" marB="584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600" dirty="0" smtClean="0"/>
                        <a:t>88</a:t>
                      </a:r>
                      <a:endParaRPr lang="en-US" sz="600" dirty="0"/>
                    </a:p>
                  </a:txBody>
                  <a:tcPr marL="116916" marR="116916" marT="58458" marB="584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600" dirty="0" smtClean="0"/>
                        <a:t>1</a:t>
                      </a:r>
                      <a:endParaRPr lang="en-US" sz="600" dirty="0"/>
                    </a:p>
                  </a:txBody>
                  <a:tcPr marL="116916" marR="116916" marT="58458" marB="584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65133">
                <a:tc>
                  <a:txBody>
                    <a:bodyPr/>
                    <a:lstStyle/>
                    <a:p>
                      <a:r>
                        <a:rPr lang="en-US" sz="600" dirty="0" smtClean="0"/>
                        <a:t>15</a:t>
                      </a:r>
                      <a:endParaRPr lang="en-US" sz="600" dirty="0"/>
                    </a:p>
                  </a:txBody>
                  <a:tcPr marL="116916" marR="116916" marT="58458" marB="584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600" dirty="0" smtClean="0"/>
                        <a:t>16</a:t>
                      </a:r>
                      <a:endParaRPr lang="en-US" sz="600" dirty="0"/>
                    </a:p>
                  </a:txBody>
                  <a:tcPr marL="116916" marR="116916" marT="58458" marB="584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600" dirty="0" smtClean="0"/>
                        <a:t>22</a:t>
                      </a:r>
                      <a:endParaRPr lang="en-US" sz="600" dirty="0"/>
                    </a:p>
                  </a:txBody>
                  <a:tcPr marL="116916" marR="116916" marT="58458" marB="584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600" dirty="0" smtClean="0"/>
                        <a:t>46</a:t>
                      </a:r>
                      <a:endParaRPr lang="en-US" sz="600" dirty="0"/>
                    </a:p>
                  </a:txBody>
                  <a:tcPr marL="116916" marR="116916" marT="58458" marB="584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600" dirty="0" smtClean="0"/>
                        <a:t>12</a:t>
                      </a:r>
                      <a:endParaRPr lang="en-US" sz="600" dirty="0"/>
                    </a:p>
                  </a:txBody>
                  <a:tcPr marL="116916" marR="116916" marT="58458" marB="584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65133">
                <a:tc>
                  <a:txBody>
                    <a:bodyPr/>
                    <a:lstStyle/>
                    <a:p>
                      <a:r>
                        <a:rPr lang="en-US" sz="600" dirty="0" smtClean="0"/>
                        <a:t>29</a:t>
                      </a:r>
                      <a:endParaRPr lang="en-US" sz="600" dirty="0"/>
                    </a:p>
                  </a:txBody>
                  <a:tcPr marL="116916" marR="116916" marT="58458" marB="584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600" dirty="0" smtClean="0"/>
                        <a:t>9</a:t>
                      </a:r>
                      <a:endParaRPr lang="en-US" sz="600" dirty="0"/>
                    </a:p>
                  </a:txBody>
                  <a:tcPr marL="116916" marR="116916" marT="58458" marB="584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600" dirty="0" smtClean="0"/>
                        <a:t>13</a:t>
                      </a:r>
                      <a:endParaRPr lang="en-US" sz="600" dirty="0"/>
                    </a:p>
                  </a:txBody>
                  <a:tcPr marL="116916" marR="116916" marT="58458" marB="584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600" dirty="0" smtClean="0"/>
                        <a:t>11</a:t>
                      </a:r>
                      <a:endParaRPr lang="en-US" sz="600" dirty="0"/>
                    </a:p>
                  </a:txBody>
                  <a:tcPr marL="116916" marR="116916" marT="58458" marB="584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600" dirty="0" smtClean="0"/>
                        <a:t>1</a:t>
                      </a:r>
                      <a:endParaRPr lang="en-US" sz="600" dirty="0"/>
                    </a:p>
                  </a:txBody>
                  <a:tcPr marL="116916" marR="116916" marT="58458" marB="584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3728187192"/>
              </p:ext>
            </p:extLst>
          </p:nvPr>
        </p:nvGraphicFramePr>
        <p:xfrm>
          <a:off x="4385494" y="3867212"/>
          <a:ext cx="3350576" cy="272804"/>
        </p:xfrm>
        <a:graphic>
          <a:graphicData uri="http://schemas.openxmlformats.org/drawingml/2006/table">
            <a:tbl>
              <a:tblPr firstRow="1" bandRow="1">
                <a:tableStyleId>{2D5ABB26-0587-4C30-8999-92F81FD0307C}</a:tableStyleId>
              </a:tblPr>
              <a:tblGrid>
                <a:gridCol w="418822"/>
                <a:gridCol w="418822"/>
                <a:gridCol w="418822"/>
                <a:gridCol w="418822"/>
                <a:gridCol w="418822"/>
                <a:gridCol w="418822"/>
                <a:gridCol w="418822"/>
                <a:gridCol w="418822"/>
              </a:tblGrid>
              <a:tr h="272804">
                <a:tc>
                  <a:txBody>
                    <a:bodyPr/>
                    <a:lstStyle/>
                    <a:p>
                      <a:r>
                        <a:rPr lang="en-US" sz="800" dirty="0" smtClean="0"/>
                        <a:t>21</a:t>
                      </a:r>
                      <a:endParaRPr lang="en-US" sz="800" dirty="0"/>
                    </a:p>
                  </a:txBody>
                  <a:tcPr marL="116916" marR="116916" marT="58458" marB="584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800" dirty="0" smtClean="0"/>
                        <a:t>8</a:t>
                      </a:r>
                      <a:endParaRPr lang="en-US" sz="800" dirty="0"/>
                    </a:p>
                  </a:txBody>
                  <a:tcPr marL="116916" marR="116916" marT="58458" marB="584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800" dirty="0" smtClean="0"/>
                        <a:t>18</a:t>
                      </a:r>
                      <a:endParaRPr lang="en-US" sz="800" dirty="0"/>
                    </a:p>
                  </a:txBody>
                  <a:tcPr marL="116916" marR="116916" marT="58458" marB="584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800" dirty="0" smtClean="0"/>
                        <a:t>92</a:t>
                      </a:r>
                      <a:endParaRPr lang="en-US" sz="800" dirty="0"/>
                    </a:p>
                  </a:txBody>
                  <a:tcPr marL="116916" marR="116916" marT="58458" marB="584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800" dirty="0" smtClean="0"/>
                        <a:t>..</a:t>
                      </a:r>
                      <a:endParaRPr lang="en-US" sz="800" dirty="0"/>
                    </a:p>
                  </a:txBody>
                  <a:tcPr marL="116916" marR="116916" marT="58458" marB="584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800" dirty="0" smtClean="0"/>
                        <a:t>1</a:t>
                      </a:r>
                      <a:endParaRPr lang="en-US" sz="800" dirty="0"/>
                    </a:p>
                  </a:txBody>
                  <a:tcPr marL="116916" marR="116916" marT="58458" marB="584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800" dirty="0" smtClean="0"/>
                        <a:t>11</a:t>
                      </a:r>
                      <a:endParaRPr lang="en-US" sz="800" dirty="0"/>
                    </a:p>
                  </a:txBody>
                  <a:tcPr marL="116916" marR="116916" marT="58458" marB="584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800" dirty="0" smtClean="0"/>
                        <a:t>..</a:t>
                      </a:r>
                      <a:endParaRPr lang="en-US" sz="800" dirty="0"/>
                    </a:p>
                  </a:txBody>
                  <a:tcPr marL="116916" marR="116916" marT="58458" marB="584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2768193337"/>
              </p:ext>
            </p:extLst>
          </p:nvPr>
        </p:nvGraphicFramePr>
        <p:xfrm>
          <a:off x="4385494" y="2363155"/>
          <a:ext cx="3350576" cy="272804"/>
        </p:xfrm>
        <a:graphic>
          <a:graphicData uri="http://schemas.openxmlformats.org/drawingml/2006/table">
            <a:tbl>
              <a:tblPr firstRow="1" bandRow="1">
                <a:tableStyleId>{2D5ABB26-0587-4C30-8999-92F81FD0307C}</a:tableStyleId>
              </a:tblPr>
              <a:tblGrid>
                <a:gridCol w="418822"/>
                <a:gridCol w="418822"/>
                <a:gridCol w="418822"/>
                <a:gridCol w="418822"/>
                <a:gridCol w="418822"/>
                <a:gridCol w="418822"/>
                <a:gridCol w="418822"/>
                <a:gridCol w="418822"/>
              </a:tblGrid>
              <a:tr h="272804">
                <a:tc>
                  <a:txBody>
                    <a:bodyPr/>
                    <a:lstStyle/>
                    <a:p>
                      <a:r>
                        <a:rPr lang="en-US" sz="800" dirty="0" smtClean="0"/>
                        <a:t>21</a:t>
                      </a:r>
                      <a:endParaRPr lang="en-US" sz="800" dirty="0"/>
                    </a:p>
                  </a:txBody>
                  <a:tcPr marL="116916" marR="116916" marT="58458" marB="584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800" dirty="0" smtClean="0"/>
                        <a:t>18</a:t>
                      </a:r>
                      <a:endParaRPr lang="en-US" sz="800" dirty="0"/>
                    </a:p>
                  </a:txBody>
                  <a:tcPr marL="116916" marR="116916" marT="58458" marB="584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800" dirty="0" smtClean="0"/>
                        <a:t>…</a:t>
                      </a:r>
                      <a:endParaRPr lang="en-US" sz="800" dirty="0"/>
                    </a:p>
                  </a:txBody>
                  <a:tcPr marL="116916" marR="116916" marT="58458" marB="584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800" dirty="0" smtClean="0"/>
                        <a:t>1</a:t>
                      </a:r>
                      <a:endParaRPr lang="en-US" sz="800" dirty="0"/>
                    </a:p>
                  </a:txBody>
                  <a:tcPr marL="116916" marR="116916" marT="58458" marB="584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800" dirty="0" smtClean="0"/>
                        <a:t>..</a:t>
                      </a:r>
                      <a:endParaRPr lang="en-US" sz="800" dirty="0"/>
                    </a:p>
                  </a:txBody>
                  <a:tcPr marL="116916" marR="116916" marT="58458" marB="584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800" dirty="0" smtClean="0"/>
                        <a:t>8</a:t>
                      </a:r>
                      <a:endParaRPr lang="en-US" sz="800" dirty="0"/>
                    </a:p>
                  </a:txBody>
                  <a:tcPr marL="116916" marR="116916" marT="58458" marB="584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800" dirty="0" smtClean="0"/>
                        <a:t>92</a:t>
                      </a:r>
                      <a:endParaRPr lang="en-US" sz="800" dirty="0"/>
                    </a:p>
                  </a:txBody>
                  <a:tcPr marL="116916" marR="116916" marT="58458" marB="584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800" dirty="0" smtClean="0"/>
                        <a:t>..</a:t>
                      </a:r>
                      <a:endParaRPr lang="en-US" sz="800" dirty="0"/>
                    </a:p>
                  </a:txBody>
                  <a:tcPr marL="116916" marR="116916" marT="58458" marB="584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10" name="TextBox 9"/>
          <p:cNvSpPr txBox="1"/>
          <p:nvPr/>
        </p:nvSpPr>
        <p:spPr>
          <a:xfrm>
            <a:off x="4314615" y="3026310"/>
            <a:ext cx="3046532" cy="523220"/>
          </a:xfrm>
          <a:prstGeom prst="rect">
            <a:avLst/>
          </a:prstGeom>
          <a:noFill/>
        </p:spPr>
        <p:txBody>
          <a:bodyPr wrap="square" rtlCol="0">
            <a:spAutoFit/>
          </a:bodyPr>
          <a:lstStyle/>
          <a:p>
            <a:r>
              <a:rPr lang="en-US" sz="1400" dirty="0"/>
              <a:t>F</a:t>
            </a:r>
            <a:r>
              <a:rPr lang="en-US" sz="1400" dirty="0" smtClean="0"/>
              <a:t>or </a:t>
            </a:r>
            <a:r>
              <a:rPr lang="en-US" sz="1400" dirty="0"/>
              <a:t>some operations, </a:t>
            </a:r>
            <a:r>
              <a:rPr lang="en-US" sz="1400" dirty="0" smtClean="0"/>
              <a:t>the following may be a better data layout</a:t>
            </a:r>
            <a:endParaRPr lang="en-US" sz="1400" dirty="0"/>
          </a:p>
        </p:txBody>
      </p:sp>
    </p:spTree>
    <p:extLst>
      <p:ext uri="{BB962C8B-B14F-4D97-AF65-F5344CB8AC3E}">
        <p14:creationId xmlns:p14="http://schemas.microsoft.com/office/powerpoint/2010/main" val="321589772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E2556C5-CE8C-6547-B838-EA80C61A4AF7}" type="slidenum">
              <a:rPr lang="en-US" smtClean="0"/>
              <a:pPr/>
              <a:t>12</a:t>
            </a:fld>
            <a:endParaRPr lang="en-US" dirty="0"/>
          </a:p>
        </p:txBody>
      </p:sp>
      <p:sp>
        <p:nvSpPr>
          <p:cNvPr id="3" name="Title 2"/>
          <p:cNvSpPr>
            <a:spLocks noGrp="1"/>
          </p:cNvSpPr>
          <p:nvPr>
            <p:ph type="title"/>
          </p:nvPr>
        </p:nvSpPr>
        <p:spPr>
          <a:xfrm>
            <a:off x="442067" y="119195"/>
            <a:ext cx="8229600" cy="868680"/>
          </a:xfrm>
        </p:spPr>
        <p:txBody>
          <a:bodyPr/>
          <a:lstStyle/>
          <a:p>
            <a:r>
              <a:rPr lang="en-US" dirty="0"/>
              <a:t>D</a:t>
            </a:r>
            <a:r>
              <a:rPr lang="en-US" dirty="0" smtClean="0"/>
              <a:t>ata </a:t>
            </a:r>
            <a:r>
              <a:rPr lang="en-US" dirty="0" smtClean="0"/>
              <a:t>layout conversion </a:t>
            </a:r>
            <a:r>
              <a:rPr lang="en-US" dirty="0" smtClean="0"/>
              <a:t>optimization - Example</a:t>
            </a:r>
            <a:endParaRPr lang="en-US" dirty="0"/>
          </a:p>
        </p:txBody>
      </p:sp>
      <p:pic>
        <p:nvPicPr>
          <p:cNvPr id="5" name="Content Placeholder 4"/>
          <p:cNvPicPr>
            <a:picLocks noGrp="1" noChangeAspect="1"/>
          </p:cNvPicPr>
          <p:nvPr>
            <p:ph sz="quarter" idx="13"/>
          </p:nvPr>
        </p:nvPicPr>
        <p:blipFill>
          <a:blip r:embed="rId2"/>
          <a:stretch>
            <a:fillRect/>
          </a:stretch>
        </p:blipFill>
        <p:spPr>
          <a:xfrm>
            <a:off x="2312311" y="621849"/>
            <a:ext cx="3892062" cy="4113729"/>
          </a:xfrm>
          <a:prstGeom prst="rect">
            <a:avLst/>
          </a:prstGeom>
        </p:spPr>
      </p:pic>
    </p:spTree>
    <p:extLst>
      <p:ext uri="{BB962C8B-B14F-4D97-AF65-F5344CB8AC3E}">
        <p14:creationId xmlns:p14="http://schemas.microsoft.com/office/powerpoint/2010/main" val="14057428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E2556C5-CE8C-6547-B838-EA80C61A4AF7}" type="slidenum">
              <a:rPr lang="en-US" smtClean="0"/>
              <a:pPr/>
              <a:t>13</a:t>
            </a:fld>
            <a:endParaRPr lang="en-US" dirty="0"/>
          </a:p>
        </p:txBody>
      </p:sp>
      <p:sp>
        <p:nvSpPr>
          <p:cNvPr id="3" name="Title 2"/>
          <p:cNvSpPr>
            <a:spLocks noGrp="1"/>
          </p:cNvSpPr>
          <p:nvPr>
            <p:ph type="title"/>
          </p:nvPr>
        </p:nvSpPr>
        <p:spPr>
          <a:xfrm>
            <a:off x="230293" y="308848"/>
            <a:ext cx="8724054" cy="652965"/>
          </a:xfrm>
        </p:spPr>
        <p:txBody>
          <a:bodyPr/>
          <a:lstStyle/>
          <a:p>
            <a:r>
              <a:rPr lang="en-US" dirty="0"/>
              <a:t>D</a:t>
            </a:r>
            <a:r>
              <a:rPr lang="en-US" dirty="0" smtClean="0"/>
              <a:t>ata </a:t>
            </a:r>
            <a:r>
              <a:rPr lang="en-US" dirty="0" smtClean="0"/>
              <a:t>layout conversion </a:t>
            </a:r>
            <a:r>
              <a:rPr lang="en-US" dirty="0"/>
              <a:t>optimization </a:t>
            </a:r>
            <a:r>
              <a:rPr lang="en-US" dirty="0" smtClean="0"/>
              <a:t>implementation </a:t>
            </a:r>
            <a:endParaRPr lang="en-US" dirty="0"/>
          </a:p>
        </p:txBody>
      </p:sp>
      <p:sp>
        <p:nvSpPr>
          <p:cNvPr id="4" name="Content Placeholder 3"/>
          <p:cNvSpPr>
            <a:spLocks noGrp="1"/>
          </p:cNvSpPr>
          <p:nvPr>
            <p:ph sz="quarter" idx="13"/>
          </p:nvPr>
        </p:nvSpPr>
        <p:spPr>
          <a:xfrm>
            <a:off x="455613" y="1203325"/>
            <a:ext cx="4765064" cy="3425825"/>
          </a:xfrm>
        </p:spPr>
        <p:txBody>
          <a:bodyPr/>
          <a:lstStyle/>
          <a:p>
            <a:pPr marL="285750" indent="-285750">
              <a:buFont typeface="Arial" panose="020B0604020202020204" pitchFamily="34" charset="0"/>
              <a:buChar char="•"/>
            </a:pPr>
            <a:r>
              <a:rPr lang="en-US" dirty="0" smtClean="0">
                <a:solidFill>
                  <a:srgbClr val="003C71"/>
                </a:solidFill>
              </a:rPr>
              <a:t>Optimization requires </a:t>
            </a:r>
            <a:r>
              <a:rPr lang="en-US" dirty="0">
                <a:solidFill>
                  <a:srgbClr val="003C71"/>
                </a:solidFill>
              </a:rPr>
              <a:t>propagating Intel® MKL </a:t>
            </a:r>
            <a:r>
              <a:rPr lang="en-US" dirty="0" smtClean="0">
                <a:solidFill>
                  <a:srgbClr val="003C71"/>
                </a:solidFill>
              </a:rPr>
              <a:t>layout to </a:t>
            </a:r>
            <a:r>
              <a:rPr lang="en-US" dirty="0" smtClean="0">
                <a:solidFill>
                  <a:srgbClr val="003C71"/>
                </a:solidFill>
              </a:rPr>
              <a:t>the </a:t>
            </a:r>
            <a:r>
              <a:rPr lang="en-US" dirty="0" smtClean="0">
                <a:solidFill>
                  <a:srgbClr val="003C71"/>
                </a:solidFill>
              </a:rPr>
              <a:t>next layer</a:t>
            </a:r>
          </a:p>
          <a:p>
            <a:pPr marL="285750" indent="-285750">
              <a:buFont typeface="Arial" panose="020B0604020202020204" pitchFamily="34" charset="0"/>
              <a:buChar char="•"/>
            </a:pPr>
            <a:r>
              <a:rPr lang="en-US" dirty="0" smtClean="0">
                <a:solidFill>
                  <a:srgbClr val="003C71"/>
                </a:solidFill>
              </a:rPr>
              <a:t>TensorFlow* </a:t>
            </a:r>
            <a:r>
              <a:rPr lang="en-US" dirty="0" smtClean="0">
                <a:solidFill>
                  <a:srgbClr val="003C71"/>
                </a:solidFill>
              </a:rPr>
              <a:t>already propagates output tensor to next layer.</a:t>
            </a:r>
          </a:p>
          <a:p>
            <a:pPr marL="285750" indent="-285750">
              <a:buFont typeface="Arial" panose="020B0604020202020204" pitchFamily="34" charset="0"/>
              <a:buChar char="•"/>
            </a:pPr>
            <a:r>
              <a:rPr lang="en-US" dirty="0" smtClean="0">
                <a:solidFill>
                  <a:srgbClr val="003C71"/>
                </a:solidFill>
              </a:rPr>
              <a:t>Earlier implementation used extra field in Tensor class to piggyback on output </a:t>
            </a:r>
            <a:r>
              <a:rPr lang="en-US" dirty="0" smtClean="0">
                <a:solidFill>
                  <a:srgbClr val="003C71"/>
                </a:solidFill>
              </a:rPr>
              <a:t>tensor.  </a:t>
            </a:r>
            <a:endParaRPr lang="en-US" dirty="0" smtClean="0">
              <a:solidFill>
                <a:srgbClr val="003C71"/>
              </a:solidFill>
            </a:endParaRPr>
          </a:p>
        </p:txBody>
      </p:sp>
      <p:pic>
        <p:nvPicPr>
          <p:cNvPr id="5" name="Picture 4"/>
          <p:cNvPicPr>
            <a:picLocks noChangeAspect="1"/>
          </p:cNvPicPr>
          <p:nvPr/>
        </p:nvPicPr>
        <p:blipFill>
          <a:blip r:embed="rId3"/>
          <a:stretch>
            <a:fillRect/>
          </a:stretch>
        </p:blipFill>
        <p:spPr>
          <a:xfrm>
            <a:off x="5640177" y="836246"/>
            <a:ext cx="2233503" cy="3851524"/>
          </a:xfrm>
          <a:prstGeom prst="rect">
            <a:avLst/>
          </a:prstGeom>
        </p:spPr>
      </p:pic>
    </p:spTree>
    <p:extLst>
      <p:ext uri="{BB962C8B-B14F-4D97-AF65-F5344CB8AC3E}">
        <p14:creationId xmlns:p14="http://schemas.microsoft.com/office/powerpoint/2010/main" val="801809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E2556C5-CE8C-6547-B838-EA80C61A4AF7}" type="slidenum">
              <a:rPr lang="en-US" smtClean="0"/>
              <a:pPr/>
              <a:t>14</a:t>
            </a:fld>
            <a:endParaRPr lang="en-US" dirty="0"/>
          </a:p>
        </p:txBody>
      </p:sp>
      <p:sp>
        <p:nvSpPr>
          <p:cNvPr id="3" name="Title 2"/>
          <p:cNvSpPr>
            <a:spLocks noGrp="1"/>
          </p:cNvSpPr>
          <p:nvPr>
            <p:ph type="title"/>
          </p:nvPr>
        </p:nvSpPr>
        <p:spPr/>
        <p:txBody>
          <a:bodyPr/>
          <a:lstStyle/>
          <a:p>
            <a:r>
              <a:rPr lang="en-US" dirty="0" smtClean="0"/>
              <a:t>Layout conversion optimization</a:t>
            </a:r>
            <a:endParaRPr lang="en-US" dirty="0"/>
          </a:p>
        </p:txBody>
      </p:sp>
      <p:sp>
        <p:nvSpPr>
          <p:cNvPr id="4" name="Content Placeholder 3"/>
          <p:cNvSpPr>
            <a:spLocks noGrp="1"/>
          </p:cNvSpPr>
          <p:nvPr>
            <p:ph sz="quarter" idx="13"/>
          </p:nvPr>
        </p:nvSpPr>
        <p:spPr>
          <a:xfrm>
            <a:off x="455612" y="1203325"/>
            <a:ext cx="6166647" cy="3425825"/>
          </a:xfrm>
        </p:spPr>
        <p:txBody>
          <a:bodyPr>
            <a:normAutofit/>
          </a:bodyPr>
          <a:lstStyle/>
          <a:p>
            <a:pPr marL="285750" indent="-285750">
              <a:buFont typeface="Arial" panose="020B0604020202020204" pitchFamily="34" charset="0"/>
              <a:buChar char="•"/>
            </a:pPr>
            <a:r>
              <a:rPr lang="en-US" sz="1600" dirty="0" smtClean="0">
                <a:solidFill>
                  <a:srgbClr val="003C71"/>
                </a:solidFill>
              </a:rPr>
              <a:t>Based on Google’s suggestions, our current implementation emits </a:t>
            </a:r>
            <a:r>
              <a:rPr lang="en-US" sz="1600" dirty="0">
                <a:solidFill>
                  <a:srgbClr val="003C71"/>
                </a:solidFill>
              </a:rPr>
              <a:t>Intel® MKL </a:t>
            </a:r>
            <a:r>
              <a:rPr lang="en-US" sz="1600" dirty="0" smtClean="0">
                <a:solidFill>
                  <a:srgbClr val="003C71"/>
                </a:solidFill>
              </a:rPr>
              <a:t>layout as an extra output tensor.</a:t>
            </a:r>
          </a:p>
          <a:p>
            <a:pPr marL="285750" indent="-285750">
              <a:buFont typeface="Arial" panose="020B0604020202020204" pitchFamily="34" charset="0"/>
              <a:buChar char="•"/>
            </a:pPr>
            <a:r>
              <a:rPr lang="en-US" sz="1600" dirty="0" smtClean="0">
                <a:solidFill>
                  <a:srgbClr val="003C71"/>
                </a:solidFill>
              </a:rPr>
              <a:t>Every operator that is supported via </a:t>
            </a:r>
            <a:r>
              <a:rPr lang="en-US" sz="1600" dirty="0">
                <a:solidFill>
                  <a:srgbClr val="003C71"/>
                </a:solidFill>
              </a:rPr>
              <a:t>Intel® </a:t>
            </a:r>
            <a:r>
              <a:rPr lang="en-US" sz="1600" dirty="0" smtClean="0">
                <a:solidFill>
                  <a:srgbClr val="003C71"/>
                </a:solidFill>
              </a:rPr>
              <a:t>MKL </a:t>
            </a:r>
            <a:r>
              <a:rPr lang="en-US" sz="1600" dirty="0" smtClean="0">
                <a:solidFill>
                  <a:srgbClr val="003C71"/>
                </a:solidFill>
              </a:rPr>
              <a:t>API gets 2*n inputs and produces 2*m outputs, where n is original number of inputs and m is original number of outputs.</a:t>
            </a:r>
          </a:p>
          <a:p>
            <a:pPr marL="285750" indent="-285750">
              <a:buFont typeface="Arial" panose="020B0604020202020204" pitchFamily="34" charset="0"/>
              <a:buChar char="•"/>
            </a:pPr>
            <a:r>
              <a:rPr lang="en-US" sz="1600" dirty="0" smtClean="0">
                <a:solidFill>
                  <a:srgbClr val="003C71"/>
                </a:solidFill>
              </a:rPr>
              <a:t>E.g., if </a:t>
            </a:r>
            <a:r>
              <a:rPr lang="en-US" sz="1600" dirty="0" smtClean="0">
                <a:solidFill>
                  <a:srgbClr val="003C71"/>
                </a:solidFill>
                <a:latin typeface="Courier" pitchFamily="49" charset="0"/>
              </a:rPr>
              <a:t>X = Conv2D(A, B) </a:t>
            </a:r>
            <a:r>
              <a:rPr lang="en-US" sz="1600" dirty="0" smtClean="0">
                <a:solidFill>
                  <a:srgbClr val="003C71"/>
                </a:solidFill>
              </a:rPr>
              <a:t>was earlier operator, then </a:t>
            </a:r>
            <a:r>
              <a:rPr lang="en-US" sz="1600" dirty="0" smtClean="0">
                <a:solidFill>
                  <a:srgbClr val="003C71"/>
                </a:solidFill>
                <a:latin typeface="Courier" pitchFamily="49" charset="0"/>
              </a:rPr>
              <a:t>X</a:t>
            </a:r>
            <a:r>
              <a:rPr lang="en-US" sz="1600" dirty="0" smtClean="0">
                <a:solidFill>
                  <a:srgbClr val="003C71"/>
                </a:solidFill>
              </a:rPr>
              <a:t>, </a:t>
            </a:r>
            <a:r>
              <a:rPr lang="en-US" sz="1600" dirty="0" smtClean="0">
                <a:solidFill>
                  <a:srgbClr val="003C71"/>
                </a:solidFill>
                <a:latin typeface="Courier" pitchFamily="49" charset="0"/>
              </a:rPr>
              <a:t>X_mkl = _MklConv2D(A, B, </a:t>
            </a:r>
            <a:r>
              <a:rPr lang="en-US" sz="1600" dirty="0" err="1" smtClean="0">
                <a:solidFill>
                  <a:srgbClr val="003C71"/>
                </a:solidFill>
                <a:latin typeface="Courier" pitchFamily="49" charset="0"/>
              </a:rPr>
              <a:t>A_m</a:t>
            </a:r>
            <a:r>
              <a:rPr lang="en-US" sz="1600" dirty="0" smtClean="0">
                <a:solidFill>
                  <a:srgbClr val="003C71"/>
                </a:solidFill>
                <a:latin typeface="Courier" pitchFamily="49" charset="0"/>
              </a:rPr>
              <a:t>, </a:t>
            </a:r>
            <a:r>
              <a:rPr lang="en-US" sz="1600" dirty="0" err="1" smtClean="0">
                <a:solidFill>
                  <a:srgbClr val="003C71"/>
                </a:solidFill>
                <a:latin typeface="Courier" pitchFamily="49" charset="0"/>
              </a:rPr>
              <a:t>B_m</a:t>
            </a:r>
            <a:r>
              <a:rPr lang="en-US" sz="1600" dirty="0" smtClean="0">
                <a:solidFill>
                  <a:srgbClr val="003C71"/>
                </a:solidFill>
                <a:latin typeface="Courier" pitchFamily="49" charset="0"/>
              </a:rPr>
              <a:t>)</a:t>
            </a:r>
            <a:r>
              <a:rPr lang="en-US" sz="1600" dirty="0" smtClean="0">
                <a:solidFill>
                  <a:srgbClr val="003C71"/>
                </a:solidFill>
              </a:rPr>
              <a:t>is a new operator.</a:t>
            </a:r>
          </a:p>
          <a:p>
            <a:pPr marL="285750" indent="-285750">
              <a:buFont typeface="Arial" panose="020B0604020202020204" pitchFamily="34" charset="0"/>
              <a:buChar char="•"/>
            </a:pPr>
            <a:r>
              <a:rPr lang="en-US" sz="1600" dirty="0" smtClean="0">
                <a:solidFill>
                  <a:srgbClr val="003C71"/>
                </a:solidFill>
              </a:rPr>
              <a:t>MKL-ML layout is serialized into a byte stream, and transferred as tensor of uint8 type.</a:t>
            </a:r>
            <a:endParaRPr lang="en-US" sz="1600" dirty="0">
              <a:solidFill>
                <a:srgbClr val="003C71"/>
              </a:solidFill>
            </a:endParaRPr>
          </a:p>
        </p:txBody>
      </p:sp>
      <p:pic>
        <p:nvPicPr>
          <p:cNvPr id="5" name="Picture 4"/>
          <p:cNvPicPr>
            <a:picLocks noChangeAspect="1"/>
          </p:cNvPicPr>
          <p:nvPr/>
        </p:nvPicPr>
        <p:blipFill>
          <a:blip r:embed="rId2"/>
          <a:stretch>
            <a:fillRect/>
          </a:stretch>
        </p:blipFill>
        <p:spPr>
          <a:xfrm>
            <a:off x="6622259" y="401705"/>
            <a:ext cx="1964026" cy="4227445"/>
          </a:xfrm>
          <a:prstGeom prst="rect">
            <a:avLst/>
          </a:prstGeom>
        </p:spPr>
      </p:pic>
    </p:spTree>
    <p:extLst>
      <p:ext uri="{BB962C8B-B14F-4D97-AF65-F5344CB8AC3E}">
        <p14:creationId xmlns:p14="http://schemas.microsoft.com/office/powerpoint/2010/main" val="3892511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E2556C5-CE8C-6547-B838-EA80C61A4AF7}" type="slidenum">
              <a:rPr lang="en-US" smtClean="0"/>
              <a:pPr/>
              <a:t>15</a:t>
            </a:fld>
            <a:endParaRPr lang="en-US" dirty="0"/>
          </a:p>
        </p:txBody>
      </p:sp>
      <p:sp>
        <p:nvSpPr>
          <p:cNvPr id="3" name="Title 2"/>
          <p:cNvSpPr>
            <a:spLocks noGrp="1"/>
          </p:cNvSpPr>
          <p:nvPr>
            <p:ph type="title"/>
          </p:nvPr>
        </p:nvSpPr>
        <p:spPr/>
        <p:txBody>
          <a:bodyPr/>
          <a:lstStyle/>
          <a:p>
            <a:r>
              <a:rPr lang="en-US" dirty="0" smtClean="0"/>
              <a:t>Need for graph rewrite pass</a:t>
            </a:r>
            <a:endParaRPr lang="en-US" dirty="0"/>
          </a:p>
        </p:txBody>
      </p:sp>
      <p:sp>
        <p:nvSpPr>
          <p:cNvPr id="4" name="Content Placeholder 3"/>
          <p:cNvSpPr>
            <a:spLocks noGrp="1"/>
          </p:cNvSpPr>
          <p:nvPr>
            <p:ph sz="quarter" idx="13"/>
          </p:nvPr>
        </p:nvSpPr>
        <p:spPr>
          <a:xfrm>
            <a:off x="455613" y="910187"/>
            <a:ext cx="4765064" cy="3718964"/>
          </a:xfrm>
        </p:spPr>
        <p:txBody>
          <a:bodyPr>
            <a:normAutofit fontScale="92500" lnSpcReduction="20000"/>
          </a:bodyPr>
          <a:lstStyle/>
          <a:p>
            <a:pPr marL="285750" indent="-285750">
              <a:buFont typeface="Arial" panose="020B0604020202020204" pitchFamily="34" charset="0"/>
              <a:buChar char="•"/>
            </a:pPr>
            <a:r>
              <a:rPr lang="en-US" sz="1700" dirty="0" smtClean="0">
                <a:solidFill>
                  <a:srgbClr val="003C71"/>
                </a:solidFill>
              </a:rPr>
              <a:t>Tensorflow operators have fixed number of inputs and outputs.</a:t>
            </a:r>
          </a:p>
          <a:p>
            <a:pPr marL="511175" lvl="1" indent="-285750">
              <a:buFont typeface="Arial" panose="020B0604020202020204" pitchFamily="34" charset="0"/>
              <a:buChar char="•"/>
            </a:pPr>
            <a:r>
              <a:rPr lang="en-US" sz="1700" dirty="0" smtClean="0">
                <a:solidFill>
                  <a:srgbClr val="003C71"/>
                </a:solidFill>
              </a:rPr>
              <a:t>Conv2D takes 2 inputs and produces 1 output.</a:t>
            </a:r>
          </a:p>
          <a:p>
            <a:pPr marL="511175" lvl="1" indent="-285750">
              <a:buFont typeface="Arial" panose="020B0604020202020204" pitchFamily="34" charset="0"/>
              <a:buChar char="•"/>
            </a:pPr>
            <a:r>
              <a:rPr lang="en-US" sz="1700" dirty="0" smtClean="0">
                <a:solidFill>
                  <a:srgbClr val="003C71"/>
                </a:solidFill>
              </a:rPr>
              <a:t>We want </a:t>
            </a:r>
            <a:r>
              <a:rPr lang="en-US" sz="1700" dirty="0" smtClean="0">
                <a:solidFill>
                  <a:srgbClr val="003C71"/>
                </a:solidFill>
                <a:latin typeface="Courier" pitchFamily="49" charset="0"/>
              </a:rPr>
              <a:t>Conv2D</a:t>
            </a:r>
            <a:r>
              <a:rPr lang="en-US" sz="1700" dirty="0" smtClean="0">
                <a:solidFill>
                  <a:srgbClr val="003C71"/>
                </a:solidFill>
              </a:rPr>
              <a:t> to accept 4 inputs and produce 2 output.</a:t>
            </a:r>
          </a:p>
          <a:p>
            <a:pPr marL="511175" lvl="1" indent="-285750">
              <a:buFont typeface="Arial" panose="020B0604020202020204" pitchFamily="34" charset="0"/>
              <a:buChar char="•"/>
            </a:pPr>
            <a:r>
              <a:rPr lang="en-US" sz="1700" dirty="0" smtClean="0">
                <a:solidFill>
                  <a:srgbClr val="003C71"/>
                </a:solidFill>
              </a:rPr>
              <a:t>That is why we need new </a:t>
            </a:r>
            <a:r>
              <a:rPr lang="en-US" sz="1700" dirty="0" smtClean="0">
                <a:solidFill>
                  <a:srgbClr val="003C71"/>
                </a:solidFill>
                <a:latin typeface="Courier" pitchFamily="49" charset="0"/>
              </a:rPr>
              <a:t>Conv2D</a:t>
            </a:r>
            <a:r>
              <a:rPr lang="en-US" sz="1700" dirty="0" smtClean="0">
                <a:solidFill>
                  <a:srgbClr val="003C71"/>
                </a:solidFill>
              </a:rPr>
              <a:t> operator </a:t>
            </a:r>
            <a:r>
              <a:rPr lang="en-US" sz="1700" dirty="0" smtClean="0">
                <a:solidFill>
                  <a:srgbClr val="003C71"/>
                </a:solidFill>
                <a:latin typeface="Courier" pitchFamily="49" charset="0"/>
              </a:rPr>
              <a:t>(_MklConv2D</a:t>
            </a:r>
            <a:r>
              <a:rPr lang="en-US" sz="1700" dirty="0" smtClean="0">
                <a:solidFill>
                  <a:srgbClr val="003C71"/>
                </a:solidFill>
              </a:rPr>
              <a:t>).</a:t>
            </a:r>
          </a:p>
          <a:p>
            <a:pPr marL="285750" indent="-285750">
              <a:buFont typeface="Arial" panose="020B0604020202020204" pitchFamily="34" charset="0"/>
              <a:buChar char="•"/>
            </a:pPr>
            <a:r>
              <a:rPr lang="en-US" sz="1700" dirty="0" smtClean="0">
                <a:solidFill>
                  <a:srgbClr val="003C71"/>
                </a:solidFill>
              </a:rPr>
              <a:t>Question: Who will replace </a:t>
            </a:r>
            <a:r>
              <a:rPr lang="en-US" sz="1700" dirty="0" smtClean="0">
                <a:solidFill>
                  <a:srgbClr val="003C71"/>
                </a:solidFill>
                <a:latin typeface="Courier" pitchFamily="49" charset="0"/>
              </a:rPr>
              <a:t>Conv2D</a:t>
            </a:r>
            <a:r>
              <a:rPr lang="en-US" sz="1700" dirty="0" smtClean="0">
                <a:solidFill>
                  <a:srgbClr val="003C71"/>
                </a:solidFill>
              </a:rPr>
              <a:t> with _MklConv2D?</a:t>
            </a:r>
          </a:p>
          <a:p>
            <a:pPr marL="285750" indent="-285750">
              <a:buFont typeface="Arial" panose="020B0604020202020204" pitchFamily="34" charset="0"/>
              <a:buChar char="•"/>
            </a:pPr>
            <a:r>
              <a:rPr lang="en-US" sz="1700" dirty="0" smtClean="0">
                <a:solidFill>
                  <a:srgbClr val="003C71"/>
                </a:solidFill>
              </a:rPr>
              <a:t>Answer: A graph pass that will rewrite operators into MKL operators.</a:t>
            </a:r>
          </a:p>
          <a:p>
            <a:pPr marL="285750" indent="-285750">
              <a:buFont typeface="Arial" panose="020B0604020202020204" pitchFamily="34" charset="0"/>
              <a:buChar char="•"/>
            </a:pPr>
            <a:r>
              <a:rPr lang="en-US" sz="1700" dirty="0" smtClean="0">
                <a:solidFill>
                  <a:srgbClr val="003C71"/>
                </a:solidFill>
              </a:rPr>
              <a:t>File: </a:t>
            </a:r>
            <a:r>
              <a:rPr lang="en-US" sz="1700" dirty="0" smtClean="0">
                <a:solidFill>
                  <a:srgbClr val="003C71"/>
                </a:solidFill>
                <a:latin typeface="Courier" pitchFamily="49" charset="0"/>
              </a:rPr>
              <a:t>core/graph/mkl_layout_pass.cc</a:t>
            </a:r>
          </a:p>
          <a:p>
            <a:pPr marL="285750" indent="-285750">
              <a:buFont typeface="Arial" panose="020B0604020202020204" pitchFamily="34" charset="0"/>
              <a:buChar char="•"/>
            </a:pPr>
            <a:endParaRPr lang="en-US" dirty="0"/>
          </a:p>
        </p:txBody>
      </p:sp>
      <p:pic>
        <p:nvPicPr>
          <p:cNvPr id="6" name="Picture 5"/>
          <p:cNvPicPr>
            <a:picLocks noChangeAspect="1"/>
          </p:cNvPicPr>
          <p:nvPr/>
        </p:nvPicPr>
        <p:blipFill>
          <a:blip r:embed="rId3"/>
          <a:stretch>
            <a:fillRect/>
          </a:stretch>
        </p:blipFill>
        <p:spPr>
          <a:xfrm>
            <a:off x="5160293" y="743189"/>
            <a:ext cx="3619805" cy="3727680"/>
          </a:xfrm>
          <a:prstGeom prst="rect">
            <a:avLst/>
          </a:prstGeom>
        </p:spPr>
      </p:pic>
    </p:spTree>
    <p:extLst>
      <p:ext uri="{BB962C8B-B14F-4D97-AF65-F5344CB8AC3E}">
        <p14:creationId xmlns:p14="http://schemas.microsoft.com/office/powerpoint/2010/main" val="3563525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E2556C5-CE8C-6547-B838-EA80C61A4AF7}" type="slidenum">
              <a:rPr lang="en-US" smtClean="0"/>
              <a:pPr/>
              <a:t>16</a:t>
            </a:fld>
            <a:endParaRPr lang="en-US" dirty="0"/>
          </a:p>
        </p:txBody>
      </p:sp>
      <p:sp>
        <p:nvSpPr>
          <p:cNvPr id="3" name="Title 2"/>
          <p:cNvSpPr>
            <a:spLocks noGrp="1"/>
          </p:cNvSpPr>
          <p:nvPr>
            <p:ph type="title"/>
          </p:nvPr>
        </p:nvSpPr>
        <p:spPr/>
        <p:txBody>
          <a:bodyPr/>
          <a:lstStyle/>
          <a:p>
            <a:r>
              <a:rPr lang="en-US" dirty="0" smtClean="0"/>
              <a:t>What about TfToMkl and MklToTf ops?</a:t>
            </a:r>
            <a:endParaRPr lang="en-US" dirty="0"/>
          </a:p>
        </p:txBody>
      </p:sp>
      <p:sp>
        <p:nvSpPr>
          <p:cNvPr id="4" name="Content Placeholder 3"/>
          <p:cNvSpPr>
            <a:spLocks noGrp="1"/>
          </p:cNvSpPr>
          <p:nvPr>
            <p:ph sz="quarter" idx="13"/>
          </p:nvPr>
        </p:nvSpPr>
        <p:spPr>
          <a:xfrm>
            <a:off x="455613" y="1203326"/>
            <a:ext cx="5292044" cy="3044210"/>
          </a:xfrm>
        </p:spPr>
        <p:txBody>
          <a:bodyPr/>
          <a:lstStyle/>
          <a:p>
            <a:pPr marL="285750" indent="-285750">
              <a:buFont typeface="Arial" panose="020B0604020202020204" pitchFamily="34" charset="0"/>
              <a:buChar char="•"/>
            </a:pPr>
            <a:r>
              <a:rPr lang="en-US" sz="1600" dirty="0" smtClean="0">
                <a:solidFill>
                  <a:srgbClr val="003C71"/>
                </a:solidFill>
              </a:rPr>
              <a:t>There is a separate graph pass that inserts</a:t>
            </a:r>
          </a:p>
          <a:p>
            <a:pPr marL="511175" lvl="1" indent="-285750">
              <a:buFont typeface="Arial" panose="020B0604020202020204" pitchFamily="34" charset="0"/>
              <a:buChar char="•"/>
            </a:pPr>
            <a:r>
              <a:rPr lang="en-US" sz="1600" dirty="0" smtClean="0">
                <a:solidFill>
                  <a:srgbClr val="003C71"/>
                </a:solidFill>
                <a:latin typeface="Courier" pitchFamily="49" charset="0"/>
              </a:rPr>
              <a:t>TfToMkl</a:t>
            </a:r>
            <a:r>
              <a:rPr lang="en-US" sz="1600" dirty="0" smtClean="0">
                <a:solidFill>
                  <a:srgbClr val="003C71"/>
                </a:solidFill>
              </a:rPr>
              <a:t> op on edge between </a:t>
            </a:r>
            <a:r>
              <a:rPr lang="en-US" sz="1600" dirty="0" smtClean="0">
                <a:solidFill>
                  <a:srgbClr val="003C71"/>
                </a:solidFill>
                <a:latin typeface="Courier" pitchFamily="49" charset="0"/>
              </a:rPr>
              <a:t>TF op -&gt; </a:t>
            </a:r>
            <a:r>
              <a:rPr lang="en-US" sz="1600" dirty="0" err="1" smtClean="0">
                <a:solidFill>
                  <a:srgbClr val="003C71"/>
                </a:solidFill>
                <a:latin typeface="Courier" pitchFamily="49" charset="0"/>
              </a:rPr>
              <a:t>Mkl</a:t>
            </a:r>
            <a:r>
              <a:rPr lang="en-US" sz="1600" dirty="0">
                <a:solidFill>
                  <a:srgbClr val="003C71"/>
                </a:solidFill>
                <a:latin typeface="Courier" pitchFamily="49" charset="0"/>
              </a:rPr>
              <a:t> </a:t>
            </a:r>
            <a:r>
              <a:rPr lang="en-US" sz="1600" dirty="0" smtClean="0">
                <a:solidFill>
                  <a:srgbClr val="003C71"/>
                </a:solidFill>
                <a:latin typeface="Courier" pitchFamily="49" charset="0"/>
              </a:rPr>
              <a:t>op</a:t>
            </a:r>
          </a:p>
          <a:p>
            <a:pPr marL="511175" lvl="1" indent="-285750">
              <a:buFont typeface="Arial" panose="020B0604020202020204" pitchFamily="34" charset="0"/>
              <a:buChar char="•"/>
            </a:pPr>
            <a:r>
              <a:rPr lang="en-US" sz="1600" dirty="0" smtClean="0">
                <a:solidFill>
                  <a:srgbClr val="003C71"/>
                </a:solidFill>
                <a:latin typeface="Courier" pitchFamily="49" charset="0"/>
              </a:rPr>
              <a:t>MklToTf</a:t>
            </a:r>
            <a:r>
              <a:rPr lang="en-US" sz="1600" dirty="0" smtClean="0">
                <a:solidFill>
                  <a:srgbClr val="003C71"/>
                </a:solidFill>
              </a:rPr>
              <a:t> op on edge between </a:t>
            </a:r>
            <a:r>
              <a:rPr lang="en-US" sz="1600" dirty="0" err="1" smtClean="0">
                <a:solidFill>
                  <a:srgbClr val="003C71"/>
                </a:solidFill>
                <a:latin typeface="Courier" pitchFamily="49" charset="0"/>
              </a:rPr>
              <a:t>Mkl</a:t>
            </a:r>
            <a:r>
              <a:rPr lang="en-US" sz="1600" dirty="0" smtClean="0">
                <a:solidFill>
                  <a:srgbClr val="003C71"/>
                </a:solidFill>
                <a:latin typeface="Courier" pitchFamily="49" charset="0"/>
              </a:rPr>
              <a:t> op -&gt; </a:t>
            </a:r>
            <a:r>
              <a:rPr lang="en-US" sz="1600" dirty="0" err="1" smtClean="0">
                <a:solidFill>
                  <a:srgbClr val="003C71"/>
                </a:solidFill>
                <a:latin typeface="Courier" pitchFamily="49" charset="0"/>
              </a:rPr>
              <a:t>Tf</a:t>
            </a:r>
            <a:r>
              <a:rPr lang="en-US" sz="1600" dirty="0" smtClean="0">
                <a:solidFill>
                  <a:srgbClr val="003C71"/>
                </a:solidFill>
                <a:latin typeface="Courier" pitchFamily="49" charset="0"/>
              </a:rPr>
              <a:t> op</a:t>
            </a:r>
          </a:p>
          <a:p>
            <a:pPr marL="285750" indent="-285750">
              <a:buFont typeface="Arial" panose="020B0604020202020204" pitchFamily="34" charset="0"/>
              <a:buChar char="•"/>
            </a:pPr>
            <a:r>
              <a:rPr lang="en-US" sz="1600" dirty="0" smtClean="0">
                <a:solidFill>
                  <a:srgbClr val="003C71"/>
                </a:solidFill>
              </a:rPr>
              <a:t>File: </a:t>
            </a:r>
            <a:r>
              <a:rPr lang="en-US" sz="1600" dirty="0" smtClean="0">
                <a:solidFill>
                  <a:srgbClr val="003C71"/>
                </a:solidFill>
                <a:latin typeface="Courier" pitchFamily="49" charset="0"/>
              </a:rPr>
              <a:t>core/graph/mkl_tfconversion_pass.cc</a:t>
            </a:r>
            <a:endParaRPr lang="en-US" sz="1600" dirty="0">
              <a:solidFill>
                <a:srgbClr val="003C71"/>
              </a:solidFill>
              <a:latin typeface="Courier" pitchFamily="49" charset="0"/>
            </a:endParaRPr>
          </a:p>
        </p:txBody>
      </p:sp>
      <p:pic>
        <p:nvPicPr>
          <p:cNvPr id="5" name="Picture 4"/>
          <p:cNvPicPr>
            <a:picLocks noChangeAspect="1"/>
          </p:cNvPicPr>
          <p:nvPr/>
        </p:nvPicPr>
        <p:blipFill>
          <a:blip r:embed="rId2"/>
          <a:stretch>
            <a:fillRect/>
          </a:stretch>
        </p:blipFill>
        <p:spPr>
          <a:xfrm>
            <a:off x="5808263" y="861683"/>
            <a:ext cx="2911950" cy="3727496"/>
          </a:xfrm>
          <a:prstGeom prst="rect">
            <a:avLst/>
          </a:prstGeom>
        </p:spPr>
      </p:pic>
    </p:spTree>
    <p:extLst>
      <p:ext uri="{BB962C8B-B14F-4D97-AF65-F5344CB8AC3E}">
        <p14:creationId xmlns:p14="http://schemas.microsoft.com/office/powerpoint/2010/main" val="1513530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Node fusion optimization</a:t>
            </a:r>
            <a:endParaRPr lang="en-US" dirty="0"/>
          </a:p>
        </p:txBody>
      </p:sp>
      <p:sp>
        <p:nvSpPr>
          <p:cNvPr id="4" name="Slide Number Placeholder 3"/>
          <p:cNvSpPr>
            <a:spLocks noGrp="1"/>
          </p:cNvSpPr>
          <p:nvPr>
            <p:ph type="sldNum" sz="quarter" idx="12"/>
          </p:nvPr>
        </p:nvSpPr>
        <p:spPr/>
        <p:txBody>
          <a:bodyPr/>
          <a:lstStyle/>
          <a:p>
            <a:fld id="{EE2556C5-CE8C-6547-B838-EA80C61A4AF7}" type="slidenum">
              <a:rPr lang="en-US" smtClean="0"/>
              <a:pPr/>
              <a:t>17</a:t>
            </a:fld>
            <a:endParaRPr lang="en-US" dirty="0"/>
          </a:p>
        </p:txBody>
      </p:sp>
    </p:spTree>
    <p:extLst>
      <p:ext uri="{BB962C8B-B14F-4D97-AF65-F5344CB8AC3E}">
        <p14:creationId xmlns:p14="http://schemas.microsoft.com/office/powerpoint/2010/main" val="1151055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E2556C5-CE8C-6547-B838-EA80C61A4AF7}" type="slidenum">
              <a:rPr lang="en-US" smtClean="0"/>
              <a:pPr/>
              <a:t>18</a:t>
            </a:fld>
            <a:endParaRPr lang="en-US" dirty="0"/>
          </a:p>
        </p:txBody>
      </p:sp>
      <p:sp>
        <p:nvSpPr>
          <p:cNvPr id="5" name="Title 4"/>
          <p:cNvSpPr>
            <a:spLocks noGrp="1"/>
          </p:cNvSpPr>
          <p:nvPr>
            <p:ph type="title"/>
          </p:nvPr>
        </p:nvSpPr>
        <p:spPr/>
        <p:txBody>
          <a:bodyPr/>
          <a:lstStyle/>
          <a:p>
            <a:r>
              <a:rPr lang="en-US" dirty="0" smtClean="0"/>
              <a:t>Fusion optimization</a:t>
            </a:r>
            <a:endParaRPr lang="en-US" dirty="0"/>
          </a:p>
        </p:txBody>
      </p:sp>
      <p:sp>
        <p:nvSpPr>
          <p:cNvPr id="6" name="Content Placeholder 5"/>
          <p:cNvSpPr>
            <a:spLocks noGrp="1"/>
          </p:cNvSpPr>
          <p:nvPr>
            <p:ph sz="quarter" idx="13"/>
          </p:nvPr>
        </p:nvSpPr>
        <p:spPr/>
        <p:txBody>
          <a:bodyPr/>
          <a:lstStyle/>
          <a:p>
            <a:pPr marL="285750" indent="-285750">
              <a:buFont typeface="Arial" panose="020B0604020202020204" pitchFamily="34" charset="0"/>
              <a:buChar char="•"/>
            </a:pPr>
            <a:r>
              <a:rPr lang="en-US" dirty="0" smtClean="0">
                <a:solidFill>
                  <a:srgbClr val="003C71"/>
                </a:solidFill>
              </a:rPr>
              <a:t>Identify common pattern of operators that arise in most deep learning models</a:t>
            </a:r>
          </a:p>
          <a:p>
            <a:pPr marL="285750" indent="-285750">
              <a:buFont typeface="Arial" panose="020B0604020202020204" pitchFamily="34" charset="0"/>
              <a:buChar char="•"/>
            </a:pPr>
            <a:r>
              <a:rPr lang="en-US" dirty="0" smtClean="0">
                <a:solidFill>
                  <a:srgbClr val="003C71"/>
                </a:solidFill>
              </a:rPr>
              <a:t>Merge matching subgraph for the pattern to produce smaller graph nodes</a:t>
            </a:r>
          </a:p>
          <a:p>
            <a:pPr marL="285750" indent="-285750">
              <a:buFont typeface="Arial" panose="020B0604020202020204" pitchFamily="34" charset="0"/>
              <a:buChar char="•"/>
            </a:pPr>
            <a:r>
              <a:rPr lang="en-US" dirty="0" smtClean="0">
                <a:solidFill>
                  <a:srgbClr val="003C71"/>
                </a:solidFill>
              </a:rPr>
              <a:t>Currently, we merge </a:t>
            </a:r>
            <a:r>
              <a:rPr lang="en-US" dirty="0" smtClean="0">
                <a:solidFill>
                  <a:srgbClr val="003C71"/>
                </a:solidFill>
                <a:latin typeface="Courier" pitchFamily="49" charset="0"/>
              </a:rPr>
              <a:t>Conv2D+Bias</a:t>
            </a:r>
            <a:r>
              <a:rPr lang="en-US" dirty="0" smtClean="0">
                <a:solidFill>
                  <a:srgbClr val="003C71"/>
                </a:solidFill>
              </a:rPr>
              <a:t> to new node </a:t>
            </a:r>
            <a:r>
              <a:rPr lang="en-US" dirty="0" smtClean="0">
                <a:solidFill>
                  <a:srgbClr val="003C71"/>
                </a:solidFill>
                <a:latin typeface="Courier" pitchFamily="49" charset="0"/>
              </a:rPr>
              <a:t>_MklConv2DWithBias</a:t>
            </a:r>
            <a:r>
              <a:rPr lang="en-US" dirty="0" smtClean="0">
                <a:solidFill>
                  <a:srgbClr val="003C71"/>
                </a:solidFill>
              </a:rPr>
              <a:t>.</a:t>
            </a:r>
          </a:p>
          <a:p>
            <a:pPr marL="285750" indent="-285750">
              <a:buFont typeface="Arial" panose="020B0604020202020204" pitchFamily="34" charset="0"/>
              <a:buChar char="•"/>
            </a:pPr>
            <a:r>
              <a:rPr lang="en-US" dirty="0" smtClean="0">
                <a:solidFill>
                  <a:srgbClr val="003C71"/>
                </a:solidFill>
              </a:rPr>
              <a:t>Implementation</a:t>
            </a:r>
          </a:p>
          <a:p>
            <a:pPr marL="511175" lvl="1" indent="-285750">
              <a:buFont typeface="Arial" panose="020B0604020202020204" pitchFamily="34" charset="0"/>
              <a:buChar char="•"/>
            </a:pPr>
            <a:r>
              <a:rPr lang="en-US" dirty="0" smtClean="0">
                <a:solidFill>
                  <a:srgbClr val="003C71"/>
                </a:solidFill>
              </a:rPr>
              <a:t>Perform </a:t>
            </a:r>
            <a:r>
              <a:rPr lang="en-US" dirty="0" smtClean="0">
                <a:solidFill>
                  <a:srgbClr val="003C71"/>
                </a:solidFill>
              </a:rPr>
              <a:t>in the same graph rewrite pass that rewrites nodes for data layout conversion optimization</a:t>
            </a:r>
            <a:endParaRPr lang="en-US" dirty="0">
              <a:solidFill>
                <a:srgbClr val="003C71"/>
              </a:solidFill>
            </a:endParaRPr>
          </a:p>
        </p:txBody>
      </p:sp>
    </p:spTree>
    <p:extLst>
      <p:ext uri="{BB962C8B-B14F-4D97-AF65-F5344CB8AC3E}">
        <p14:creationId xmlns:p14="http://schemas.microsoft.com/office/powerpoint/2010/main" val="32386500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Rectangle 77"/>
          <p:cNvSpPr/>
          <p:nvPr/>
        </p:nvSpPr>
        <p:spPr>
          <a:xfrm>
            <a:off x="428800" y="3654577"/>
            <a:ext cx="2517292" cy="547475"/>
          </a:xfrm>
          <a:prstGeom prst="rect">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Title 3"/>
          <p:cNvSpPr>
            <a:spLocks noGrp="1"/>
          </p:cNvSpPr>
          <p:nvPr>
            <p:ph type="title"/>
          </p:nvPr>
        </p:nvSpPr>
        <p:spPr/>
        <p:txBody>
          <a:bodyPr/>
          <a:lstStyle/>
          <a:p>
            <a:r>
              <a:rPr lang="en-US" dirty="0" smtClean="0"/>
              <a:t>Conv2D and </a:t>
            </a:r>
            <a:r>
              <a:rPr lang="en-US" dirty="0" err="1" smtClean="0"/>
              <a:t>BiasAdd</a:t>
            </a:r>
            <a:r>
              <a:rPr lang="en-US" dirty="0" smtClean="0"/>
              <a:t>: Merge process</a:t>
            </a:r>
            <a:endParaRPr lang="en-US" dirty="0"/>
          </a:p>
        </p:txBody>
      </p:sp>
      <p:sp>
        <p:nvSpPr>
          <p:cNvPr id="6" name="Rounded Rectangle 5"/>
          <p:cNvSpPr/>
          <p:nvPr/>
        </p:nvSpPr>
        <p:spPr>
          <a:xfrm>
            <a:off x="1957551" y="1516158"/>
            <a:ext cx="722201" cy="308682"/>
          </a:xfrm>
          <a:prstGeom prst="roundRect">
            <a:avLst/>
          </a:prstGeom>
          <a:solidFill>
            <a:srgbClr val="7030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50" dirty="0" smtClean="0"/>
              <a:t>Conv2D</a:t>
            </a:r>
            <a:endParaRPr lang="en-US" sz="1050" dirty="0"/>
          </a:p>
        </p:txBody>
      </p:sp>
      <p:sp>
        <p:nvSpPr>
          <p:cNvPr id="8" name="Oval 7"/>
          <p:cNvSpPr/>
          <p:nvPr/>
        </p:nvSpPr>
        <p:spPr>
          <a:xfrm>
            <a:off x="1643046" y="910440"/>
            <a:ext cx="640662" cy="343628"/>
          </a:xfrm>
          <a:prstGeom prst="ellipse">
            <a:avLst/>
          </a:prstGeom>
          <a:solidFill>
            <a:schemeClr val="accent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smtClean="0">
                <a:solidFill>
                  <a:schemeClr val="tx1"/>
                </a:solidFill>
              </a:rPr>
              <a:t>input</a:t>
            </a:r>
            <a:endParaRPr lang="en-US" sz="900" dirty="0">
              <a:solidFill>
                <a:schemeClr val="tx1"/>
              </a:solidFill>
            </a:endParaRPr>
          </a:p>
        </p:txBody>
      </p:sp>
      <p:sp>
        <p:nvSpPr>
          <p:cNvPr id="10" name="Rounded Rectangle 9"/>
          <p:cNvSpPr/>
          <p:nvPr/>
        </p:nvSpPr>
        <p:spPr>
          <a:xfrm>
            <a:off x="1957550" y="2064569"/>
            <a:ext cx="722201" cy="308682"/>
          </a:xfrm>
          <a:prstGeom prst="roundRect">
            <a:avLst/>
          </a:prstGeom>
          <a:solidFill>
            <a:srgbClr val="7030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50" dirty="0" err="1" smtClean="0"/>
              <a:t>BiasAdd</a:t>
            </a:r>
            <a:endParaRPr lang="en-US" sz="1050" dirty="0"/>
          </a:p>
        </p:txBody>
      </p:sp>
      <p:sp>
        <p:nvSpPr>
          <p:cNvPr id="12" name="Oval 11"/>
          <p:cNvSpPr/>
          <p:nvPr/>
        </p:nvSpPr>
        <p:spPr>
          <a:xfrm>
            <a:off x="2436108" y="932801"/>
            <a:ext cx="640662" cy="343628"/>
          </a:xfrm>
          <a:prstGeom prst="ellipse">
            <a:avLst/>
          </a:prstGeom>
          <a:solidFill>
            <a:schemeClr val="accent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smtClean="0">
                <a:solidFill>
                  <a:schemeClr val="tx1"/>
                </a:solidFill>
              </a:rPr>
              <a:t>Filter</a:t>
            </a:r>
            <a:endParaRPr lang="en-US" sz="900" dirty="0">
              <a:solidFill>
                <a:schemeClr val="tx1"/>
              </a:solidFill>
            </a:endParaRPr>
          </a:p>
        </p:txBody>
      </p:sp>
      <p:sp>
        <p:nvSpPr>
          <p:cNvPr id="13" name="Oval 12"/>
          <p:cNvSpPr/>
          <p:nvPr/>
        </p:nvSpPr>
        <p:spPr>
          <a:xfrm>
            <a:off x="2972905" y="1497749"/>
            <a:ext cx="640662" cy="343628"/>
          </a:xfrm>
          <a:prstGeom prst="ellipse">
            <a:avLst/>
          </a:prstGeom>
          <a:solidFill>
            <a:schemeClr val="accent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smtClean="0">
                <a:solidFill>
                  <a:schemeClr val="tx1"/>
                </a:solidFill>
              </a:rPr>
              <a:t>Bias</a:t>
            </a:r>
            <a:endParaRPr lang="en-US" sz="900" dirty="0">
              <a:solidFill>
                <a:schemeClr val="tx1"/>
              </a:solidFill>
            </a:endParaRPr>
          </a:p>
        </p:txBody>
      </p:sp>
      <p:cxnSp>
        <p:nvCxnSpPr>
          <p:cNvPr id="15" name="Straight Arrow Connector 14"/>
          <p:cNvCxnSpPr>
            <a:endCxn id="6" idx="0"/>
          </p:cNvCxnSpPr>
          <p:nvPr/>
        </p:nvCxnSpPr>
        <p:spPr>
          <a:xfrm>
            <a:off x="1957551" y="1254068"/>
            <a:ext cx="361101" cy="262090"/>
          </a:xfrm>
          <a:prstGeom prst="straightConnector1">
            <a:avLst/>
          </a:prstGeom>
          <a:ln w="9525">
            <a:solidFill>
              <a:schemeClr val="tx1"/>
            </a:solidFill>
            <a:tailEnd type="triangle" w="sm" len="med"/>
          </a:ln>
          <a:effectLst/>
        </p:spPr>
        <p:style>
          <a:lnRef idx="2">
            <a:schemeClr val="accent1"/>
          </a:lnRef>
          <a:fillRef idx="0">
            <a:schemeClr val="accent1"/>
          </a:fillRef>
          <a:effectRef idx="1">
            <a:schemeClr val="accent1"/>
          </a:effectRef>
          <a:fontRef idx="minor">
            <a:schemeClr val="tx1"/>
          </a:fontRef>
        </p:style>
      </p:cxnSp>
      <p:cxnSp>
        <p:nvCxnSpPr>
          <p:cNvPr id="16" name="Straight Arrow Connector 15"/>
          <p:cNvCxnSpPr>
            <a:stCxn id="12" idx="4"/>
            <a:endCxn id="6" idx="0"/>
          </p:cNvCxnSpPr>
          <p:nvPr/>
        </p:nvCxnSpPr>
        <p:spPr>
          <a:xfrm flipH="1">
            <a:off x="2318652" y="1276429"/>
            <a:ext cx="437787" cy="239729"/>
          </a:xfrm>
          <a:prstGeom prst="straightConnector1">
            <a:avLst/>
          </a:prstGeom>
          <a:ln w="9525">
            <a:solidFill>
              <a:schemeClr val="tx1"/>
            </a:solidFill>
            <a:tailEnd type="triangle" w="sm" len="med"/>
          </a:ln>
          <a:effectLst/>
        </p:spPr>
        <p:style>
          <a:lnRef idx="2">
            <a:schemeClr val="accent1"/>
          </a:lnRef>
          <a:fillRef idx="0">
            <a:schemeClr val="accent1"/>
          </a:fillRef>
          <a:effectRef idx="1">
            <a:schemeClr val="accent1"/>
          </a:effectRef>
          <a:fontRef idx="minor">
            <a:schemeClr val="tx1"/>
          </a:fontRef>
        </p:style>
      </p:cxnSp>
      <p:cxnSp>
        <p:nvCxnSpPr>
          <p:cNvPr id="19" name="Straight Arrow Connector 18"/>
          <p:cNvCxnSpPr>
            <a:stCxn id="13" idx="3"/>
            <a:endCxn id="10" idx="0"/>
          </p:cNvCxnSpPr>
          <p:nvPr/>
        </p:nvCxnSpPr>
        <p:spPr>
          <a:xfrm flipH="1">
            <a:off x="2318651" y="1791054"/>
            <a:ext cx="748077" cy="273515"/>
          </a:xfrm>
          <a:prstGeom prst="straightConnector1">
            <a:avLst/>
          </a:prstGeom>
          <a:ln w="9525">
            <a:solidFill>
              <a:schemeClr val="tx1"/>
            </a:solidFill>
            <a:tailEnd type="triangle" w="sm" len="med"/>
          </a:ln>
          <a:effectLst/>
        </p:spPr>
        <p:style>
          <a:lnRef idx="2">
            <a:schemeClr val="accent1"/>
          </a:lnRef>
          <a:fillRef idx="0">
            <a:schemeClr val="accent1"/>
          </a:fillRef>
          <a:effectRef idx="1">
            <a:schemeClr val="accent1"/>
          </a:effectRef>
          <a:fontRef idx="minor">
            <a:schemeClr val="tx1"/>
          </a:fontRef>
        </p:style>
      </p:cxnSp>
      <p:cxnSp>
        <p:nvCxnSpPr>
          <p:cNvPr id="24" name="Straight Arrow Connector 23"/>
          <p:cNvCxnSpPr>
            <a:stCxn id="6" idx="2"/>
            <a:endCxn id="10" idx="0"/>
          </p:cNvCxnSpPr>
          <p:nvPr/>
        </p:nvCxnSpPr>
        <p:spPr>
          <a:xfrm flipH="1">
            <a:off x="2318651" y="1824840"/>
            <a:ext cx="1" cy="239729"/>
          </a:xfrm>
          <a:prstGeom prst="straightConnector1">
            <a:avLst/>
          </a:prstGeom>
          <a:ln w="9525">
            <a:solidFill>
              <a:schemeClr val="tx1"/>
            </a:solidFill>
            <a:tailEnd type="triangle" w="sm" len="med"/>
          </a:ln>
          <a:effectLst/>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5761595" y="1511492"/>
            <a:ext cx="1233274" cy="307523"/>
          </a:xfrm>
          <a:prstGeom prst="roundRect">
            <a:avLst/>
          </a:prstGeom>
          <a:solidFill>
            <a:schemeClr val="accent5">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50" dirty="0" smtClean="0"/>
              <a:t>Conv2DWithBias</a:t>
            </a:r>
            <a:endParaRPr lang="en-US" sz="1050" dirty="0"/>
          </a:p>
        </p:txBody>
      </p:sp>
      <p:sp>
        <p:nvSpPr>
          <p:cNvPr id="37" name="Oval 36"/>
          <p:cNvSpPr/>
          <p:nvPr/>
        </p:nvSpPr>
        <p:spPr>
          <a:xfrm>
            <a:off x="5248580" y="910440"/>
            <a:ext cx="640662" cy="343628"/>
          </a:xfrm>
          <a:prstGeom prst="ellipse">
            <a:avLst/>
          </a:prstGeom>
          <a:solidFill>
            <a:schemeClr val="accent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smtClean="0">
                <a:solidFill>
                  <a:schemeClr val="tx1"/>
                </a:solidFill>
              </a:rPr>
              <a:t>input</a:t>
            </a:r>
            <a:endParaRPr lang="en-US" sz="900" dirty="0">
              <a:solidFill>
                <a:schemeClr val="tx1"/>
              </a:solidFill>
            </a:endParaRPr>
          </a:p>
        </p:txBody>
      </p:sp>
      <p:sp>
        <p:nvSpPr>
          <p:cNvPr id="39" name="Oval 38"/>
          <p:cNvSpPr/>
          <p:nvPr/>
        </p:nvSpPr>
        <p:spPr>
          <a:xfrm>
            <a:off x="6057901" y="932801"/>
            <a:ext cx="640662" cy="343628"/>
          </a:xfrm>
          <a:prstGeom prst="ellipse">
            <a:avLst/>
          </a:prstGeom>
          <a:solidFill>
            <a:schemeClr val="accent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smtClean="0">
                <a:solidFill>
                  <a:schemeClr val="tx1"/>
                </a:solidFill>
              </a:rPr>
              <a:t>Filter</a:t>
            </a:r>
            <a:endParaRPr lang="en-US" sz="900" dirty="0">
              <a:solidFill>
                <a:schemeClr val="tx1"/>
              </a:solidFill>
            </a:endParaRPr>
          </a:p>
        </p:txBody>
      </p:sp>
      <p:sp>
        <p:nvSpPr>
          <p:cNvPr id="40" name="Oval 39"/>
          <p:cNvSpPr/>
          <p:nvPr/>
        </p:nvSpPr>
        <p:spPr>
          <a:xfrm>
            <a:off x="6834704" y="932801"/>
            <a:ext cx="640662" cy="343628"/>
          </a:xfrm>
          <a:prstGeom prst="ellipse">
            <a:avLst/>
          </a:prstGeom>
          <a:solidFill>
            <a:schemeClr val="accent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smtClean="0">
                <a:solidFill>
                  <a:schemeClr val="tx1"/>
                </a:solidFill>
              </a:rPr>
              <a:t>Bias</a:t>
            </a:r>
            <a:endParaRPr lang="en-US" sz="900" dirty="0">
              <a:solidFill>
                <a:schemeClr val="tx1"/>
              </a:solidFill>
            </a:endParaRPr>
          </a:p>
        </p:txBody>
      </p:sp>
      <p:cxnSp>
        <p:nvCxnSpPr>
          <p:cNvPr id="41" name="Straight Arrow Connector 40"/>
          <p:cNvCxnSpPr>
            <a:stCxn id="37" idx="4"/>
            <a:endCxn id="36" idx="0"/>
          </p:cNvCxnSpPr>
          <p:nvPr/>
        </p:nvCxnSpPr>
        <p:spPr>
          <a:xfrm>
            <a:off x="5568911" y="1254068"/>
            <a:ext cx="809321" cy="257424"/>
          </a:xfrm>
          <a:prstGeom prst="straightConnector1">
            <a:avLst/>
          </a:prstGeom>
          <a:ln w="9525">
            <a:solidFill>
              <a:schemeClr val="tx1"/>
            </a:solidFill>
            <a:tailEnd type="triangle" w="sm" len="med"/>
          </a:ln>
          <a:effectLst/>
        </p:spPr>
        <p:style>
          <a:lnRef idx="2">
            <a:schemeClr val="accent1"/>
          </a:lnRef>
          <a:fillRef idx="0">
            <a:schemeClr val="accent1"/>
          </a:fillRef>
          <a:effectRef idx="1">
            <a:schemeClr val="accent1"/>
          </a:effectRef>
          <a:fontRef idx="minor">
            <a:schemeClr val="tx1"/>
          </a:fontRef>
        </p:style>
      </p:cxnSp>
      <p:cxnSp>
        <p:nvCxnSpPr>
          <p:cNvPr id="42" name="Straight Arrow Connector 41"/>
          <p:cNvCxnSpPr>
            <a:stCxn id="39" idx="4"/>
            <a:endCxn id="36" idx="0"/>
          </p:cNvCxnSpPr>
          <p:nvPr/>
        </p:nvCxnSpPr>
        <p:spPr>
          <a:xfrm>
            <a:off x="6378232" y="1276429"/>
            <a:ext cx="0" cy="235063"/>
          </a:xfrm>
          <a:prstGeom prst="straightConnector1">
            <a:avLst/>
          </a:prstGeom>
          <a:ln w="9525">
            <a:solidFill>
              <a:schemeClr val="tx1"/>
            </a:solidFill>
            <a:tailEnd type="triangle" w="sm" len="med"/>
          </a:ln>
          <a:effectLst/>
        </p:spPr>
        <p:style>
          <a:lnRef idx="2">
            <a:schemeClr val="accent1"/>
          </a:lnRef>
          <a:fillRef idx="0">
            <a:schemeClr val="accent1"/>
          </a:fillRef>
          <a:effectRef idx="1">
            <a:schemeClr val="accent1"/>
          </a:effectRef>
          <a:fontRef idx="minor">
            <a:schemeClr val="tx1"/>
          </a:fontRef>
        </p:style>
      </p:cxnSp>
      <p:cxnSp>
        <p:nvCxnSpPr>
          <p:cNvPr id="54" name="Straight Arrow Connector 53"/>
          <p:cNvCxnSpPr>
            <a:stCxn id="40" idx="4"/>
            <a:endCxn id="36" idx="0"/>
          </p:cNvCxnSpPr>
          <p:nvPr/>
        </p:nvCxnSpPr>
        <p:spPr>
          <a:xfrm flipH="1">
            <a:off x="6378232" y="1276429"/>
            <a:ext cx="776803" cy="235063"/>
          </a:xfrm>
          <a:prstGeom prst="straightConnector1">
            <a:avLst/>
          </a:prstGeom>
          <a:ln w="9525">
            <a:solidFill>
              <a:schemeClr val="tx1"/>
            </a:solidFill>
            <a:tailEnd type="triangle" w="sm" len="med"/>
          </a:ln>
          <a:effectLst/>
        </p:spPr>
        <p:style>
          <a:lnRef idx="2">
            <a:schemeClr val="accent1"/>
          </a:lnRef>
          <a:fillRef idx="0">
            <a:schemeClr val="accent1"/>
          </a:fillRef>
          <a:effectRef idx="1">
            <a:schemeClr val="accent1"/>
          </a:effectRef>
          <a:fontRef idx="minor">
            <a:schemeClr val="tx1"/>
          </a:fontRef>
        </p:style>
      </p:cxnSp>
      <p:cxnSp>
        <p:nvCxnSpPr>
          <p:cNvPr id="64" name="Straight Connector 63"/>
          <p:cNvCxnSpPr/>
          <p:nvPr/>
        </p:nvCxnSpPr>
        <p:spPr>
          <a:xfrm>
            <a:off x="687256" y="2632540"/>
            <a:ext cx="7565641" cy="0"/>
          </a:xfrm>
          <a:prstGeom prst="line">
            <a:avLst/>
          </a:prstGeom>
          <a:ln>
            <a:solidFill>
              <a:schemeClr val="tx1"/>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65" name="Straight Connector 64"/>
          <p:cNvCxnSpPr/>
          <p:nvPr/>
        </p:nvCxnSpPr>
        <p:spPr>
          <a:xfrm>
            <a:off x="4399226" y="910440"/>
            <a:ext cx="47324" cy="3597494"/>
          </a:xfrm>
          <a:prstGeom prst="line">
            <a:avLst/>
          </a:prstGeom>
          <a:ln>
            <a:solidFill>
              <a:schemeClr val="tx1"/>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69" name="Straight Connector 68"/>
          <p:cNvCxnSpPr>
            <a:stCxn id="10" idx="2"/>
          </p:cNvCxnSpPr>
          <p:nvPr/>
        </p:nvCxnSpPr>
        <p:spPr>
          <a:xfrm flipH="1">
            <a:off x="2318650" y="2373251"/>
            <a:ext cx="1" cy="160278"/>
          </a:xfrm>
          <a:prstGeom prst="line">
            <a:avLst/>
          </a:prstGeom>
          <a:ln>
            <a:solidFill>
              <a:schemeClr val="tx2"/>
            </a:solidFill>
            <a:prstDash val="sysDot"/>
          </a:ln>
          <a:effectLst/>
        </p:spPr>
        <p:style>
          <a:lnRef idx="2">
            <a:schemeClr val="accent1"/>
          </a:lnRef>
          <a:fillRef idx="0">
            <a:schemeClr val="accent1"/>
          </a:fillRef>
          <a:effectRef idx="1">
            <a:schemeClr val="accent1"/>
          </a:effectRef>
          <a:fontRef idx="minor">
            <a:schemeClr val="tx1"/>
          </a:fontRef>
        </p:style>
      </p:cxnSp>
      <p:cxnSp>
        <p:nvCxnSpPr>
          <p:cNvPr id="70" name="Straight Connector 69"/>
          <p:cNvCxnSpPr/>
          <p:nvPr/>
        </p:nvCxnSpPr>
        <p:spPr>
          <a:xfrm flipH="1">
            <a:off x="6391721" y="1808413"/>
            <a:ext cx="1" cy="160278"/>
          </a:xfrm>
          <a:prstGeom prst="line">
            <a:avLst/>
          </a:prstGeom>
          <a:ln>
            <a:solidFill>
              <a:schemeClr val="tx2"/>
            </a:solidFill>
            <a:prstDash val="sysDot"/>
          </a:ln>
          <a:effectLst/>
        </p:spPr>
        <p:style>
          <a:lnRef idx="2">
            <a:schemeClr val="accent1"/>
          </a:lnRef>
          <a:fillRef idx="0">
            <a:schemeClr val="accent1"/>
          </a:fillRef>
          <a:effectRef idx="1">
            <a:schemeClr val="accent1"/>
          </a:effectRef>
          <a:fontRef idx="minor">
            <a:schemeClr val="tx1"/>
          </a:fontRef>
        </p:style>
      </p:cxnSp>
      <p:sp>
        <p:nvSpPr>
          <p:cNvPr id="71" name="Rounded Rectangle 70"/>
          <p:cNvSpPr/>
          <p:nvPr/>
        </p:nvSpPr>
        <p:spPr>
          <a:xfrm>
            <a:off x="3092472" y="3781788"/>
            <a:ext cx="1042191" cy="308682"/>
          </a:xfrm>
          <a:prstGeom prst="roundRect">
            <a:avLst/>
          </a:prstGeom>
          <a:solidFill>
            <a:srgbClr val="7030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50" dirty="0" err="1" smtClean="0"/>
              <a:t>BiasAddGrad</a:t>
            </a:r>
            <a:endParaRPr lang="en-US" sz="1050" dirty="0"/>
          </a:p>
        </p:txBody>
      </p:sp>
      <p:sp>
        <p:nvSpPr>
          <p:cNvPr id="72" name="Rounded Rectangle 71"/>
          <p:cNvSpPr/>
          <p:nvPr/>
        </p:nvSpPr>
        <p:spPr>
          <a:xfrm>
            <a:off x="551456" y="3754637"/>
            <a:ext cx="984779" cy="308682"/>
          </a:xfrm>
          <a:prstGeom prst="roundRect">
            <a:avLst/>
          </a:prstGeom>
          <a:solidFill>
            <a:srgbClr val="7030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50" dirty="0" smtClean="0"/>
              <a:t>Conv2DBackpropInput</a:t>
            </a:r>
            <a:endParaRPr lang="en-US" sz="1050" dirty="0"/>
          </a:p>
        </p:txBody>
      </p:sp>
      <p:sp>
        <p:nvSpPr>
          <p:cNvPr id="74" name="Rounded Rectangle 73"/>
          <p:cNvSpPr/>
          <p:nvPr/>
        </p:nvSpPr>
        <p:spPr>
          <a:xfrm>
            <a:off x="1799446" y="3754637"/>
            <a:ext cx="984779" cy="308682"/>
          </a:xfrm>
          <a:prstGeom prst="roundRect">
            <a:avLst/>
          </a:prstGeom>
          <a:solidFill>
            <a:srgbClr val="7030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50" dirty="0" smtClean="0"/>
              <a:t>Conv2DBackpropFilter</a:t>
            </a:r>
            <a:endParaRPr lang="en-US" sz="1050" dirty="0"/>
          </a:p>
        </p:txBody>
      </p:sp>
      <p:sp>
        <p:nvSpPr>
          <p:cNvPr id="75" name="Oval 74"/>
          <p:cNvSpPr/>
          <p:nvPr/>
        </p:nvSpPr>
        <p:spPr>
          <a:xfrm>
            <a:off x="1970056" y="3137242"/>
            <a:ext cx="640662" cy="343628"/>
          </a:xfrm>
          <a:prstGeom prst="ellipse">
            <a:avLst/>
          </a:prstGeom>
          <a:solidFill>
            <a:schemeClr val="accent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smtClean="0">
                <a:solidFill>
                  <a:schemeClr val="tx1"/>
                </a:solidFill>
              </a:rPr>
              <a:t>ReluGrad</a:t>
            </a:r>
            <a:endParaRPr lang="en-US" sz="900" dirty="0">
              <a:solidFill>
                <a:schemeClr val="tx1"/>
              </a:solidFill>
            </a:endParaRPr>
          </a:p>
        </p:txBody>
      </p:sp>
      <p:cxnSp>
        <p:nvCxnSpPr>
          <p:cNvPr id="87" name="Curved Connector 86"/>
          <p:cNvCxnSpPr>
            <a:stCxn id="10" idx="3"/>
            <a:endCxn id="71" idx="0"/>
          </p:cNvCxnSpPr>
          <p:nvPr/>
        </p:nvCxnSpPr>
        <p:spPr>
          <a:xfrm>
            <a:off x="2679751" y="2218910"/>
            <a:ext cx="933817" cy="1562878"/>
          </a:xfrm>
          <a:prstGeom prst="curvedConnector2">
            <a:avLst/>
          </a:prstGeom>
          <a:ln w="15875">
            <a:solidFill>
              <a:schemeClr val="tx1"/>
            </a:solidFill>
            <a:prstDash val="sysDot"/>
            <a:tailEnd type="triangle"/>
          </a:ln>
          <a:effectLst/>
        </p:spPr>
        <p:style>
          <a:lnRef idx="2">
            <a:schemeClr val="accent1"/>
          </a:lnRef>
          <a:fillRef idx="0">
            <a:schemeClr val="accent1"/>
          </a:fillRef>
          <a:effectRef idx="1">
            <a:schemeClr val="accent1"/>
          </a:effectRef>
          <a:fontRef idx="minor">
            <a:schemeClr val="tx1"/>
          </a:fontRef>
        </p:style>
      </p:cxnSp>
      <p:sp>
        <p:nvSpPr>
          <p:cNvPr id="90" name="Freeform 89"/>
          <p:cNvSpPr/>
          <p:nvPr/>
        </p:nvSpPr>
        <p:spPr>
          <a:xfrm>
            <a:off x="1410586" y="1651591"/>
            <a:ext cx="552893" cy="1739150"/>
          </a:xfrm>
          <a:custGeom>
            <a:avLst/>
            <a:gdLst>
              <a:gd name="connsiteX0" fmla="*/ 552893 w 552893"/>
              <a:gd name="connsiteY0" fmla="*/ 0 h 1739150"/>
              <a:gd name="connsiteX1" fmla="*/ 106326 w 552893"/>
              <a:gd name="connsiteY1" fmla="*/ 1112874 h 1739150"/>
              <a:gd name="connsiteX2" fmla="*/ 248093 w 552893"/>
              <a:gd name="connsiteY2" fmla="*/ 1736651 h 1739150"/>
              <a:gd name="connsiteX3" fmla="*/ 0 w 552893"/>
              <a:gd name="connsiteY3" fmla="*/ 1332614 h 1739150"/>
            </a:gdLst>
            <a:ahLst/>
            <a:cxnLst>
              <a:cxn ang="0">
                <a:pos x="connsiteX0" y="connsiteY0"/>
              </a:cxn>
              <a:cxn ang="0">
                <a:pos x="connsiteX1" y="connsiteY1"/>
              </a:cxn>
              <a:cxn ang="0">
                <a:pos x="connsiteX2" y="connsiteY2"/>
              </a:cxn>
              <a:cxn ang="0">
                <a:pos x="connsiteX3" y="connsiteY3"/>
              </a:cxn>
            </a:cxnLst>
            <a:rect l="l" t="t" r="r" b="b"/>
            <a:pathLst>
              <a:path w="552893" h="1739150">
                <a:moveTo>
                  <a:pt x="552893" y="0"/>
                </a:moveTo>
                <a:cubicBezTo>
                  <a:pt x="355009" y="411716"/>
                  <a:pt x="157126" y="823432"/>
                  <a:pt x="106326" y="1112874"/>
                </a:cubicBezTo>
                <a:cubicBezTo>
                  <a:pt x="55526" y="1402316"/>
                  <a:pt x="265814" y="1700028"/>
                  <a:pt x="248093" y="1736651"/>
                </a:cubicBezTo>
                <a:cubicBezTo>
                  <a:pt x="230372" y="1773274"/>
                  <a:pt x="126409" y="1396409"/>
                  <a:pt x="0" y="1332614"/>
                </a:cubicBezTo>
              </a:path>
            </a:pathLst>
          </a:cu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95" name="Curved Connector 94"/>
          <p:cNvCxnSpPr>
            <a:stCxn id="6" idx="1"/>
            <a:endCxn id="78" idx="0"/>
          </p:cNvCxnSpPr>
          <p:nvPr/>
        </p:nvCxnSpPr>
        <p:spPr>
          <a:xfrm rot="10800000" flipV="1">
            <a:off x="1687447" y="1670499"/>
            <a:ext cx="270105" cy="1984078"/>
          </a:xfrm>
          <a:prstGeom prst="curvedConnector2">
            <a:avLst/>
          </a:prstGeom>
          <a:ln w="15875">
            <a:solidFill>
              <a:schemeClr val="tx1"/>
            </a:solidFill>
            <a:prstDash val="sysDot"/>
            <a:tailEnd type="triangle"/>
          </a:ln>
          <a:effectLst/>
        </p:spPr>
        <p:style>
          <a:lnRef idx="2">
            <a:schemeClr val="accent1"/>
          </a:lnRef>
          <a:fillRef idx="0">
            <a:schemeClr val="accent1"/>
          </a:fillRef>
          <a:effectRef idx="1">
            <a:schemeClr val="accent1"/>
          </a:effectRef>
          <a:fontRef idx="minor">
            <a:schemeClr val="tx1"/>
          </a:fontRef>
        </p:style>
      </p:cxnSp>
      <p:sp>
        <p:nvSpPr>
          <p:cNvPr id="98" name="Rectangle 97"/>
          <p:cNvSpPr/>
          <p:nvPr/>
        </p:nvSpPr>
        <p:spPr>
          <a:xfrm>
            <a:off x="4813267" y="3664816"/>
            <a:ext cx="3770591" cy="544388"/>
          </a:xfrm>
          <a:prstGeom prst="rect">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9" name="Rounded Rectangle 98"/>
          <p:cNvSpPr/>
          <p:nvPr/>
        </p:nvSpPr>
        <p:spPr>
          <a:xfrm>
            <a:off x="7338370" y="3767988"/>
            <a:ext cx="1042191" cy="308682"/>
          </a:xfrm>
          <a:prstGeom prst="roundRect">
            <a:avLst/>
          </a:prstGeom>
          <a:solidFill>
            <a:schemeClr val="accent5">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50" dirty="0" smtClean="0"/>
              <a:t>Conv2DBackpropBias</a:t>
            </a:r>
            <a:endParaRPr lang="en-US" sz="1050" dirty="0"/>
          </a:p>
        </p:txBody>
      </p:sp>
      <p:sp>
        <p:nvSpPr>
          <p:cNvPr id="100" name="Rounded Rectangle 99"/>
          <p:cNvSpPr/>
          <p:nvPr/>
        </p:nvSpPr>
        <p:spPr>
          <a:xfrm>
            <a:off x="4935924" y="3764875"/>
            <a:ext cx="984779" cy="308682"/>
          </a:xfrm>
          <a:prstGeom prst="roundRect">
            <a:avLst/>
          </a:prstGeom>
          <a:solidFill>
            <a:srgbClr val="7030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50" dirty="0" smtClean="0"/>
              <a:t>Conv2DBackpropInput</a:t>
            </a:r>
            <a:endParaRPr lang="en-US" sz="1050" dirty="0"/>
          </a:p>
        </p:txBody>
      </p:sp>
      <p:sp>
        <p:nvSpPr>
          <p:cNvPr id="101" name="Rounded Rectangle 100"/>
          <p:cNvSpPr/>
          <p:nvPr/>
        </p:nvSpPr>
        <p:spPr>
          <a:xfrm>
            <a:off x="6150294" y="3764875"/>
            <a:ext cx="984779" cy="308682"/>
          </a:xfrm>
          <a:prstGeom prst="roundRect">
            <a:avLst/>
          </a:prstGeom>
          <a:solidFill>
            <a:srgbClr val="7030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50" dirty="0" smtClean="0"/>
              <a:t>Conv2DBackpropFilter</a:t>
            </a:r>
            <a:endParaRPr lang="en-US" sz="1050" dirty="0"/>
          </a:p>
        </p:txBody>
      </p:sp>
      <p:cxnSp>
        <p:nvCxnSpPr>
          <p:cNvPr id="102" name="Curved Connector 101"/>
          <p:cNvCxnSpPr>
            <a:stCxn id="36" idx="3"/>
            <a:endCxn id="98" idx="0"/>
          </p:cNvCxnSpPr>
          <p:nvPr/>
        </p:nvCxnSpPr>
        <p:spPr>
          <a:xfrm flipH="1">
            <a:off x="6698563" y="1665254"/>
            <a:ext cx="296306" cy="1999562"/>
          </a:xfrm>
          <a:prstGeom prst="curvedConnector4">
            <a:avLst>
              <a:gd name="adj1" fmla="val -77150"/>
              <a:gd name="adj2" fmla="val 96549"/>
            </a:avLst>
          </a:prstGeom>
          <a:ln w="15875">
            <a:solidFill>
              <a:schemeClr val="tx1"/>
            </a:solidFill>
            <a:prstDash val="sysDot"/>
            <a:tailEnd type="triangle"/>
          </a:ln>
          <a:effectLst/>
        </p:spPr>
        <p:style>
          <a:lnRef idx="2">
            <a:schemeClr val="accent1"/>
          </a:lnRef>
          <a:fillRef idx="0">
            <a:schemeClr val="accent1"/>
          </a:fillRef>
          <a:effectRef idx="1">
            <a:schemeClr val="accent1"/>
          </a:effectRef>
          <a:fontRef idx="minor">
            <a:schemeClr val="tx1"/>
          </a:fontRef>
        </p:style>
      </p:cxnSp>
      <p:sp>
        <p:nvSpPr>
          <p:cNvPr id="108" name="TextBox 107"/>
          <p:cNvSpPr txBox="1"/>
          <p:nvPr/>
        </p:nvSpPr>
        <p:spPr>
          <a:xfrm>
            <a:off x="1611983" y="4481902"/>
            <a:ext cx="1526241" cy="169277"/>
          </a:xfrm>
          <a:prstGeom prst="rect">
            <a:avLst/>
          </a:prstGeom>
          <a:solidFill>
            <a:srgbClr val="92D050"/>
          </a:solidFill>
        </p:spPr>
        <p:txBody>
          <a:bodyPr vert="horz" wrap="square" lIns="0" tIns="0" rIns="0" bIns="0" rtlCol="0">
            <a:spAutoFit/>
          </a:bodyPr>
          <a:lstStyle/>
          <a:p>
            <a:pPr algn="ctr"/>
            <a:r>
              <a:rPr lang="en-US" sz="1100" dirty="0" smtClean="0">
                <a:solidFill>
                  <a:srgbClr val="003C71"/>
                </a:solidFill>
              </a:rPr>
              <a:t>Before Merge</a:t>
            </a:r>
          </a:p>
        </p:txBody>
      </p:sp>
      <p:sp>
        <p:nvSpPr>
          <p:cNvPr id="109" name="TextBox 108"/>
          <p:cNvSpPr txBox="1"/>
          <p:nvPr/>
        </p:nvSpPr>
        <p:spPr>
          <a:xfrm>
            <a:off x="5872871" y="4478342"/>
            <a:ext cx="1526241" cy="169277"/>
          </a:xfrm>
          <a:prstGeom prst="rect">
            <a:avLst/>
          </a:prstGeom>
          <a:solidFill>
            <a:srgbClr val="92D050"/>
          </a:solidFill>
        </p:spPr>
        <p:txBody>
          <a:bodyPr vert="horz" wrap="square" lIns="0" tIns="0" rIns="0" bIns="0" rtlCol="0">
            <a:spAutoFit/>
          </a:bodyPr>
          <a:lstStyle/>
          <a:p>
            <a:pPr algn="ctr"/>
            <a:r>
              <a:rPr lang="en-US" sz="1100" dirty="0" smtClean="0">
                <a:solidFill>
                  <a:srgbClr val="003C71"/>
                </a:solidFill>
              </a:rPr>
              <a:t>After Merge</a:t>
            </a:r>
          </a:p>
        </p:txBody>
      </p:sp>
      <p:sp>
        <p:nvSpPr>
          <p:cNvPr id="110" name="TextBox 109"/>
          <p:cNvSpPr txBox="1"/>
          <p:nvPr/>
        </p:nvSpPr>
        <p:spPr>
          <a:xfrm>
            <a:off x="57295" y="2354993"/>
            <a:ext cx="1526241" cy="169277"/>
          </a:xfrm>
          <a:prstGeom prst="rect">
            <a:avLst/>
          </a:prstGeom>
          <a:solidFill>
            <a:srgbClr val="92D050"/>
          </a:solidFill>
        </p:spPr>
        <p:txBody>
          <a:bodyPr vert="horz" wrap="square" lIns="0" tIns="0" rIns="0" bIns="0" rtlCol="0">
            <a:spAutoFit/>
          </a:bodyPr>
          <a:lstStyle/>
          <a:p>
            <a:pPr algn="ctr"/>
            <a:r>
              <a:rPr lang="en-US" sz="1100" dirty="0" smtClean="0">
                <a:solidFill>
                  <a:srgbClr val="003C71"/>
                </a:solidFill>
              </a:rPr>
              <a:t>Forward Pass</a:t>
            </a:r>
          </a:p>
        </p:txBody>
      </p:sp>
      <p:sp>
        <p:nvSpPr>
          <p:cNvPr id="111" name="TextBox 110"/>
          <p:cNvSpPr txBox="1"/>
          <p:nvPr/>
        </p:nvSpPr>
        <p:spPr>
          <a:xfrm>
            <a:off x="57295" y="2740665"/>
            <a:ext cx="1526241" cy="169277"/>
          </a:xfrm>
          <a:prstGeom prst="rect">
            <a:avLst/>
          </a:prstGeom>
          <a:solidFill>
            <a:srgbClr val="92D050"/>
          </a:solidFill>
        </p:spPr>
        <p:txBody>
          <a:bodyPr vert="horz" wrap="square" lIns="0" tIns="0" rIns="0" bIns="0" rtlCol="0">
            <a:spAutoFit/>
          </a:bodyPr>
          <a:lstStyle/>
          <a:p>
            <a:pPr algn="ctr"/>
            <a:r>
              <a:rPr lang="en-US" sz="1100" dirty="0" smtClean="0">
                <a:solidFill>
                  <a:srgbClr val="003C71"/>
                </a:solidFill>
              </a:rPr>
              <a:t>Backward Pass</a:t>
            </a:r>
          </a:p>
        </p:txBody>
      </p:sp>
      <p:sp>
        <p:nvSpPr>
          <p:cNvPr id="112" name="TextBox 111"/>
          <p:cNvSpPr txBox="1"/>
          <p:nvPr/>
        </p:nvSpPr>
        <p:spPr>
          <a:xfrm>
            <a:off x="8111361" y="232308"/>
            <a:ext cx="824556" cy="169277"/>
          </a:xfrm>
          <a:prstGeom prst="rect">
            <a:avLst/>
          </a:prstGeom>
          <a:noFill/>
        </p:spPr>
        <p:txBody>
          <a:bodyPr vert="horz" wrap="square" lIns="0" tIns="0" rIns="0" bIns="0" rtlCol="0">
            <a:spAutoFit/>
          </a:bodyPr>
          <a:lstStyle/>
          <a:p>
            <a:r>
              <a:rPr lang="en-US" sz="1100" dirty="0" smtClean="0">
                <a:solidFill>
                  <a:srgbClr val="003C71"/>
                </a:solidFill>
              </a:rPr>
              <a:t>Gradient op</a:t>
            </a:r>
          </a:p>
        </p:txBody>
      </p:sp>
      <p:sp>
        <p:nvSpPr>
          <p:cNvPr id="114" name="Oval 113"/>
          <p:cNvSpPr/>
          <p:nvPr/>
        </p:nvSpPr>
        <p:spPr>
          <a:xfrm>
            <a:off x="6315660" y="3144640"/>
            <a:ext cx="640662" cy="343628"/>
          </a:xfrm>
          <a:prstGeom prst="ellipse">
            <a:avLst/>
          </a:prstGeom>
          <a:solidFill>
            <a:schemeClr val="accent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smtClean="0">
                <a:solidFill>
                  <a:schemeClr val="tx1"/>
                </a:solidFill>
              </a:rPr>
              <a:t>ReluGrad</a:t>
            </a:r>
            <a:endParaRPr lang="en-US" sz="900" dirty="0">
              <a:solidFill>
                <a:schemeClr val="tx1"/>
              </a:solidFill>
            </a:endParaRPr>
          </a:p>
        </p:txBody>
      </p:sp>
      <p:cxnSp>
        <p:nvCxnSpPr>
          <p:cNvPr id="115" name="Straight Arrow Connector 114"/>
          <p:cNvCxnSpPr>
            <a:stCxn id="75" idx="4"/>
            <a:endCxn id="71" idx="0"/>
          </p:cNvCxnSpPr>
          <p:nvPr/>
        </p:nvCxnSpPr>
        <p:spPr>
          <a:xfrm>
            <a:off x="2290387" y="3480870"/>
            <a:ext cx="1323181" cy="300918"/>
          </a:xfrm>
          <a:prstGeom prst="straightConnector1">
            <a:avLst/>
          </a:prstGeom>
          <a:ln w="9525">
            <a:solidFill>
              <a:schemeClr val="tx1"/>
            </a:solidFill>
            <a:tailEnd type="triangle" w="sm" len="med"/>
          </a:ln>
          <a:effectLst/>
        </p:spPr>
        <p:style>
          <a:lnRef idx="2">
            <a:schemeClr val="accent1"/>
          </a:lnRef>
          <a:fillRef idx="0">
            <a:schemeClr val="accent1"/>
          </a:fillRef>
          <a:effectRef idx="1">
            <a:schemeClr val="accent1"/>
          </a:effectRef>
          <a:fontRef idx="minor">
            <a:schemeClr val="tx1"/>
          </a:fontRef>
        </p:style>
      </p:cxnSp>
      <p:cxnSp>
        <p:nvCxnSpPr>
          <p:cNvPr id="118" name="Straight Arrow Connector 117"/>
          <p:cNvCxnSpPr>
            <a:stCxn id="114" idx="4"/>
            <a:endCxn id="99" idx="0"/>
          </p:cNvCxnSpPr>
          <p:nvPr/>
        </p:nvCxnSpPr>
        <p:spPr>
          <a:xfrm>
            <a:off x="6635991" y="3488268"/>
            <a:ext cx="1223475" cy="279720"/>
          </a:xfrm>
          <a:prstGeom prst="straightConnector1">
            <a:avLst/>
          </a:prstGeom>
          <a:ln w="9525">
            <a:solidFill>
              <a:schemeClr val="tx1"/>
            </a:solidFill>
            <a:tailEnd type="triangle" w="sm" len="med"/>
          </a:ln>
          <a:effectLst/>
        </p:spPr>
        <p:style>
          <a:lnRef idx="2">
            <a:schemeClr val="accent1"/>
          </a:lnRef>
          <a:fillRef idx="0">
            <a:schemeClr val="accent1"/>
          </a:fillRef>
          <a:effectRef idx="1">
            <a:schemeClr val="accent1"/>
          </a:effectRef>
          <a:fontRef idx="minor">
            <a:schemeClr val="tx1"/>
          </a:fontRef>
        </p:style>
      </p:cxnSp>
      <p:cxnSp>
        <p:nvCxnSpPr>
          <p:cNvPr id="137" name="Straight Arrow Connector 136"/>
          <p:cNvCxnSpPr>
            <a:stCxn id="75" idx="4"/>
            <a:endCxn id="74" idx="0"/>
          </p:cNvCxnSpPr>
          <p:nvPr/>
        </p:nvCxnSpPr>
        <p:spPr>
          <a:xfrm>
            <a:off x="2290387" y="3480870"/>
            <a:ext cx="1449" cy="273767"/>
          </a:xfrm>
          <a:prstGeom prst="straightConnector1">
            <a:avLst/>
          </a:prstGeom>
          <a:ln w="9525">
            <a:solidFill>
              <a:schemeClr val="tx1"/>
            </a:solidFill>
            <a:tailEnd type="triangle" w="sm" len="med"/>
          </a:ln>
          <a:effectLst/>
        </p:spPr>
        <p:style>
          <a:lnRef idx="2">
            <a:schemeClr val="accent1"/>
          </a:lnRef>
          <a:fillRef idx="0">
            <a:schemeClr val="accent1"/>
          </a:fillRef>
          <a:effectRef idx="1">
            <a:schemeClr val="accent1"/>
          </a:effectRef>
          <a:fontRef idx="minor">
            <a:schemeClr val="tx1"/>
          </a:fontRef>
        </p:style>
      </p:cxnSp>
      <p:cxnSp>
        <p:nvCxnSpPr>
          <p:cNvPr id="138" name="Straight Arrow Connector 137"/>
          <p:cNvCxnSpPr>
            <a:stCxn id="75" idx="4"/>
            <a:endCxn id="72" idx="0"/>
          </p:cNvCxnSpPr>
          <p:nvPr/>
        </p:nvCxnSpPr>
        <p:spPr>
          <a:xfrm flipH="1">
            <a:off x="1043846" y="3480870"/>
            <a:ext cx="1246541" cy="273767"/>
          </a:xfrm>
          <a:prstGeom prst="straightConnector1">
            <a:avLst/>
          </a:prstGeom>
          <a:ln w="9525">
            <a:solidFill>
              <a:schemeClr val="tx1"/>
            </a:solidFill>
            <a:tailEnd type="triangle" w="sm" len="med"/>
          </a:ln>
          <a:effectLst/>
        </p:spPr>
        <p:style>
          <a:lnRef idx="2">
            <a:schemeClr val="accent1"/>
          </a:lnRef>
          <a:fillRef idx="0">
            <a:schemeClr val="accent1"/>
          </a:fillRef>
          <a:effectRef idx="1">
            <a:schemeClr val="accent1"/>
          </a:effectRef>
          <a:fontRef idx="minor">
            <a:schemeClr val="tx1"/>
          </a:fontRef>
        </p:style>
      </p:cxnSp>
      <p:cxnSp>
        <p:nvCxnSpPr>
          <p:cNvPr id="143" name="Straight Arrow Connector 142"/>
          <p:cNvCxnSpPr>
            <a:stCxn id="114" idx="4"/>
            <a:endCxn id="101" idx="0"/>
          </p:cNvCxnSpPr>
          <p:nvPr/>
        </p:nvCxnSpPr>
        <p:spPr>
          <a:xfrm>
            <a:off x="6635991" y="3488268"/>
            <a:ext cx="6693" cy="276607"/>
          </a:xfrm>
          <a:prstGeom prst="straightConnector1">
            <a:avLst/>
          </a:prstGeom>
          <a:ln w="9525">
            <a:solidFill>
              <a:schemeClr val="tx1"/>
            </a:solidFill>
            <a:tailEnd type="triangle" w="sm" len="med"/>
          </a:ln>
          <a:effectLst/>
        </p:spPr>
        <p:style>
          <a:lnRef idx="2">
            <a:schemeClr val="accent1"/>
          </a:lnRef>
          <a:fillRef idx="0">
            <a:schemeClr val="accent1"/>
          </a:fillRef>
          <a:effectRef idx="1">
            <a:schemeClr val="accent1"/>
          </a:effectRef>
          <a:fontRef idx="minor">
            <a:schemeClr val="tx1"/>
          </a:fontRef>
        </p:style>
      </p:cxnSp>
      <p:cxnSp>
        <p:nvCxnSpPr>
          <p:cNvPr id="144" name="Straight Arrow Connector 143"/>
          <p:cNvCxnSpPr>
            <a:stCxn id="114" idx="4"/>
          </p:cNvCxnSpPr>
          <p:nvPr/>
        </p:nvCxnSpPr>
        <p:spPr>
          <a:xfrm flipH="1">
            <a:off x="5436292" y="3488268"/>
            <a:ext cx="1199699" cy="265321"/>
          </a:xfrm>
          <a:prstGeom prst="straightConnector1">
            <a:avLst/>
          </a:prstGeom>
          <a:ln w="9525">
            <a:solidFill>
              <a:schemeClr val="tx1"/>
            </a:solidFill>
            <a:tailEnd type="triangle" w="sm" len="med"/>
          </a:ln>
          <a:effectLst/>
        </p:spPr>
        <p:style>
          <a:lnRef idx="2">
            <a:schemeClr val="accent1"/>
          </a:lnRef>
          <a:fillRef idx="0">
            <a:schemeClr val="accent1"/>
          </a:fillRef>
          <a:effectRef idx="1">
            <a:schemeClr val="accent1"/>
          </a:effectRef>
          <a:fontRef idx="minor">
            <a:schemeClr val="tx1"/>
          </a:fontRef>
        </p:style>
      </p:cxnSp>
      <p:cxnSp>
        <p:nvCxnSpPr>
          <p:cNvPr id="150" name="Straight Arrow Connector 149"/>
          <p:cNvCxnSpPr/>
          <p:nvPr/>
        </p:nvCxnSpPr>
        <p:spPr>
          <a:xfrm flipV="1">
            <a:off x="7611035" y="308848"/>
            <a:ext cx="343316" cy="8098"/>
          </a:xfrm>
          <a:prstGeom prst="straightConnector1">
            <a:avLst/>
          </a:prstGeom>
          <a:ln w="12700">
            <a:solidFill>
              <a:schemeClr val="tx1"/>
            </a:solidFill>
            <a:prstDash val="sysDot"/>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804410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Memory allocation</a:t>
            </a:r>
            <a:endParaRPr lang="en-US" dirty="0"/>
          </a:p>
        </p:txBody>
      </p:sp>
      <p:sp>
        <p:nvSpPr>
          <p:cNvPr id="4" name="Slide Number Placeholder 3"/>
          <p:cNvSpPr>
            <a:spLocks noGrp="1"/>
          </p:cNvSpPr>
          <p:nvPr>
            <p:ph type="sldNum" sz="quarter" idx="12"/>
          </p:nvPr>
        </p:nvSpPr>
        <p:spPr/>
        <p:txBody>
          <a:bodyPr/>
          <a:lstStyle/>
          <a:p>
            <a:fld id="{EE2556C5-CE8C-6547-B838-EA80C61A4AF7}" type="slidenum">
              <a:rPr lang="en-US" smtClean="0"/>
              <a:pPr/>
              <a:t>20</a:t>
            </a:fld>
            <a:endParaRPr lang="en-US" dirty="0"/>
          </a:p>
        </p:txBody>
      </p:sp>
    </p:spTree>
    <p:extLst>
      <p:ext uri="{BB962C8B-B14F-4D97-AF65-F5344CB8AC3E}">
        <p14:creationId xmlns:p14="http://schemas.microsoft.com/office/powerpoint/2010/main" val="3013769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E2556C5-CE8C-6547-B838-EA80C61A4AF7}" type="slidenum">
              <a:rPr lang="en-US" smtClean="0"/>
              <a:pPr/>
              <a:t>21</a:t>
            </a:fld>
            <a:endParaRPr lang="en-US" dirty="0"/>
          </a:p>
        </p:txBody>
      </p:sp>
      <p:sp>
        <p:nvSpPr>
          <p:cNvPr id="5" name="Title 4"/>
          <p:cNvSpPr>
            <a:spLocks noGrp="1"/>
          </p:cNvSpPr>
          <p:nvPr>
            <p:ph type="title"/>
          </p:nvPr>
        </p:nvSpPr>
        <p:spPr/>
        <p:txBody>
          <a:bodyPr/>
          <a:lstStyle/>
          <a:p>
            <a:r>
              <a:rPr lang="en-US" dirty="0" smtClean="0"/>
              <a:t>Optimization: memory allocation  </a:t>
            </a:r>
            <a:endParaRPr lang="en-US" dirty="0">
              <a:solidFill>
                <a:srgbClr val="FF0000"/>
              </a:solidFill>
            </a:endParaRPr>
          </a:p>
        </p:txBody>
      </p:sp>
      <p:sp>
        <p:nvSpPr>
          <p:cNvPr id="6" name="Content Placeholder 5"/>
          <p:cNvSpPr>
            <a:spLocks noGrp="1"/>
          </p:cNvSpPr>
          <p:nvPr>
            <p:ph sz="quarter" idx="13"/>
          </p:nvPr>
        </p:nvSpPr>
        <p:spPr/>
        <p:txBody>
          <a:bodyPr/>
          <a:lstStyle/>
          <a:p>
            <a:pPr marL="285750" indent="-285750">
              <a:buFont typeface="Arial" panose="020B0604020202020204" pitchFamily="34" charset="0"/>
              <a:buChar char="•"/>
            </a:pPr>
            <a:r>
              <a:rPr lang="en-US" dirty="0" smtClean="0">
                <a:solidFill>
                  <a:srgbClr val="003C71"/>
                </a:solidFill>
              </a:rPr>
              <a:t>Most NN operators allocate huge chunk of memory (</a:t>
            </a:r>
            <a:r>
              <a:rPr lang="en-US" dirty="0" smtClean="0">
                <a:solidFill>
                  <a:srgbClr val="003C71"/>
                </a:solidFill>
                <a:latin typeface="Courier" pitchFamily="49" charset="0"/>
              </a:rPr>
              <a:t>Conv2D</a:t>
            </a:r>
            <a:r>
              <a:rPr lang="en-US" dirty="0" smtClean="0">
                <a:solidFill>
                  <a:srgbClr val="003C71"/>
                </a:solidFill>
              </a:rPr>
              <a:t> ~ hundred of MBs)</a:t>
            </a:r>
          </a:p>
          <a:p>
            <a:pPr marL="285750" indent="-285750">
              <a:buFont typeface="Arial" panose="020B0604020202020204" pitchFamily="34" charset="0"/>
              <a:buChar char="•"/>
            </a:pPr>
            <a:r>
              <a:rPr lang="en-US" dirty="0" smtClean="0">
                <a:solidFill>
                  <a:srgbClr val="003C71"/>
                </a:solidFill>
              </a:rPr>
              <a:t>Default CPU allocator in TensorFlow -&gt; frequent </a:t>
            </a:r>
            <a:r>
              <a:rPr lang="en-US" dirty="0" err="1" smtClean="0">
                <a:solidFill>
                  <a:srgbClr val="003C71"/>
                </a:solidFill>
              </a:rPr>
              <a:t>allocs</a:t>
            </a:r>
            <a:r>
              <a:rPr lang="en-US" dirty="0" smtClean="0">
                <a:solidFill>
                  <a:srgbClr val="003C71"/>
                </a:solidFill>
              </a:rPr>
              <a:t>/</a:t>
            </a:r>
            <a:r>
              <a:rPr lang="en-US" dirty="0" err="1" smtClean="0">
                <a:solidFill>
                  <a:srgbClr val="003C71"/>
                </a:solidFill>
              </a:rPr>
              <a:t>deallocs</a:t>
            </a:r>
            <a:r>
              <a:rPr lang="en-US" dirty="0" smtClean="0">
                <a:solidFill>
                  <a:srgbClr val="003C71"/>
                </a:solidFill>
              </a:rPr>
              <a:t> of huge chunk of memory -&gt; frequent </a:t>
            </a:r>
            <a:r>
              <a:rPr lang="en-US" dirty="0" err="1" smtClean="0">
                <a:solidFill>
                  <a:srgbClr val="003C71"/>
                </a:solidFill>
              </a:rPr>
              <a:t>mmap</a:t>
            </a:r>
            <a:r>
              <a:rPr lang="en-US" dirty="0" smtClean="0">
                <a:solidFill>
                  <a:srgbClr val="003C71"/>
                </a:solidFill>
              </a:rPr>
              <a:t>/</a:t>
            </a:r>
            <a:r>
              <a:rPr lang="en-US" dirty="0" err="1" smtClean="0">
                <a:solidFill>
                  <a:srgbClr val="003C71"/>
                </a:solidFill>
              </a:rPr>
              <a:t>unmap</a:t>
            </a:r>
            <a:r>
              <a:rPr lang="en-US" dirty="0" smtClean="0">
                <a:solidFill>
                  <a:srgbClr val="003C71"/>
                </a:solidFill>
              </a:rPr>
              <a:t> -&gt; unnecessary page clears</a:t>
            </a:r>
          </a:p>
          <a:p>
            <a:pPr marL="285750" indent="-285750">
              <a:buFont typeface="Arial" panose="020B0604020202020204" pitchFamily="34" charset="0"/>
              <a:buChar char="•"/>
            </a:pPr>
            <a:r>
              <a:rPr lang="en-US" dirty="0" smtClean="0">
                <a:solidFill>
                  <a:srgbClr val="003C71"/>
                </a:solidFill>
              </a:rPr>
              <a:t>We developed Custom Pool Allocator using existing Pool allocator.</a:t>
            </a:r>
          </a:p>
          <a:p>
            <a:pPr marL="511175" lvl="1" indent="-285750">
              <a:buFont typeface="Arial" panose="020B0604020202020204" pitchFamily="34" charset="0"/>
              <a:buChar char="•"/>
            </a:pPr>
            <a:r>
              <a:rPr lang="en-US" dirty="0" smtClean="0">
                <a:solidFill>
                  <a:srgbClr val="003C71"/>
                </a:solidFill>
              </a:rPr>
              <a:t>Allocator holds on to released memory rather than releasing to OS directly.</a:t>
            </a:r>
          </a:p>
          <a:p>
            <a:pPr marL="511175" lvl="1" indent="-285750">
              <a:buFont typeface="Arial" panose="020B0604020202020204" pitchFamily="34" charset="0"/>
              <a:buChar char="•"/>
            </a:pPr>
            <a:r>
              <a:rPr lang="en-US" dirty="0" smtClean="0">
                <a:solidFill>
                  <a:srgbClr val="003C71"/>
                </a:solidFill>
              </a:rPr>
              <a:t>Code: </a:t>
            </a:r>
            <a:r>
              <a:rPr lang="en-US" dirty="0" smtClean="0">
                <a:solidFill>
                  <a:srgbClr val="003C71"/>
                </a:solidFill>
                <a:latin typeface="Courier" pitchFamily="49" charset="0"/>
              </a:rPr>
              <a:t>tensorflow/core/</a:t>
            </a:r>
            <a:r>
              <a:rPr lang="en-US" dirty="0" err="1" smtClean="0">
                <a:solidFill>
                  <a:srgbClr val="003C71"/>
                </a:solidFill>
                <a:latin typeface="Courier" pitchFamily="49" charset="0"/>
              </a:rPr>
              <a:t>common_runtime</a:t>
            </a:r>
            <a:r>
              <a:rPr lang="en-US" dirty="0" smtClean="0">
                <a:solidFill>
                  <a:srgbClr val="003C71"/>
                </a:solidFill>
                <a:latin typeface="Courier" pitchFamily="49" charset="0"/>
              </a:rPr>
              <a:t>/</a:t>
            </a:r>
            <a:r>
              <a:rPr lang="en-US" dirty="0" err="1" smtClean="0">
                <a:solidFill>
                  <a:srgbClr val="003C71"/>
                </a:solidFill>
                <a:latin typeface="Courier" pitchFamily="49" charset="0"/>
              </a:rPr>
              <a:t>mkl_cpu_allocator.h</a:t>
            </a:r>
            <a:endParaRPr lang="en-US" dirty="0">
              <a:solidFill>
                <a:srgbClr val="003C71"/>
              </a:solidFill>
              <a:latin typeface="Courier" pitchFamily="49" charset="0"/>
            </a:endParaRPr>
          </a:p>
        </p:txBody>
      </p:sp>
    </p:spTree>
    <p:extLst>
      <p:ext uri="{BB962C8B-B14F-4D97-AF65-F5344CB8AC3E}">
        <p14:creationId xmlns:p14="http://schemas.microsoft.com/office/powerpoint/2010/main" val="36327812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Load </a:t>
            </a:r>
            <a:r>
              <a:rPr lang="en-US" dirty="0" smtClean="0"/>
              <a:t>balancing</a:t>
            </a:r>
            <a:endParaRPr lang="en-US" dirty="0"/>
          </a:p>
        </p:txBody>
      </p:sp>
      <p:sp>
        <p:nvSpPr>
          <p:cNvPr id="4" name="Slide Number Placeholder 3"/>
          <p:cNvSpPr>
            <a:spLocks noGrp="1"/>
          </p:cNvSpPr>
          <p:nvPr>
            <p:ph type="sldNum" sz="quarter" idx="12"/>
          </p:nvPr>
        </p:nvSpPr>
        <p:spPr/>
        <p:txBody>
          <a:bodyPr/>
          <a:lstStyle/>
          <a:p>
            <a:fld id="{EE2556C5-CE8C-6547-B838-EA80C61A4AF7}" type="slidenum">
              <a:rPr lang="en-US" smtClean="0"/>
              <a:pPr/>
              <a:t>22</a:t>
            </a:fld>
            <a:endParaRPr lang="en-US" dirty="0"/>
          </a:p>
        </p:txBody>
      </p:sp>
    </p:spTree>
    <p:extLst>
      <p:ext uri="{BB962C8B-B14F-4D97-AF65-F5344CB8AC3E}">
        <p14:creationId xmlns:p14="http://schemas.microsoft.com/office/powerpoint/2010/main" val="4247423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E2556C5-CE8C-6547-B838-EA80C61A4AF7}" type="slidenum">
              <a:rPr lang="en-US" smtClean="0"/>
              <a:pPr/>
              <a:t>23</a:t>
            </a:fld>
            <a:endParaRPr lang="en-US" dirty="0"/>
          </a:p>
        </p:txBody>
      </p:sp>
      <p:sp>
        <p:nvSpPr>
          <p:cNvPr id="5" name="Title 4"/>
          <p:cNvSpPr>
            <a:spLocks noGrp="1"/>
          </p:cNvSpPr>
          <p:nvPr>
            <p:ph type="title"/>
          </p:nvPr>
        </p:nvSpPr>
        <p:spPr/>
        <p:txBody>
          <a:bodyPr/>
          <a:lstStyle/>
          <a:p>
            <a:r>
              <a:rPr lang="en-US" dirty="0" smtClean="0"/>
              <a:t>Thread pool and parallelism</a:t>
            </a:r>
            <a:endParaRPr lang="en-US" dirty="0"/>
          </a:p>
        </p:txBody>
      </p:sp>
      <p:sp>
        <p:nvSpPr>
          <p:cNvPr id="6" name="Content Placeholder 5"/>
          <p:cNvSpPr>
            <a:spLocks noGrp="1"/>
          </p:cNvSpPr>
          <p:nvPr>
            <p:ph sz="quarter" idx="13"/>
          </p:nvPr>
        </p:nvSpPr>
        <p:spPr>
          <a:xfrm>
            <a:off x="426116" y="1038986"/>
            <a:ext cx="6007710" cy="3425825"/>
          </a:xfrm>
        </p:spPr>
        <p:txBody>
          <a:bodyPr>
            <a:normAutofit fontScale="92500" lnSpcReduction="20000"/>
          </a:bodyPr>
          <a:lstStyle/>
          <a:p>
            <a:pPr marL="285750" indent="-285750">
              <a:buFont typeface="Arial" panose="020B0604020202020204" pitchFamily="34" charset="0"/>
              <a:buChar char="•"/>
            </a:pPr>
            <a:r>
              <a:rPr lang="en-US" sz="1700" dirty="0" smtClean="0">
                <a:solidFill>
                  <a:srgbClr val="003C71"/>
                </a:solidFill>
              </a:rPr>
              <a:t>Operator graph in Tensorflow is a data-flow graph.</a:t>
            </a:r>
          </a:p>
          <a:p>
            <a:pPr marL="285750" indent="-285750">
              <a:buFont typeface="Arial" panose="020B0604020202020204" pitchFamily="34" charset="0"/>
              <a:buChar char="•"/>
            </a:pPr>
            <a:r>
              <a:rPr lang="en-US" sz="1700" dirty="0" smtClean="0">
                <a:solidFill>
                  <a:srgbClr val="003C71"/>
                </a:solidFill>
              </a:rPr>
              <a:t>It offers excellent opportunity for exploiting parallelism between operators.</a:t>
            </a:r>
          </a:p>
          <a:p>
            <a:pPr marL="285750" indent="-285750">
              <a:buFont typeface="Arial" panose="020B0604020202020204" pitchFamily="34" charset="0"/>
              <a:buChar char="•"/>
            </a:pPr>
            <a:r>
              <a:rPr lang="en-US" sz="1700" dirty="0" smtClean="0">
                <a:solidFill>
                  <a:srgbClr val="003C71"/>
                </a:solidFill>
              </a:rPr>
              <a:t>Tensorflow also has parallelism within operators</a:t>
            </a:r>
            <a:r>
              <a:rPr lang="en-US" sz="1700" b="1" dirty="0" smtClean="0">
                <a:solidFill>
                  <a:srgbClr val="003C71"/>
                </a:solidFill>
              </a:rPr>
              <a:t>.</a:t>
            </a:r>
          </a:p>
          <a:p>
            <a:pPr marL="285750" indent="-285750">
              <a:buFont typeface="Arial" panose="020B0604020202020204" pitchFamily="34" charset="0"/>
              <a:buChar char="•"/>
            </a:pPr>
            <a:r>
              <a:rPr lang="en-US" sz="1700" b="1" dirty="0" smtClean="0">
                <a:solidFill>
                  <a:srgbClr val="003C71"/>
                </a:solidFill>
              </a:rPr>
              <a:t>Thread pool parameters:</a:t>
            </a:r>
          </a:p>
          <a:p>
            <a:pPr marL="568325" lvl="1" indent="-342900">
              <a:buFont typeface="+mj-lt"/>
              <a:buAutoNum type="arabicPeriod"/>
            </a:pPr>
            <a:r>
              <a:rPr lang="en-US" sz="1700" b="1" dirty="0" smtClean="0">
                <a:solidFill>
                  <a:srgbClr val="003C71"/>
                </a:solidFill>
                <a:latin typeface="Courier" pitchFamily="49" charset="0"/>
              </a:rPr>
              <a:t>Inter_op_parallelism_threads</a:t>
            </a:r>
            <a:r>
              <a:rPr lang="en-US" sz="1700" b="1" dirty="0" smtClean="0">
                <a:solidFill>
                  <a:srgbClr val="003C71"/>
                </a:solidFill>
              </a:rPr>
              <a:t> = </a:t>
            </a:r>
            <a:r>
              <a:rPr lang="en-US" sz="1700" dirty="0" smtClean="0">
                <a:solidFill>
                  <a:srgbClr val="003C71"/>
                </a:solidFill>
              </a:rPr>
              <a:t>max number of operators that can be executed in parallel</a:t>
            </a:r>
          </a:p>
          <a:p>
            <a:pPr marL="568325" lvl="1" indent="-342900">
              <a:buFont typeface="+mj-lt"/>
              <a:buAutoNum type="arabicPeriod"/>
            </a:pPr>
            <a:r>
              <a:rPr lang="en-US" sz="1700" b="1" dirty="0" smtClean="0">
                <a:solidFill>
                  <a:srgbClr val="003C71"/>
                </a:solidFill>
                <a:latin typeface="Courier" pitchFamily="49" charset="0"/>
              </a:rPr>
              <a:t>Intra_op_parallelism_threads</a:t>
            </a:r>
            <a:r>
              <a:rPr lang="en-US" sz="1700" b="1" dirty="0" smtClean="0">
                <a:solidFill>
                  <a:srgbClr val="003C71"/>
                </a:solidFill>
              </a:rPr>
              <a:t> = </a:t>
            </a:r>
            <a:r>
              <a:rPr lang="en-US" sz="1700" dirty="0" smtClean="0">
                <a:solidFill>
                  <a:srgbClr val="003C71"/>
                </a:solidFill>
              </a:rPr>
              <a:t>max number of threads to use for executing an operator</a:t>
            </a:r>
          </a:p>
          <a:p>
            <a:pPr marL="568325" lvl="1" indent="-342900">
              <a:buFont typeface="+mj-lt"/>
              <a:buAutoNum type="arabicPeriod"/>
            </a:pPr>
            <a:r>
              <a:rPr lang="en-US" sz="1700" dirty="0" smtClean="0">
                <a:solidFill>
                  <a:srgbClr val="003C71"/>
                </a:solidFill>
              </a:rPr>
              <a:t>MKL operators controlled using </a:t>
            </a:r>
            <a:r>
              <a:rPr lang="en-US" sz="1700" dirty="0" smtClean="0">
                <a:solidFill>
                  <a:srgbClr val="003C71"/>
                </a:solidFill>
                <a:latin typeface="Courier" pitchFamily="49" charset="0"/>
              </a:rPr>
              <a:t>OMP_NUM_THREADS. So OMP_NUM_THREADS</a:t>
            </a:r>
            <a:r>
              <a:rPr lang="en-US" sz="1700" dirty="0" smtClean="0">
                <a:solidFill>
                  <a:srgbClr val="003C71"/>
                </a:solidFill>
              </a:rPr>
              <a:t> is conceptually same as intra_op_parallelism_threads.</a:t>
            </a:r>
          </a:p>
          <a:p>
            <a:pPr marL="285750" indent="-285750">
              <a:buFont typeface="Arial" panose="020B0604020202020204" pitchFamily="34" charset="0"/>
              <a:buChar char="•"/>
            </a:pPr>
            <a:endParaRPr lang="en-US" dirty="0"/>
          </a:p>
        </p:txBody>
      </p:sp>
      <p:pic>
        <p:nvPicPr>
          <p:cNvPr id="7" name="Picture 6"/>
          <p:cNvPicPr>
            <a:picLocks noChangeAspect="1"/>
          </p:cNvPicPr>
          <p:nvPr/>
        </p:nvPicPr>
        <p:blipFill>
          <a:blip r:embed="rId3"/>
          <a:stretch>
            <a:fillRect/>
          </a:stretch>
        </p:blipFill>
        <p:spPr>
          <a:xfrm>
            <a:off x="6463323" y="308848"/>
            <a:ext cx="1964026" cy="4227445"/>
          </a:xfrm>
          <a:prstGeom prst="rect">
            <a:avLst/>
          </a:prstGeom>
        </p:spPr>
      </p:pic>
    </p:spTree>
    <p:extLst>
      <p:ext uri="{BB962C8B-B14F-4D97-AF65-F5344CB8AC3E}">
        <p14:creationId xmlns:p14="http://schemas.microsoft.com/office/powerpoint/2010/main" val="2486334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E2556C5-CE8C-6547-B838-EA80C61A4AF7}" type="slidenum">
              <a:rPr lang="en-US" smtClean="0"/>
              <a:pPr/>
              <a:t>24</a:t>
            </a:fld>
            <a:endParaRPr lang="en-US" dirty="0"/>
          </a:p>
        </p:txBody>
      </p:sp>
      <p:sp>
        <p:nvSpPr>
          <p:cNvPr id="3" name="Title 2"/>
          <p:cNvSpPr>
            <a:spLocks noGrp="1"/>
          </p:cNvSpPr>
          <p:nvPr>
            <p:ph type="title"/>
          </p:nvPr>
        </p:nvSpPr>
        <p:spPr/>
        <p:txBody>
          <a:bodyPr/>
          <a:lstStyle/>
          <a:p>
            <a:r>
              <a:rPr lang="en-US" dirty="0" smtClean="0"/>
              <a:t>Problem with current threading </a:t>
            </a:r>
            <a:r>
              <a:rPr lang="en-US" dirty="0" smtClean="0"/>
              <a:t>model &amp; solution</a:t>
            </a:r>
            <a:endParaRPr lang="en-US" dirty="0"/>
          </a:p>
        </p:txBody>
      </p:sp>
      <p:sp>
        <p:nvSpPr>
          <p:cNvPr id="4" name="Content Placeholder 3"/>
          <p:cNvSpPr>
            <a:spLocks noGrp="1"/>
          </p:cNvSpPr>
          <p:nvPr>
            <p:ph sz="quarter" idx="13"/>
          </p:nvPr>
        </p:nvSpPr>
        <p:spPr>
          <a:xfrm>
            <a:off x="455613" y="975361"/>
            <a:ext cx="8228012" cy="3653790"/>
          </a:xfrm>
        </p:spPr>
        <p:txBody>
          <a:bodyPr/>
          <a:lstStyle/>
          <a:p>
            <a:r>
              <a:rPr lang="en-US" dirty="0" smtClean="0">
                <a:solidFill>
                  <a:srgbClr val="003C71"/>
                </a:solidFill>
              </a:rPr>
              <a:t>Problem:</a:t>
            </a:r>
          </a:p>
          <a:p>
            <a:pPr marL="511175" lvl="1" indent="-285750">
              <a:buFont typeface="Arial" panose="020B0604020202020204" pitchFamily="34" charset="0"/>
              <a:buChar char="•"/>
            </a:pPr>
            <a:r>
              <a:rPr lang="en-US" sz="1600" dirty="0" smtClean="0">
                <a:solidFill>
                  <a:srgbClr val="003C71"/>
                </a:solidFill>
              </a:rPr>
              <a:t>Number </a:t>
            </a:r>
            <a:r>
              <a:rPr lang="en-US" sz="1600" dirty="0" smtClean="0">
                <a:solidFill>
                  <a:srgbClr val="003C71"/>
                </a:solidFill>
              </a:rPr>
              <a:t>of threads to execute a model:</a:t>
            </a:r>
          </a:p>
          <a:p>
            <a:r>
              <a:rPr lang="en-US" sz="1600" dirty="0" smtClean="0">
                <a:solidFill>
                  <a:srgbClr val="003C71"/>
                </a:solidFill>
              </a:rPr>
              <a:t>     </a:t>
            </a:r>
            <a:r>
              <a:rPr lang="en-US" sz="1600" dirty="0" smtClean="0">
                <a:solidFill>
                  <a:srgbClr val="003C71"/>
                </a:solidFill>
              </a:rPr>
              <a:t>    </a:t>
            </a:r>
            <a:r>
              <a:rPr lang="en-US" sz="1600" dirty="0" smtClean="0">
                <a:solidFill>
                  <a:srgbClr val="003C71"/>
                </a:solidFill>
                <a:latin typeface="Courier" pitchFamily="49" charset="0"/>
              </a:rPr>
              <a:t>inter_op_parallelism_threads * intra_op_parallelism_threads</a:t>
            </a:r>
            <a:endParaRPr lang="en-US" sz="1600" dirty="0" smtClean="0">
              <a:solidFill>
                <a:srgbClr val="003C71"/>
              </a:solidFill>
            </a:endParaRPr>
          </a:p>
          <a:p>
            <a:pPr marL="511175" lvl="1" indent="-285750">
              <a:buFont typeface="Arial" panose="020B0604020202020204" pitchFamily="34" charset="0"/>
              <a:buChar char="•"/>
            </a:pPr>
            <a:r>
              <a:rPr lang="en-US" sz="1600" dirty="0" smtClean="0">
                <a:solidFill>
                  <a:srgbClr val="003C71"/>
                </a:solidFill>
              </a:rPr>
              <a:t>Incorrect setting of </a:t>
            </a:r>
            <a:r>
              <a:rPr lang="en-US" sz="1600" dirty="0" smtClean="0">
                <a:solidFill>
                  <a:srgbClr val="003C71"/>
                </a:solidFill>
                <a:latin typeface="Courier" pitchFamily="49" charset="0"/>
              </a:rPr>
              <a:t>inter_op_parallelism_threads </a:t>
            </a:r>
            <a:r>
              <a:rPr lang="en-US" sz="1600" dirty="0" smtClean="0">
                <a:solidFill>
                  <a:srgbClr val="003C71"/>
                </a:solidFill>
              </a:rPr>
              <a:t>and </a:t>
            </a:r>
            <a:r>
              <a:rPr lang="en-US" sz="1600" dirty="0" smtClean="0">
                <a:solidFill>
                  <a:srgbClr val="003C71"/>
                </a:solidFill>
                <a:latin typeface="Courier" pitchFamily="49" charset="0"/>
              </a:rPr>
              <a:t>intra_op_parallelism_threads</a:t>
            </a:r>
            <a:r>
              <a:rPr lang="en-US" sz="1600" dirty="0" smtClean="0">
                <a:solidFill>
                  <a:srgbClr val="003C71"/>
                </a:solidFill>
              </a:rPr>
              <a:t> can lead to </a:t>
            </a:r>
            <a:r>
              <a:rPr lang="en-US" sz="1600" b="1" dirty="0" smtClean="0">
                <a:solidFill>
                  <a:srgbClr val="003C71"/>
                </a:solidFill>
              </a:rPr>
              <a:t>over- or under-subscription</a:t>
            </a:r>
            <a:r>
              <a:rPr lang="en-US" sz="1600" dirty="0" smtClean="0">
                <a:solidFill>
                  <a:srgbClr val="003C71"/>
                </a:solidFill>
              </a:rPr>
              <a:t>, leading to poor performance.</a:t>
            </a:r>
          </a:p>
          <a:p>
            <a:r>
              <a:rPr lang="en-US" dirty="0" smtClean="0">
                <a:solidFill>
                  <a:srgbClr val="003C71"/>
                </a:solidFill>
              </a:rPr>
              <a:t>Solution:</a:t>
            </a:r>
          </a:p>
          <a:p>
            <a:pPr marL="511175" lvl="1" indent="-285750">
              <a:buFont typeface="Arial" panose="020B0604020202020204" pitchFamily="34" charset="0"/>
              <a:buChar char="•"/>
            </a:pPr>
            <a:r>
              <a:rPr lang="en-US" sz="1600" dirty="0" smtClean="0">
                <a:solidFill>
                  <a:srgbClr val="003C71"/>
                </a:solidFill>
              </a:rPr>
              <a:t>We </a:t>
            </a:r>
            <a:r>
              <a:rPr lang="en-US" sz="1600" dirty="0" smtClean="0">
                <a:solidFill>
                  <a:srgbClr val="003C71"/>
                </a:solidFill>
              </a:rPr>
              <a:t>have manually explored settings for </a:t>
            </a:r>
            <a:r>
              <a:rPr lang="en-US" sz="1600" dirty="0" smtClean="0">
                <a:solidFill>
                  <a:srgbClr val="003C71"/>
                </a:solidFill>
                <a:latin typeface="Courier" pitchFamily="49" charset="0"/>
              </a:rPr>
              <a:t>inter_op</a:t>
            </a:r>
            <a:r>
              <a:rPr lang="en-US" sz="1600" dirty="0" smtClean="0">
                <a:solidFill>
                  <a:srgbClr val="003C71"/>
                </a:solidFill>
              </a:rPr>
              <a:t>, </a:t>
            </a:r>
            <a:r>
              <a:rPr lang="en-US" sz="1600" dirty="0" smtClean="0">
                <a:solidFill>
                  <a:srgbClr val="003C71"/>
                </a:solidFill>
                <a:latin typeface="Courier" pitchFamily="49" charset="0"/>
              </a:rPr>
              <a:t>intra_op</a:t>
            </a:r>
            <a:r>
              <a:rPr lang="en-US" sz="1600" dirty="0" smtClean="0">
                <a:solidFill>
                  <a:srgbClr val="003C71"/>
                </a:solidFill>
              </a:rPr>
              <a:t> and </a:t>
            </a:r>
            <a:r>
              <a:rPr lang="en-US" sz="1600" dirty="0" smtClean="0">
                <a:solidFill>
                  <a:srgbClr val="003C71"/>
                </a:solidFill>
                <a:latin typeface="Courier" pitchFamily="49" charset="0"/>
              </a:rPr>
              <a:t>OMP_NUM_THREADS</a:t>
            </a:r>
            <a:r>
              <a:rPr lang="en-US" sz="1600" dirty="0" smtClean="0">
                <a:solidFill>
                  <a:srgbClr val="003C71"/>
                </a:solidFill>
              </a:rPr>
              <a:t> to get best performance for topologies optimized so far.</a:t>
            </a:r>
          </a:p>
          <a:p>
            <a:pPr marL="511175" lvl="1" indent="-285750">
              <a:buFont typeface="Arial" panose="020B0604020202020204" pitchFamily="34" charset="0"/>
              <a:buChar char="•"/>
            </a:pPr>
            <a:r>
              <a:rPr lang="en-US" sz="1600" dirty="0" smtClean="0">
                <a:solidFill>
                  <a:srgbClr val="003C71"/>
                </a:solidFill>
              </a:rPr>
              <a:t>Code: No changes to Tensorflow code; changes to Python model files.</a:t>
            </a:r>
            <a:endParaRPr lang="en-US" sz="1600" dirty="0">
              <a:solidFill>
                <a:srgbClr val="003C71"/>
              </a:solidFill>
            </a:endParaRPr>
          </a:p>
        </p:txBody>
      </p:sp>
    </p:spTree>
    <p:extLst>
      <p:ext uri="{BB962C8B-B14F-4D97-AF65-F5344CB8AC3E}">
        <p14:creationId xmlns:p14="http://schemas.microsoft.com/office/powerpoint/2010/main" val="38074852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E2556C5-CE8C-6547-B838-EA80C61A4AF7}" type="slidenum">
              <a:rPr lang="en-US" smtClean="0"/>
              <a:pPr/>
              <a:t>25</a:t>
            </a:fld>
            <a:endParaRPr lang="en-US" dirty="0"/>
          </a:p>
        </p:txBody>
      </p:sp>
      <p:sp>
        <p:nvSpPr>
          <p:cNvPr id="3" name="Title 2"/>
          <p:cNvSpPr>
            <a:spLocks noGrp="1"/>
          </p:cNvSpPr>
          <p:nvPr>
            <p:ph type="title"/>
          </p:nvPr>
        </p:nvSpPr>
        <p:spPr/>
        <p:txBody>
          <a:bodyPr/>
          <a:lstStyle/>
          <a:p>
            <a:r>
              <a:rPr lang="en-US" dirty="0" smtClean="0"/>
              <a:t>Optimized Tensorflow Performance on</a:t>
            </a:r>
            <a:br>
              <a:rPr lang="en-US" dirty="0" smtClean="0"/>
            </a:br>
            <a:r>
              <a:rPr lang="en-US" dirty="0" smtClean="0"/>
              <a:t>Intel® Xeon® </a:t>
            </a:r>
            <a:r>
              <a:rPr lang="en-US" dirty="0"/>
              <a:t>processor </a:t>
            </a:r>
            <a:br>
              <a:rPr lang="en-US" dirty="0"/>
            </a:br>
            <a:endParaRPr lang="en-US" dirty="0"/>
          </a:p>
        </p:txBody>
      </p:sp>
      <p:pic>
        <p:nvPicPr>
          <p:cNvPr id="5" name="Picture 4"/>
          <p:cNvPicPr>
            <a:picLocks noChangeAspect="1"/>
          </p:cNvPicPr>
          <p:nvPr/>
        </p:nvPicPr>
        <p:blipFill>
          <a:blip r:embed="rId2"/>
          <a:stretch>
            <a:fillRect/>
          </a:stretch>
        </p:blipFill>
        <p:spPr>
          <a:xfrm>
            <a:off x="329091" y="1566233"/>
            <a:ext cx="2867025" cy="2114550"/>
          </a:xfrm>
          <a:prstGeom prst="rect">
            <a:avLst/>
          </a:prstGeom>
        </p:spPr>
      </p:pic>
      <p:pic>
        <p:nvPicPr>
          <p:cNvPr id="6" name="Picture 5"/>
          <p:cNvPicPr>
            <a:picLocks noChangeAspect="1"/>
          </p:cNvPicPr>
          <p:nvPr/>
        </p:nvPicPr>
        <p:blipFill>
          <a:blip r:embed="rId3"/>
          <a:stretch>
            <a:fillRect/>
          </a:stretch>
        </p:blipFill>
        <p:spPr>
          <a:xfrm>
            <a:off x="3252219" y="1575758"/>
            <a:ext cx="2800350" cy="2105025"/>
          </a:xfrm>
          <a:prstGeom prst="rect">
            <a:avLst/>
          </a:prstGeom>
        </p:spPr>
      </p:pic>
      <p:pic>
        <p:nvPicPr>
          <p:cNvPr id="7" name="Picture 6"/>
          <p:cNvPicPr>
            <a:picLocks noChangeAspect="1"/>
          </p:cNvPicPr>
          <p:nvPr/>
        </p:nvPicPr>
        <p:blipFill>
          <a:blip r:embed="rId4"/>
          <a:stretch>
            <a:fillRect/>
          </a:stretch>
        </p:blipFill>
        <p:spPr>
          <a:xfrm>
            <a:off x="6145935" y="1579352"/>
            <a:ext cx="2762250" cy="2066925"/>
          </a:xfrm>
          <a:prstGeom prst="rect">
            <a:avLst/>
          </a:prstGeom>
        </p:spPr>
      </p:pic>
    </p:spTree>
    <p:extLst>
      <p:ext uri="{BB962C8B-B14F-4D97-AF65-F5344CB8AC3E}">
        <p14:creationId xmlns:p14="http://schemas.microsoft.com/office/powerpoint/2010/main" val="745418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E2556C5-CE8C-6547-B838-EA80C61A4AF7}" type="slidenum">
              <a:rPr lang="en-US" smtClean="0"/>
              <a:pPr/>
              <a:t>26</a:t>
            </a:fld>
            <a:endParaRPr lang="en-US" dirty="0"/>
          </a:p>
        </p:txBody>
      </p:sp>
      <p:sp>
        <p:nvSpPr>
          <p:cNvPr id="3" name="Title 2"/>
          <p:cNvSpPr>
            <a:spLocks noGrp="1"/>
          </p:cNvSpPr>
          <p:nvPr>
            <p:ph type="title"/>
          </p:nvPr>
        </p:nvSpPr>
        <p:spPr/>
        <p:txBody>
          <a:bodyPr/>
          <a:lstStyle/>
          <a:p>
            <a:r>
              <a:rPr lang="en-US" dirty="0" smtClean="0"/>
              <a:t>Optimized Tensorflow Performance on</a:t>
            </a:r>
            <a:br>
              <a:rPr lang="en-US" dirty="0" smtClean="0"/>
            </a:br>
            <a:r>
              <a:rPr lang="en-US" dirty="0" smtClean="0"/>
              <a:t>Intel® Xeon Phi® </a:t>
            </a:r>
            <a:r>
              <a:rPr lang="en-US" dirty="0"/>
              <a:t>processor </a:t>
            </a:r>
            <a:br>
              <a:rPr lang="en-US" dirty="0"/>
            </a:br>
            <a:endParaRPr lang="en-US" dirty="0"/>
          </a:p>
        </p:txBody>
      </p:sp>
      <p:pic>
        <p:nvPicPr>
          <p:cNvPr id="4" name="Picture 3"/>
          <p:cNvPicPr>
            <a:picLocks noChangeAspect="1"/>
          </p:cNvPicPr>
          <p:nvPr/>
        </p:nvPicPr>
        <p:blipFill>
          <a:blip r:embed="rId2"/>
          <a:stretch>
            <a:fillRect/>
          </a:stretch>
        </p:blipFill>
        <p:spPr>
          <a:xfrm>
            <a:off x="291828" y="1575758"/>
            <a:ext cx="2867025" cy="2066925"/>
          </a:xfrm>
          <a:prstGeom prst="rect">
            <a:avLst/>
          </a:prstGeom>
        </p:spPr>
      </p:pic>
      <p:pic>
        <p:nvPicPr>
          <p:cNvPr id="8" name="Picture 7"/>
          <p:cNvPicPr>
            <a:picLocks noChangeAspect="1"/>
          </p:cNvPicPr>
          <p:nvPr/>
        </p:nvPicPr>
        <p:blipFill>
          <a:blip r:embed="rId3"/>
          <a:stretch>
            <a:fillRect/>
          </a:stretch>
        </p:blipFill>
        <p:spPr>
          <a:xfrm>
            <a:off x="3209116" y="1590046"/>
            <a:ext cx="2771775" cy="2066925"/>
          </a:xfrm>
          <a:prstGeom prst="rect">
            <a:avLst/>
          </a:prstGeom>
        </p:spPr>
      </p:pic>
      <p:pic>
        <p:nvPicPr>
          <p:cNvPr id="9" name="Picture 8"/>
          <p:cNvPicPr>
            <a:picLocks noChangeAspect="1"/>
          </p:cNvPicPr>
          <p:nvPr/>
        </p:nvPicPr>
        <p:blipFill>
          <a:blip r:embed="rId4"/>
          <a:stretch>
            <a:fillRect/>
          </a:stretch>
        </p:blipFill>
        <p:spPr>
          <a:xfrm>
            <a:off x="6075242" y="1590046"/>
            <a:ext cx="2847975" cy="2066925"/>
          </a:xfrm>
          <a:prstGeom prst="rect">
            <a:avLst/>
          </a:prstGeom>
        </p:spPr>
      </p:pic>
    </p:spTree>
    <p:extLst>
      <p:ext uri="{BB962C8B-B14F-4D97-AF65-F5344CB8AC3E}">
        <p14:creationId xmlns:p14="http://schemas.microsoft.com/office/powerpoint/2010/main" val="1214927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E2556C5-CE8C-6547-B838-EA80C61A4AF7}" type="slidenum">
              <a:rPr lang="en-US" smtClean="0"/>
              <a:pPr/>
              <a:t>27</a:t>
            </a:fld>
            <a:endParaRPr lang="en-US" dirty="0"/>
          </a:p>
        </p:txBody>
      </p:sp>
      <p:sp>
        <p:nvSpPr>
          <p:cNvPr id="3" name="Title 2"/>
          <p:cNvSpPr>
            <a:spLocks noGrp="1"/>
          </p:cNvSpPr>
          <p:nvPr>
            <p:ph type="title"/>
          </p:nvPr>
        </p:nvSpPr>
        <p:spPr>
          <a:xfrm>
            <a:off x="442971" y="119226"/>
            <a:ext cx="8229600" cy="449640"/>
          </a:xfrm>
        </p:spPr>
        <p:txBody>
          <a:bodyPr/>
          <a:lstStyle/>
          <a:p>
            <a:r>
              <a:rPr lang="en-US" dirty="0" smtClean="0"/>
              <a:t>Summary</a:t>
            </a:r>
            <a:endParaRPr lang="en-US" dirty="0"/>
          </a:p>
        </p:txBody>
      </p:sp>
      <p:sp>
        <p:nvSpPr>
          <p:cNvPr id="4" name="Content Placeholder 3"/>
          <p:cNvSpPr>
            <a:spLocks noGrp="1"/>
          </p:cNvSpPr>
          <p:nvPr>
            <p:ph sz="quarter" idx="13"/>
          </p:nvPr>
        </p:nvSpPr>
        <p:spPr>
          <a:xfrm>
            <a:off x="369349" y="568866"/>
            <a:ext cx="8228012" cy="4057913"/>
          </a:xfrm>
        </p:spPr>
        <p:txBody>
          <a:bodyPr/>
          <a:lstStyle/>
          <a:p>
            <a:pPr marL="285750" indent="-285750">
              <a:buFont typeface="Arial" panose="020B0604020202020204" pitchFamily="34" charset="0"/>
              <a:buChar char="•"/>
            </a:pPr>
            <a:r>
              <a:rPr lang="en-US" sz="1600" dirty="0" smtClean="0">
                <a:solidFill>
                  <a:srgbClr val="003C71"/>
                </a:solidFill>
                <a:latin typeface="Calibri"/>
              </a:rPr>
              <a:t>TensorFlow* </a:t>
            </a:r>
            <a:r>
              <a:rPr lang="en-US" sz="1600" dirty="0">
                <a:solidFill>
                  <a:srgbClr val="003C71"/>
                </a:solidFill>
                <a:latin typeface="Calibri"/>
              </a:rPr>
              <a:t>is widely used DL and AI </a:t>
            </a:r>
            <a:r>
              <a:rPr lang="en-US" sz="1600" dirty="0" smtClean="0">
                <a:solidFill>
                  <a:srgbClr val="003C71"/>
                </a:solidFill>
                <a:latin typeface="Calibri"/>
              </a:rPr>
              <a:t>framework</a:t>
            </a:r>
          </a:p>
          <a:p>
            <a:pPr marL="511175" lvl="1" indent="-285750">
              <a:buFont typeface="Arial" panose="020B0604020202020204" pitchFamily="34" charset="0"/>
              <a:buChar char="•"/>
            </a:pPr>
            <a:r>
              <a:rPr lang="en-US" sz="1600" dirty="0" smtClean="0">
                <a:solidFill>
                  <a:srgbClr val="003C71"/>
                </a:solidFill>
                <a:latin typeface="Calibri"/>
              </a:rPr>
              <a:t>It </a:t>
            </a:r>
            <a:r>
              <a:rPr lang="en-US" sz="1600" dirty="0">
                <a:solidFill>
                  <a:srgbClr val="003C71"/>
                </a:solidFill>
                <a:latin typeface="Calibri"/>
              </a:rPr>
              <a:t>has been slow on CPU until now</a:t>
            </a:r>
          </a:p>
          <a:p>
            <a:pPr marL="285750" indent="-285750">
              <a:buFont typeface="Arial" panose="020B0604020202020204" pitchFamily="34" charset="0"/>
              <a:buChar char="•"/>
            </a:pPr>
            <a:r>
              <a:rPr lang="en-US" sz="1600" dirty="0">
                <a:solidFill>
                  <a:srgbClr val="003C71"/>
                </a:solidFill>
                <a:latin typeface="Calibri"/>
              </a:rPr>
              <a:t>Significant performance gains from optimization on modern Xeon and Xeon Phi </a:t>
            </a:r>
            <a:r>
              <a:rPr lang="en-US" sz="1600" dirty="0" smtClean="0">
                <a:solidFill>
                  <a:srgbClr val="003C71"/>
                </a:solidFill>
                <a:latin typeface="Calibri"/>
              </a:rPr>
              <a:t>processors</a:t>
            </a:r>
          </a:p>
          <a:p>
            <a:pPr marL="285750" indent="-285750">
              <a:buFont typeface="Arial" panose="020B0604020202020204" pitchFamily="34" charset="0"/>
              <a:buChar char="•"/>
            </a:pPr>
            <a:r>
              <a:rPr lang="en-US" sz="1600" dirty="0" smtClean="0">
                <a:solidFill>
                  <a:srgbClr val="003C71"/>
                </a:solidFill>
                <a:latin typeface="Calibri"/>
              </a:rPr>
              <a:t>Traditional </a:t>
            </a:r>
            <a:r>
              <a:rPr lang="en-US" sz="1600" dirty="0">
                <a:solidFill>
                  <a:srgbClr val="003C71"/>
                </a:solidFill>
                <a:latin typeface="Calibri"/>
              </a:rPr>
              <a:t>optimization techniques: vectorization, parallelization, cache blocking, </a:t>
            </a:r>
            <a:r>
              <a:rPr lang="en-US" sz="1600" dirty="0" smtClean="0">
                <a:solidFill>
                  <a:srgbClr val="003C71"/>
                </a:solidFill>
                <a:latin typeface="Calibri"/>
              </a:rPr>
              <a:t>etc.</a:t>
            </a:r>
          </a:p>
          <a:p>
            <a:pPr marL="285750" indent="-285750">
              <a:buFont typeface="Arial" panose="020B0604020202020204" pitchFamily="34" charset="0"/>
              <a:buChar char="•"/>
            </a:pPr>
            <a:r>
              <a:rPr lang="en-US" sz="1600" dirty="0" smtClean="0">
                <a:solidFill>
                  <a:srgbClr val="003C71"/>
                </a:solidFill>
                <a:latin typeface="Calibri"/>
              </a:rPr>
              <a:t>Unique </a:t>
            </a:r>
            <a:r>
              <a:rPr lang="en-US" sz="1600" dirty="0">
                <a:solidFill>
                  <a:srgbClr val="003C71"/>
                </a:solidFill>
                <a:latin typeface="Calibri"/>
              </a:rPr>
              <a:t>performance challenges: data layout, hyper parameters, inter/intra layer parallelization, </a:t>
            </a:r>
            <a:r>
              <a:rPr lang="en-US" sz="1600" dirty="0" smtClean="0">
                <a:solidFill>
                  <a:srgbClr val="003C71"/>
                </a:solidFill>
                <a:latin typeface="Calibri"/>
              </a:rPr>
              <a:t>etc.</a:t>
            </a:r>
          </a:p>
          <a:p>
            <a:endParaRPr lang="en-US" sz="1000" dirty="0" smtClean="0">
              <a:solidFill>
                <a:srgbClr val="003C71"/>
              </a:solidFill>
              <a:latin typeface="Calibri"/>
            </a:endParaRPr>
          </a:p>
          <a:p>
            <a:pPr marL="285750" indent="-285750">
              <a:buFont typeface="Arial" panose="020B0604020202020204" pitchFamily="34" charset="0"/>
              <a:buChar char="•"/>
            </a:pPr>
            <a:r>
              <a:rPr lang="en-US" sz="1600" dirty="0" smtClean="0">
                <a:solidFill>
                  <a:srgbClr val="003C71"/>
                </a:solidFill>
                <a:latin typeface="Calibri"/>
              </a:rPr>
              <a:t>Call </a:t>
            </a:r>
            <a:r>
              <a:rPr lang="en-US" sz="1600" dirty="0">
                <a:solidFill>
                  <a:srgbClr val="003C71"/>
                </a:solidFill>
                <a:latin typeface="Calibri"/>
              </a:rPr>
              <a:t>to </a:t>
            </a:r>
            <a:r>
              <a:rPr lang="en-US" sz="1600" dirty="0" smtClean="0">
                <a:solidFill>
                  <a:srgbClr val="003C71"/>
                </a:solidFill>
                <a:latin typeface="Calibri"/>
              </a:rPr>
              <a:t>action:</a:t>
            </a:r>
          </a:p>
          <a:p>
            <a:pPr marL="511175" lvl="1" indent="-285750">
              <a:buFont typeface="Arial" panose="020B0604020202020204" pitchFamily="34" charset="0"/>
              <a:buChar char="•"/>
            </a:pPr>
            <a:r>
              <a:rPr lang="en-US" sz="1600" dirty="0" smtClean="0">
                <a:solidFill>
                  <a:srgbClr val="003C71"/>
                </a:solidFill>
                <a:latin typeface="Calibri"/>
              </a:rPr>
              <a:t>Latest </a:t>
            </a:r>
            <a:r>
              <a:rPr lang="en-US" sz="1600" dirty="0">
                <a:solidFill>
                  <a:srgbClr val="003C71"/>
                </a:solidFill>
                <a:latin typeface="Calibri"/>
              </a:rPr>
              <a:t>TensorFlow includes </a:t>
            </a:r>
            <a:r>
              <a:rPr lang="en-US" sz="1600" dirty="0">
                <a:solidFill>
                  <a:srgbClr val="003C71"/>
                </a:solidFill>
              </a:rPr>
              <a:t>Intel® </a:t>
            </a:r>
            <a:r>
              <a:rPr lang="en-US" sz="1600" dirty="0" smtClean="0">
                <a:solidFill>
                  <a:srgbClr val="003C71"/>
                </a:solidFill>
                <a:latin typeface="Calibri"/>
              </a:rPr>
              <a:t>optimizations</a:t>
            </a:r>
            <a:endParaRPr lang="en-US" sz="1600" dirty="0" smtClean="0">
              <a:solidFill>
                <a:srgbClr val="003C71"/>
              </a:solidFill>
              <a:latin typeface="Calibri"/>
            </a:endParaRPr>
          </a:p>
          <a:p>
            <a:pPr marL="511175" lvl="1" indent="-285750">
              <a:buFont typeface="Arial" panose="020B0604020202020204" pitchFamily="34" charset="0"/>
              <a:buChar char="•"/>
            </a:pPr>
            <a:r>
              <a:rPr lang="en-US" sz="1600" dirty="0" smtClean="0">
                <a:solidFill>
                  <a:srgbClr val="003C71"/>
                </a:solidFill>
                <a:latin typeface="Calibri"/>
              </a:rPr>
              <a:t>Use </a:t>
            </a:r>
            <a:r>
              <a:rPr lang="en-US" sz="1600" dirty="0">
                <a:solidFill>
                  <a:srgbClr val="003C71"/>
                </a:solidFill>
                <a:latin typeface="Calibri"/>
              </a:rPr>
              <a:t>the right configuration, building and best parameter </a:t>
            </a:r>
            <a:r>
              <a:rPr lang="en-US" sz="1600" dirty="0" smtClean="0">
                <a:solidFill>
                  <a:srgbClr val="003C71"/>
                </a:solidFill>
                <a:latin typeface="Calibri"/>
              </a:rPr>
              <a:t>settings</a:t>
            </a:r>
          </a:p>
          <a:p>
            <a:pPr marL="511175" lvl="1" indent="-285750">
              <a:buFont typeface="Arial" panose="020B0604020202020204" pitchFamily="34" charset="0"/>
              <a:buChar char="•"/>
            </a:pPr>
            <a:r>
              <a:rPr lang="en-US" sz="1600" dirty="0" smtClean="0">
                <a:solidFill>
                  <a:srgbClr val="003C71"/>
                </a:solidFill>
                <a:latin typeface="Calibri"/>
              </a:rPr>
              <a:t>Orders </a:t>
            </a:r>
            <a:r>
              <a:rPr lang="en-US" sz="1600" dirty="0">
                <a:solidFill>
                  <a:srgbClr val="003C71"/>
                </a:solidFill>
                <a:latin typeface="Calibri"/>
              </a:rPr>
              <a:t>of magnitude higher performance for inference and training</a:t>
            </a:r>
          </a:p>
        </p:txBody>
      </p:sp>
    </p:spTree>
    <p:extLst>
      <p:ext uri="{BB962C8B-B14F-4D97-AF65-F5344CB8AC3E}">
        <p14:creationId xmlns:p14="http://schemas.microsoft.com/office/powerpoint/2010/main" val="238612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4294967295"/>
          </p:nvPr>
        </p:nvSpPr>
        <p:spPr>
          <a:xfrm>
            <a:off x="6877848" y="4721303"/>
            <a:ext cx="2019645" cy="259814"/>
          </a:xfrm>
          <a:prstGeom prst="rect">
            <a:avLst/>
          </a:prstGeom>
        </p:spPr>
        <p:txBody>
          <a:bodyPr/>
          <a:lstStyle/>
          <a:p>
            <a:fld id="{EE2556C5-CE8C-6547-B838-EA80C61A4AF7}" type="slidenum">
              <a:rPr lang="en-US" smtClean="0"/>
              <a:pPr/>
              <a:t>28</a:t>
            </a:fld>
            <a:endParaRPr lang="en-US" dirty="0"/>
          </a:p>
        </p:txBody>
      </p:sp>
      <p:sp>
        <p:nvSpPr>
          <p:cNvPr id="4" name="Title 2"/>
          <p:cNvSpPr txBox="1">
            <a:spLocks/>
          </p:cNvSpPr>
          <p:nvPr/>
        </p:nvSpPr>
        <p:spPr>
          <a:xfrm>
            <a:off x="246508" y="1"/>
            <a:ext cx="7040852" cy="562521"/>
          </a:xfrm>
          <a:prstGeom prst="rect">
            <a:avLst/>
          </a:prstGeom>
        </p:spPr>
        <p:txBody>
          <a:bodyPr vert="horz" lIns="116916" tIns="58458" rIns="116916" bIns="58458" rtlCol="0" anchor="ctr">
            <a:normAutofit lnSpcReduction="10000"/>
          </a:bodyPr>
          <a:lstStyle>
            <a:lvl1pPr algn="l" rtl="0" eaLnBrk="1" fontAlgn="base" hangingPunct="1">
              <a:spcBef>
                <a:spcPct val="0"/>
              </a:spcBef>
              <a:spcAft>
                <a:spcPct val="0"/>
              </a:spcAft>
              <a:defRPr sz="2800" b="1" baseline="0">
                <a:solidFill>
                  <a:srgbClr val="404040"/>
                </a:solidFill>
                <a:effectLst/>
                <a:latin typeface="+mj-lt"/>
                <a:ea typeface="ＭＳ Ｐゴシック" charset="-128"/>
                <a:cs typeface="ＭＳ Ｐゴシック" charset="-128"/>
              </a:defRPr>
            </a:lvl1pPr>
            <a:lvl2pPr algn="l" rtl="0" eaLnBrk="1" fontAlgn="base" hangingPunct="1">
              <a:spcBef>
                <a:spcPct val="0"/>
              </a:spcBef>
              <a:spcAft>
                <a:spcPct val="0"/>
              </a:spcAft>
              <a:defRPr sz="3400" b="1">
                <a:solidFill>
                  <a:srgbClr val="CD0921"/>
                </a:solidFill>
                <a:latin typeface="Arial" charset="0"/>
                <a:ea typeface="ＭＳ Ｐゴシック" charset="-128"/>
                <a:cs typeface="ＭＳ Ｐゴシック" charset="-128"/>
              </a:defRPr>
            </a:lvl2pPr>
            <a:lvl3pPr algn="l" rtl="0" eaLnBrk="1" fontAlgn="base" hangingPunct="1">
              <a:spcBef>
                <a:spcPct val="0"/>
              </a:spcBef>
              <a:spcAft>
                <a:spcPct val="0"/>
              </a:spcAft>
              <a:defRPr sz="3400" b="1">
                <a:solidFill>
                  <a:srgbClr val="CD0921"/>
                </a:solidFill>
                <a:latin typeface="Arial" charset="0"/>
                <a:ea typeface="ＭＳ Ｐゴシック" charset="-128"/>
                <a:cs typeface="ＭＳ Ｐゴシック" charset="-128"/>
              </a:defRPr>
            </a:lvl3pPr>
            <a:lvl4pPr algn="l" rtl="0" eaLnBrk="1" fontAlgn="base" hangingPunct="1">
              <a:spcBef>
                <a:spcPct val="0"/>
              </a:spcBef>
              <a:spcAft>
                <a:spcPct val="0"/>
              </a:spcAft>
              <a:defRPr sz="3400" b="1">
                <a:solidFill>
                  <a:srgbClr val="CD0921"/>
                </a:solidFill>
                <a:latin typeface="Arial" charset="0"/>
                <a:ea typeface="ＭＳ Ｐゴシック" charset="-128"/>
                <a:cs typeface="ＭＳ Ｐゴシック" charset="-128"/>
              </a:defRPr>
            </a:lvl4pPr>
            <a:lvl5pPr algn="l" rtl="0" eaLnBrk="1" fontAlgn="base" hangingPunct="1">
              <a:spcBef>
                <a:spcPct val="0"/>
              </a:spcBef>
              <a:spcAft>
                <a:spcPct val="0"/>
              </a:spcAft>
              <a:defRPr sz="3400" b="1">
                <a:solidFill>
                  <a:srgbClr val="CD0921"/>
                </a:solidFill>
                <a:latin typeface="Arial" charset="0"/>
                <a:ea typeface="ＭＳ Ｐゴシック" charset="-128"/>
                <a:cs typeface="ＭＳ Ｐゴシック" charset="-128"/>
              </a:defRPr>
            </a:lvl5pPr>
            <a:lvl6pPr marL="457200" algn="l" rtl="0" eaLnBrk="1" fontAlgn="base" hangingPunct="1">
              <a:spcBef>
                <a:spcPct val="0"/>
              </a:spcBef>
              <a:spcAft>
                <a:spcPct val="0"/>
              </a:spcAft>
              <a:defRPr sz="2800" b="1">
                <a:solidFill>
                  <a:schemeClr val="tx2"/>
                </a:solidFill>
                <a:latin typeface="Arial" charset="0"/>
              </a:defRPr>
            </a:lvl6pPr>
            <a:lvl7pPr marL="914400" algn="l" rtl="0" eaLnBrk="1" fontAlgn="base" hangingPunct="1">
              <a:spcBef>
                <a:spcPct val="0"/>
              </a:spcBef>
              <a:spcAft>
                <a:spcPct val="0"/>
              </a:spcAft>
              <a:defRPr sz="2800" b="1">
                <a:solidFill>
                  <a:schemeClr val="tx2"/>
                </a:solidFill>
                <a:latin typeface="Arial" charset="0"/>
              </a:defRPr>
            </a:lvl7pPr>
            <a:lvl8pPr marL="1371600" algn="l" rtl="0" eaLnBrk="1" fontAlgn="base" hangingPunct="1">
              <a:spcBef>
                <a:spcPct val="0"/>
              </a:spcBef>
              <a:spcAft>
                <a:spcPct val="0"/>
              </a:spcAft>
              <a:defRPr sz="2800" b="1">
                <a:solidFill>
                  <a:schemeClr val="tx2"/>
                </a:solidFill>
                <a:latin typeface="Arial" charset="0"/>
              </a:defRPr>
            </a:lvl8pPr>
            <a:lvl9pPr marL="1828800" algn="l" rtl="0" eaLnBrk="1" fontAlgn="base" hangingPunct="1">
              <a:spcBef>
                <a:spcPct val="0"/>
              </a:spcBef>
              <a:spcAft>
                <a:spcPct val="0"/>
              </a:spcAft>
              <a:defRPr sz="2800" b="1">
                <a:solidFill>
                  <a:schemeClr val="tx2"/>
                </a:solidFill>
                <a:latin typeface="Arial" charset="0"/>
              </a:defRPr>
            </a:lvl9pPr>
          </a:lstStyle>
          <a:p>
            <a:pPr defTabSz="1169152">
              <a:defRPr/>
            </a:pPr>
            <a:r>
              <a:rPr lang="en-US" sz="3069" kern="0">
                <a:solidFill>
                  <a:srgbClr val="0070C0"/>
                </a:solidFill>
                <a:latin typeface="Calibri Light" panose="020F0302020204030204"/>
                <a:cs typeface="+mn-cs"/>
              </a:rPr>
              <a:t>Legal</a:t>
            </a:r>
            <a:r>
              <a:rPr lang="en-US" sz="3069" kern="0">
                <a:latin typeface="Arial"/>
              </a:rPr>
              <a:t> </a:t>
            </a:r>
            <a:r>
              <a:rPr lang="en-US" sz="3069" kern="0">
                <a:solidFill>
                  <a:srgbClr val="0070C0"/>
                </a:solidFill>
                <a:latin typeface="Calibri Light" panose="020F0302020204030204"/>
                <a:cs typeface="+mn-cs"/>
              </a:rPr>
              <a:t>Disclaimers</a:t>
            </a:r>
            <a:endParaRPr lang="en-US" sz="3069" kern="0" dirty="0">
              <a:solidFill>
                <a:srgbClr val="0070C0"/>
              </a:solidFill>
              <a:latin typeface="Calibri Light" panose="020F0302020204030204"/>
              <a:cs typeface="+mn-cs"/>
            </a:endParaRPr>
          </a:p>
        </p:txBody>
      </p:sp>
      <p:sp>
        <p:nvSpPr>
          <p:cNvPr id="5" name="Text Placeholder 2"/>
          <p:cNvSpPr txBox="1">
            <a:spLocks/>
          </p:cNvSpPr>
          <p:nvPr/>
        </p:nvSpPr>
        <p:spPr>
          <a:xfrm>
            <a:off x="383278" y="525410"/>
            <a:ext cx="8045649" cy="4142812"/>
          </a:xfrm>
          <a:prstGeom prst="rect">
            <a:avLst/>
          </a:prstGeom>
        </p:spPr>
        <p:txBody>
          <a:bodyPr vert="horz" wrap="square" lIns="0" tIns="58458" rIns="116916" bIns="58458" numCol="1" anchor="t" anchorCtr="0" compatLnSpc="1">
            <a:prstTxWarp prst="textNoShape">
              <a:avLst/>
            </a:prstTxWarp>
          </a:bodyPr>
          <a:lstStyle>
            <a:defPPr>
              <a:defRPr lang="en-US"/>
            </a:defPPr>
            <a:lvl1pPr algn="ctr" defTabSz="457200" rtl="0" fontAlgn="base">
              <a:spcBef>
                <a:spcPct val="0"/>
              </a:spcBef>
              <a:spcAft>
                <a:spcPct val="0"/>
              </a:spcAft>
              <a:defRPr sz="1200" kern="1200">
                <a:solidFill>
                  <a:srgbClr val="8DC5EA"/>
                </a:solidFill>
                <a:latin typeface="Calibri" pitchFamily="34" charset="0"/>
                <a:ea typeface="+mn-ea"/>
                <a:cs typeface="+mn-cs"/>
              </a:defRPr>
            </a:lvl1pPr>
            <a:lvl2pPr marL="457200" algn="l" defTabSz="457200" rtl="0" fontAlgn="base">
              <a:spcBef>
                <a:spcPct val="0"/>
              </a:spcBef>
              <a:spcAft>
                <a:spcPct val="0"/>
              </a:spcAft>
              <a:defRPr kern="1200">
                <a:solidFill>
                  <a:schemeClr val="tx1"/>
                </a:solidFill>
                <a:latin typeface="Neo Sans Intel" pitchFamily="34" charset="0"/>
                <a:ea typeface="+mn-ea"/>
                <a:cs typeface="+mn-cs"/>
              </a:defRPr>
            </a:lvl2pPr>
            <a:lvl3pPr marL="914400" algn="l" defTabSz="457200" rtl="0" fontAlgn="base">
              <a:spcBef>
                <a:spcPct val="0"/>
              </a:spcBef>
              <a:spcAft>
                <a:spcPct val="0"/>
              </a:spcAft>
              <a:defRPr kern="1200">
                <a:solidFill>
                  <a:schemeClr val="tx1"/>
                </a:solidFill>
                <a:latin typeface="Neo Sans Intel" pitchFamily="34" charset="0"/>
                <a:ea typeface="+mn-ea"/>
                <a:cs typeface="+mn-cs"/>
              </a:defRPr>
            </a:lvl3pPr>
            <a:lvl4pPr marL="1371600" algn="l" defTabSz="457200" rtl="0" fontAlgn="base">
              <a:spcBef>
                <a:spcPct val="0"/>
              </a:spcBef>
              <a:spcAft>
                <a:spcPct val="0"/>
              </a:spcAft>
              <a:defRPr kern="1200">
                <a:solidFill>
                  <a:schemeClr val="tx1"/>
                </a:solidFill>
                <a:latin typeface="Neo Sans Intel" pitchFamily="34" charset="0"/>
                <a:ea typeface="+mn-ea"/>
                <a:cs typeface="+mn-cs"/>
              </a:defRPr>
            </a:lvl4pPr>
            <a:lvl5pPr marL="1828800" algn="l" defTabSz="457200" rtl="0" fontAlgn="base">
              <a:spcBef>
                <a:spcPct val="0"/>
              </a:spcBef>
              <a:spcAft>
                <a:spcPct val="0"/>
              </a:spcAft>
              <a:defRPr kern="1200">
                <a:solidFill>
                  <a:schemeClr val="tx1"/>
                </a:solidFill>
                <a:latin typeface="Neo Sans Intel" pitchFamily="34" charset="0"/>
                <a:ea typeface="+mn-ea"/>
                <a:cs typeface="+mn-cs"/>
              </a:defRPr>
            </a:lvl5pPr>
            <a:lvl6pPr marL="2286000" algn="l" defTabSz="914400" rtl="0" eaLnBrk="1" latinLnBrk="0" hangingPunct="1">
              <a:defRPr kern="1200">
                <a:solidFill>
                  <a:schemeClr val="tx1"/>
                </a:solidFill>
                <a:latin typeface="Neo Sans Intel" pitchFamily="34" charset="0"/>
                <a:ea typeface="+mn-ea"/>
                <a:cs typeface="+mn-cs"/>
              </a:defRPr>
            </a:lvl6pPr>
            <a:lvl7pPr marL="2743200" algn="l" defTabSz="914400" rtl="0" eaLnBrk="1" latinLnBrk="0" hangingPunct="1">
              <a:defRPr kern="1200">
                <a:solidFill>
                  <a:schemeClr val="tx1"/>
                </a:solidFill>
                <a:latin typeface="Neo Sans Intel" pitchFamily="34" charset="0"/>
                <a:ea typeface="+mn-ea"/>
                <a:cs typeface="+mn-cs"/>
              </a:defRPr>
            </a:lvl7pPr>
            <a:lvl8pPr marL="3200400" algn="l" defTabSz="914400" rtl="0" eaLnBrk="1" latinLnBrk="0" hangingPunct="1">
              <a:defRPr kern="1200">
                <a:solidFill>
                  <a:schemeClr val="tx1"/>
                </a:solidFill>
                <a:latin typeface="Neo Sans Intel" pitchFamily="34" charset="0"/>
                <a:ea typeface="+mn-ea"/>
                <a:cs typeface="+mn-cs"/>
              </a:defRPr>
            </a:lvl8pPr>
            <a:lvl9pPr marL="3657600" algn="l" defTabSz="914400" rtl="0" eaLnBrk="1" latinLnBrk="0" hangingPunct="1">
              <a:defRPr kern="1200">
                <a:solidFill>
                  <a:schemeClr val="tx1"/>
                </a:solidFill>
                <a:latin typeface="Neo Sans Intel" pitchFamily="34" charset="0"/>
                <a:ea typeface="+mn-ea"/>
                <a:cs typeface="+mn-cs"/>
              </a:defRPr>
            </a:lvl9pPr>
          </a:lstStyle>
          <a:p>
            <a:pPr marL="219216" indent="-219216" algn="l" defTabSz="1169152" eaLnBrk="0" hangingPunct="0">
              <a:spcBef>
                <a:spcPct val="20000"/>
              </a:spcBef>
              <a:buFont typeface="Arial" pitchFamily="34" charset="0"/>
              <a:buChar char="•"/>
            </a:pPr>
            <a:r>
              <a:rPr lang="en-US" sz="895" dirty="0">
                <a:solidFill>
                  <a:srgbClr val="1F497D"/>
                </a:solidFill>
                <a:latin typeface="Intel Clear"/>
              </a:rPr>
              <a:t>Intel processor numbers are not a measure of performance. Processor numbers differentiate features within each processor family, not across different processor families: Go to: Learn About Intel® Processor Numbers </a:t>
            </a:r>
            <a:r>
              <a:rPr lang="en-US" sz="895" dirty="0">
                <a:solidFill>
                  <a:srgbClr val="1F497D"/>
                </a:solidFill>
                <a:latin typeface="Intel Clear"/>
                <a:hlinkClick r:id="rId2"/>
              </a:rPr>
              <a:t>http://www.intel.com/products/processor_number</a:t>
            </a:r>
            <a:r>
              <a:rPr lang="en-US" sz="895" dirty="0">
                <a:solidFill>
                  <a:srgbClr val="1F497D"/>
                </a:solidFill>
                <a:latin typeface="Intel Clear"/>
              </a:rPr>
              <a:t> </a:t>
            </a:r>
          </a:p>
          <a:p>
            <a:pPr marL="219216" indent="-219216" algn="l" defTabSz="1169152" eaLnBrk="0" hangingPunct="0">
              <a:spcBef>
                <a:spcPct val="20000"/>
              </a:spcBef>
              <a:buFont typeface="Arial" pitchFamily="34" charset="0"/>
              <a:buChar char="•"/>
            </a:pPr>
            <a:r>
              <a:rPr lang="en-US" sz="895" dirty="0">
                <a:solidFill>
                  <a:srgbClr val="1F497D"/>
                </a:solidFill>
                <a:latin typeface="Intel Clear"/>
              </a:rPr>
              <a:t>Some results have been estimated based on internal Intel analysis and are provided for informational purposes only. Any difference in system hardware or software design or configuration may affect actual performance.</a:t>
            </a:r>
          </a:p>
          <a:p>
            <a:pPr marL="219216" indent="-219216" algn="l" defTabSz="1169152" eaLnBrk="0" hangingPunct="0">
              <a:spcBef>
                <a:spcPct val="20000"/>
              </a:spcBef>
              <a:buFont typeface="Arial" pitchFamily="34" charset="0"/>
              <a:buChar char="•"/>
            </a:pPr>
            <a:r>
              <a:rPr lang="en-US" sz="895" dirty="0">
                <a:solidFill>
                  <a:srgbClr val="1F497D"/>
                </a:solidFill>
                <a:latin typeface="Intel Clear"/>
              </a:rPr>
              <a:t>Software and workloads used in performance tests may have been optimized for performance only on Intel microprocessors.  Performance tests, such as </a:t>
            </a:r>
            <a:r>
              <a:rPr lang="en-US" sz="895" dirty="0" err="1">
                <a:solidFill>
                  <a:srgbClr val="1F497D"/>
                </a:solidFill>
                <a:latin typeface="Intel Clear"/>
              </a:rPr>
              <a:t>SYSmark</a:t>
            </a:r>
            <a:r>
              <a:rPr lang="en-US" sz="895" dirty="0">
                <a:solidFill>
                  <a:srgbClr val="1F497D"/>
                </a:solidFill>
                <a:latin typeface="Intel Clear"/>
              </a:rPr>
              <a:t> and </a:t>
            </a:r>
            <a:r>
              <a:rPr lang="en-US" sz="895" dirty="0" err="1">
                <a:solidFill>
                  <a:srgbClr val="1F497D"/>
                </a:solidFill>
                <a:latin typeface="Intel Clear"/>
              </a:rPr>
              <a:t>MobileMark</a:t>
            </a:r>
            <a:r>
              <a:rPr lang="en-US" sz="895" dirty="0">
                <a:solidFill>
                  <a:srgbClr val="1F497D"/>
                </a:solidFill>
                <a:latin typeface="Intel Clear"/>
              </a:rPr>
              <a:t>, are measured using specific computer systems, components, software, operations and functions.  Any change to any of those factors may cause the results to vary.  You should consult other information and performance tests to assist you in fully evaluating your contemplated purchases, including the performance of that product when combined with other products.  </a:t>
            </a:r>
          </a:p>
          <a:p>
            <a:pPr marL="219216" indent="-219216" algn="l" defTabSz="1169152" eaLnBrk="0" hangingPunct="0">
              <a:spcBef>
                <a:spcPct val="20000"/>
              </a:spcBef>
              <a:buFont typeface="Arial" pitchFamily="34" charset="0"/>
              <a:buChar char="•"/>
            </a:pPr>
            <a:r>
              <a:rPr lang="en-US" sz="895" dirty="0">
                <a:solidFill>
                  <a:srgbClr val="1F497D"/>
                </a:solidFill>
                <a:latin typeface="Intel Clear"/>
              </a:rPr>
              <a:t>Intel does not control or audit the design or implementation of third party benchmarks or Web sites referenced in this document. Intel encourages all of its customers to visit the referenced Web sites or others where similar performance benchmarks are reported and confirm whether the referenced benchmarks are accurate and reflect performance of systems available for purchase. </a:t>
            </a:r>
          </a:p>
          <a:p>
            <a:pPr marL="219216" indent="-219216" algn="l" defTabSz="1169152" eaLnBrk="0" hangingPunct="0">
              <a:spcBef>
                <a:spcPct val="20000"/>
              </a:spcBef>
              <a:buFont typeface="Arial" pitchFamily="34" charset="0"/>
              <a:buChar char="•"/>
            </a:pPr>
            <a:r>
              <a:rPr lang="en-US" sz="895" dirty="0">
                <a:solidFill>
                  <a:srgbClr val="1F497D"/>
                </a:solidFill>
                <a:latin typeface="Intel Clear"/>
              </a:rPr>
              <a:t>Relative performance is calculated by assigning a baseline value of 1.0 to one benchmark result, and then dividing the actual benchmark result for the baseline platform into each of the specific benchmark results of each of the other platforms, and assigning them a relative performance number that correlates with the performance improvements reported. </a:t>
            </a:r>
          </a:p>
          <a:p>
            <a:pPr marL="219216" indent="-219216" algn="l" defTabSz="1169152" eaLnBrk="0" hangingPunct="0">
              <a:spcBef>
                <a:spcPct val="20000"/>
              </a:spcBef>
              <a:buFont typeface="Arial" pitchFamily="34" charset="0"/>
              <a:buChar char="•"/>
            </a:pPr>
            <a:r>
              <a:rPr lang="en-US" sz="895" dirty="0">
                <a:solidFill>
                  <a:srgbClr val="1F497D"/>
                </a:solidFill>
                <a:latin typeface="Intel Clear"/>
              </a:rPr>
              <a:t>SPEC, </a:t>
            </a:r>
            <a:r>
              <a:rPr lang="en-US" sz="895" dirty="0" err="1">
                <a:solidFill>
                  <a:srgbClr val="1F497D"/>
                </a:solidFill>
                <a:latin typeface="Intel Clear"/>
              </a:rPr>
              <a:t>SPECint</a:t>
            </a:r>
            <a:r>
              <a:rPr lang="en-US" sz="895" dirty="0">
                <a:solidFill>
                  <a:srgbClr val="1F497D"/>
                </a:solidFill>
                <a:latin typeface="Intel Clear"/>
              </a:rPr>
              <a:t>, </a:t>
            </a:r>
            <a:r>
              <a:rPr lang="en-US" sz="895" dirty="0" err="1">
                <a:solidFill>
                  <a:srgbClr val="1F497D"/>
                </a:solidFill>
                <a:latin typeface="Intel Clear"/>
              </a:rPr>
              <a:t>SPECfp</a:t>
            </a:r>
            <a:r>
              <a:rPr lang="en-US" sz="895" dirty="0">
                <a:solidFill>
                  <a:srgbClr val="1F497D"/>
                </a:solidFill>
                <a:latin typeface="Intel Clear"/>
              </a:rPr>
              <a:t>, </a:t>
            </a:r>
            <a:r>
              <a:rPr lang="en-US" sz="895" dirty="0" err="1">
                <a:solidFill>
                  <a:srgbClr val="1F497D"/>
                </a:solidFill>
                <a:latin typeface="Intel Clear"/>
              </a:rPr>
              <a:t>SPECrate</a:t>
            </a:r>
            <a:r>
              <a:rPr lang="en-US" sz="895" dirty="0">
                <a:solidFill>
                  <a:srgbClr val="1F497D"/>
                </a:solidFill>
                <a:latin typeface="Intel Clear"/>
              </a:rPr>
              <a:t>, </a:t>
            </a:r>
            <a:r>
              <a:rPr lang="en-US" sz="895" dirty="0" err="1">
                <a:solidFill>
                  <a:srgbClr val="1F497D"/>
                </a:solidFill>
                <a:latin typeface="Intel Clear"/>
              </a:rPr>
              <a:t>SPECpower</a:t>
            </a:r>
            <a:r>
              <a:rPr lang="en-US" sz="895" dirty="0">
                <a:solidFill>
                  <a:srgbClr val="1F497D"/>
                </a:solidFill>
                <a:latin typeface="Intel Clear"/>
              </a:rPr>
              <a:t>, </a:t>
            </a:r>
            <a:r>
              <a:rPr lang="en-US" sz="895" dirty="0" err="1">
                <a:solidFill>
                  <a:srgbClr val="1F497D"/>
                </a:solidFill>
                <a:latin typeface="Intel Clear"/>
              </a:rPr>
              <a:t>SPECjbb</a:t>
            </a:r>
            <a:r>
              <a:rPr lang="en-US" sz="895" dirty="0">
                <a:solidFill>
                  <a:srgbClr val="1F497D"/>
                </a:solidFill>
                <a:latin typeface="Intel Clear"/>
              </a:rPr>
              <a:t>, </a:t>
            </a:r>
            <a:r>
              <a:rPr lang="en-US" sz="895" dirty="0" err="1">
                <a:solidFill>
                  <a:srgbClr val="1F497D"/>
                </a:solidFill>
                <a:latin typeface="Intel Clear"/>
              </a:rPr>
              <a:t>SPECompG</a:t>
            </a:r>
            <a:r>
              <a:rPr lang="en-US" sz="895" dirty="0">
                <a:solidFill>
                  <a:srgbClr val="1F497D"/>
                </a:solidFill>
                <a:latin typeface="Intel Clear"/>
              </a:rPr>
              <a:t>, SPEC MPI, and </a:t>
            </a:r>
            <a:r>
              <a:rPr lang="en-US" sz="895" dirty="0" err="1">
                <a:solidFill>
                  <a:srgbClr val="1F497D"/>
                </a:solidFill>
                <a:latin typeface="Intel Clear"/>
              </a:rPr>
              <a:t>SPECjEnterprise</a:t>
            </a:r>
            <a:r>
              <a:rPr lang="en-US" sz="895" dirty="0">
                <a:solidFill>
                  <a:srgbClr val="1F497D"/>
                </a:solidFill>
                <a:latin typeface="Intel Clear"/>
              </a:rPr>
              <a:t>* are trademarks of the Standard Performance Evaluation Corporation.  See http://www.spec.org for more information. </a:t>
            </a:r>
          </a:p>
          <a:p>
            <a:pPr marL="219216" indent="-219216" algn="l" defTabSz="1169152" eaLnBrk="0" hangingPunct="0">
              <a:spcBef>
                <a:spcPct val="20000"/>
              </a:spcBef>
              <a:buFont typeface="Arial" pitchFamily="34" charset="0"/>
              <a:buChar char="•"/>
            </a:pPr>
            <a:r>
              <a:rPr lang="en-US" sz="895" dirty="0">
                <a:solidFill>
                  <a:srgbClr val="1F497D"/>
                </a:solidFill>
                <a:latin typeface="Intel Clear"/>
              </a:rPr>
              <a:t>TPC Benchmark, TPC-C, TPC-H, and TPC-E are trademarks of the Transaction Processing Council. See http://www.tpc.org for more information.</a:t>
            </a:r>
          </a:p>
          <a:p>
            <a:pPr marL="219216" indent="-219216" algn="l" defTabSz="1169152" eaLnBrk="0" hangingPunct="0">
              <a:spcBef>
                <a:spcPct val="20000"/>
              </a:spcBef>
              <a:buFont typeface="Arial" pitchFamily="34" charset="0"/>
              <a:buChar char="•"/>
            </a:pPr>
            <a:r>
              <a:rPr lang="en-US" sz="895" dirty="0">
                <a:solidFill>
                  <a:srgbClr val="1F497D"/>
                </a:solidFill>
                <a:latin typeface="Intel Clear"/>
              </a:rPr>
              <a:t>No computer system can provide absolute reliability, availability or serviceability.  Requires an Intel® Xeon® processor E7-8800/4800/2800 v2 product families or Intel® Itanium® 9500 series-based system (or follow-on generations of either.)  Built-in reliability features available on select Intel® processors may require additional software, hardware, services and/or an internet connection.  Results may vary depending upon configuration.  Consult your system manufacturer for more details.</a:t>
            </a:r>
            <a:br>
              <a:rPr lang="en-US" sz="895" dirty="0">
                <a:solidFill>
                  <a:srgbClr val="1F497D"/>
                </a:solidFill>
                <a:latin typeface="Intel Clear"/>
              </a:rPr>
            </a:br>
            <a:r>
              <a:rPr lang="en-US" sz="895" dirty="0">
                <a:solidFill>
                  <a:srgbClr val="1F497D"/>
                </a:solidFill>
                <a:latin typeface="Intel Clear"/>
              </a:rPr>
              <a:t>For systems also featuring Resilient System Technologies:  No computer system can provide absolute reliability, availability or serviceability.  Requires an Intel® Run Sure Technology-enabled system, including an enabled Intel processor and enabled technology(</a:t>
            </a:r>
            <a:r>
              <a:rPr lang="en-US" sz="895" dirty="0" err="1">
                <a:solidFill>
                  <a:srgbClr val="1F497D"/>
                </a:solidFill>
                <a:latin typeface="Intel Clear"/>
              </a:rPr>
              <a:t>ies</a:t>
            </a:r>
            <a:r>
              <a:rPr lang="en-US" sz="895" dirty="0">
                <a:solidFill>
                  <a:srgbClr val="1F497D"/>
                </a:solidFill>
                <a:latin typeface="Intel Clear"/>
              </a:rPr>
              <a:t>).  Built-in reliability features available on select Intel® processors may require additional software, hardware, services and/or an Internet connection.  Results may vary depending upon configuration.  Consult your system manufacturer for more details. </a:t>
            </a:r>
            <a:br>
              <a:rPr lang="en-US" sz="895" dirty="0">
                <a:solidFill>
                  <a:srgbClr val="1F497D"/>
                </a:solidFill>
                <a:latin typeface="Intel Clear"/>
              </a:rPr>
            </a:br>
            <a:r>
              <a:rPr lang="en-US" sz="895" dirty="0">
                <a:solidFill>
                  <a:srgbClr val="1F497D"/>
                </a:solidFill>
                <a:latin typeface="Intel Clear"/>
              </a:rPr>
              <a:t>For systems also featuring Resilient Memory Technologies:  No computer system can provide absolute reliability, availability or serviceability.  Requires an Intel® Run Sure Technology-enabled system, including an enabled Intel® processor and enabled technology(</a:t>
            </a:r>
            <a:r>
              <a:rPr lang="en-US" sz="895" dirty="0" err="1">
                <a:solidFill>
                  <a:srgbClr val="1F497D"/>
                </a:solidFill>
                <a:latin typeface="Intel Clear"/>
              </a:rPr>
              <a:t>ies</a:t>
            </a:r>
            <a:r>
              <a:rPr lang="en-US" sz="895" dirty="0">
                <a:solidFill>
                  <a:srgbClr val="1F497D"/>
                </a:solidFill>
                <a:latin typeface="Intel Clear"/>
              </a:rPr>
              <a:t>).  built-in reliability features available on select Intel® processors may require additional software, hardware, services and/or an Internet connection.  Results may vary depending upon configuration.  Consult your system manufacturer for more details. </a:t>
            </a:r>
          </a:p>
        </p:txBody>
      </p:sp>
    </p:spTree>
    <p:extLst>
      <p:ext uri="{BB962C8B-B14F-4D97-AF65-F5344CB8AC3E}">
        <p14:creationId xmlns:p14="http://schemas.microsoft.com/office/powerpoint/2010/main" val="95057759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4294967295"/>
          </p:nvPr>
        </p:nvSpPr>
        <p:spPr>
          <a:xfrm>
            <a:off x="6877848" y="4721303"/>
            <a:ext cx="2019645" cy="259814"/>
          </a:xfrm>
          <a:prstGeom prst="rect">
            <a:avLst/>
          </a:prstGeom>
        </p:spPr>
        <p:txBody>
          <a:bodyPr/>
          <a:lstStyle/>
          <a:p>
            <a:fld id="{EE2556C5-CE8C-6547-B838-EA80C61A4AF7}" type="slidenum">
              <a:rPr lang="en-US" smtClean="0"/>
              <a:pPr/>
              <a:t>29</a:t>
            </a:fld>
            <a:endParaRPr lang="en-US" dirty="0"/>
          </a:p>
        </p:txBody>
      </p:sp>
      <p:sp>
        <p:nvSpPr>
          <p:cNvPr id="4" name="Title 2"/>
          <p:cNvSpPr txBox="1">
            <a:spLocks/>
          </p:cNvSpPr>
          <p:nvPr/>
        </p:nvSpPr>
        <p:spPr>
          <a:xfrm>
            <a:off x="246508" y="1"/>
            <a:ext cx="7040852" cy="562521"/>
          </a:xfrm>
          <a:prstGeom prst="rect">
            <a:avLst/>
          </a:prstGeom>
        </p:spPr>
        <p:txBody>
          <a:bodyPr vert="horz" lIns="116916" tIns="58458" rIns="116916" bIns="58458" rtlCol="0" anchor="ctr">
            <a:normAutofit lnSpcReduction="10000"/>
          </a:bodyPr>
          <a:lstStyle>
            <a:lvl1pPr algn="l" rtl="0" eaLnBrk="1" fontAlgn="base" hangingPunct="1">
              <a:spcBef>
                <a:spcPct val="0"/>
              </a:spcBef>
              <a:spcAft>
                <a:spcPct val="0"/>
              </a:spcAft>
              <a:defRPr sz="2800" b="1" baseline="0">
                <a:solidFill>
                  <a:srgbClr val="404040"/>
                </a:solidFill>
                <a:effectLst/>
                <a:latin typeface="+mj-lt"/>
                <a:ea typeface="ＭＳ Ｐゴシック" charset="-128"/>
                <a:cs typeface="ＭＳ Ｐゴシック" charset="-128"/>
              </a:defRPr>
            </a:lvl1pPr>
            <a:lvl2pPr algn="l" rtl="0" eaLnBrk="1" fontAlgn="base" hangingPunct="1">
              <a:spcBef>
                <a:spcPct val="0"/>
              </a:spcBef>
              <a:spcAft>
                <a:spcPct val="0"/>
              </a:spcAft>
              <a:defRPr sz="3400" b="1">
                <a:solidFill>
                  <a:srgbClr val="CD0921"/>
                </a:solidFill>
                <a:latin typeface="Arial" charset="0"/>
                <a:ea typeface="ＭＳ Ｐゴシック" charset="-128"/>
                <a:cs typeface="ＭＳ Ｐゴシック" charset="-128"/>
              </a:defRPr>
            </a:lvl2pPr>
            <a:lvl3pPr algn="l" rtl="0" eaLnBrk="1" fontAlgn="base" hangingPunct="1">
              <a:spcBef>
                <a:spcPct val="0"/>
              </a:spcBef>
              <a:spcAft>
                <a:spcPct val="0"/>
              </a:spcAft>
              <a:defRPr sz="3400" b="1">
                <a:solidFill>
                  <a:srgbClr val="CD0921"/>
                </a:solidFill>
                <a:latin typeface="Arial" charset="0"/>
                <a:ea typeface="ＭＳ Ｐゴシック" charset="-128"/>
                <a:cs typeface="ＭＳ Ｐゴシック" charset="-128"/>
              </a:defRPr>
            </a:lvl3pPr>
            <a:lvl4pPr algn="l" rtl="0" eaLnBrk="1" fontAlgn="base" hangingPunct="1">
              <a:spcBef>
                <a:spcPct val="0"/>
              </a:spcBef>
              <a:spcAft>
                <a:spcPct val="0"/>
              </a:spcAft>
              <a:defRPr sz="3400" b="1">
                <a:solidFill>
                  <a:srgbClr val="CD0921"/>
                </a:solidFill>
                <a:latin typeface="Arial" charset="0"/>
                <a:ea typeface="ＭＳ Ｐゴシック" charset="-128"/>
                <a:cs typeface="ＭＳ Ｐゴシック" charset="-128"/>
              </a:defRPr>
            </a:lvl4pPr>
            <a:lvl5pPr algn="l" rtl="0" eaLnBrk="1" fontAlgn="base" hangingPunct="1">
              <a:spcBef>
                <a:spcPct val="0"/>
              </a:spcBef>
              <a:spcAft>
                <a:spcPct val="0"/>
              </a:spcAft>
              <a:defRPr sz="3400" b="1">
                <a:solidFill>
                  <a:srgbClr val="CD0921"/>
                </a:solidFill>
                <a:latin typeface="Arial" charset="0"/>
                <a:ea typeface="ＭＳ Ｐゴシック" charset="-128"/>
                <a:cs typeface="ＭＳ Ｐゴシック" charset="-128"/>
              </a:defRPr>
            </a:lvl5pPr>
            <a:lvl6pPr marL="457200" algn="l" rtl="0" eaLnBrk="1" fontAlgn="base" hangingPunct="1">
              <a:spcBef>
                <a:spcPct val="0"/>
              </a:spcBef>
              <a:spcAft>
                <a:spcPct val="0"/>
              </a:spcAft>
              <a:defRPr sz="2800" b="1">
                <a:solidFill>
                  <a:schemeClr val="tx2"/>
                </a:solidFill>
                <a:latin typeface="Arial" charset="0"/>
              </a:defRPr>
            </a:lvl6pPr>
            <a:lvl7pPr marL="914400" algn="l" rtl="0" eaLnBrk="1" fontAlgn="base" hangingPunct="1">
              <a:spcBef>
                <a:spcPct val="0"/>
              </a:spcBef>
              <a:spcAft>
                <a:spcPct val="0"/>
              </a:spcAft>
              <a:defRPr sz="2800" b="1">
                <a:solidFill>
                  <a:schemeClr val="tx2"/>
                </a:solidFill>
                <a:latin typeface="Arial" charset="0"/>
              </a:defRPr>
            </a:lvl7pPr>
            <a:lvl8pPr marL="1371600" algn="l" rtl="0" eaLnBrk="1" fontAlgn="base" hangingPunct="1">
              <a:spcBef>
                <a:spcPct val="0"/>
              </a:spcBef>
              <a:spcAft>
                <a:spcPct val="0"/>
              </a:spcAft>
              <a:defRPr sz="2800" b="1">
                <a:solidFill>
                  <a:schemeClr val="tx2"/>
                </a:solidFill>
                <a:latin typeface="Arial" charset="0"/>
              </a:defRPr>
            </a:lvl8pPr>
            <a:lvl9pPr marL="1828800" algn="l" rtl="0" eaLnBrk="1" fontAlgn="base" hangingPunct="1">
              <a:spcBef>
                <a:spcPct val="0"/>
              </a:spcBef>
              <a:spcAft>
                <a:spcPct val="0"/>
              </a:spcAft>
              <a:defRPr sz="2800" b="1">
                <a:solidFill>
                  <a:schemeClr val="tx2"/>
                </a:solidFill>
                <a:latin typeface="Arial" charset="0"/>
              </a:defRPr>
            </a:lvl9pPr>
          </a:lstStyle>
          <a:p>
            <a:pPr defTabSz="1169152">
              <a:defRPr/>
            </a:pPr>
            <a:r>
              <a:rPr lang="en-US" sz="3069" kern="0">
                <a:solidFill>
                  <a:srgbClr val="0070C0"/>
                </a:solidFill>
                <a:latin typeface="Calibri Light" panose="020F0302020204030204"/>
                <a:cs typeface="+mn-cs"/>
              </a:rPr>
              <a:t>Optimization Notice</a:t>
            </a:r>
            <a:endParaRPr lang="en-US" sz="3069" kern="0" dirty="0">
              <a:solidFill>
                <a:srgbClr val="0070C0"/>
              </a:solidFill>
              <a:latin typeface="Calibri Light" panose="020F0302020204030204"/>
              <a:cs typeface="+mn-cs"/>
            </a:endParaRPr>
          </a:p>
        </p:txBody>
      </p:sp>
      <p:graphicFrame>
        <p:nvGraphicFramePr>
          <p:cNvPr id="5" name="Table 4"/>
          <p:cNvGraphicFramePr>
            <a:graphicFrameLocks noGrp="1"/>
          </p:cNvGraphicFramePr>
          <p:nvPr>
            <p:extLst/>
          </p:nvPr>
        </p:nvGraphicFramePr>
        <p:xfrm>
          <a:off x="1147686" y="940376"/>
          <a:ext cx="6567838" cy="2990621"/>
        </p:xfrm>
        <a:graphic>
          <a:graphicData uri="http://schemas.openxmlformats.org/drawingml/2006/table">
            <a:tbl>
              <a:tblPr firstRow="1" bandRow="1"/>
              <a:tblGrid>
                <a:gridCol w="6567838"/>
              </a:tblGrid>
              <a:tr h="292290">
                <a:tc>
                  <a:txBody>
                    <a:bodyPr/>
                    <a:lstStyle>
                      <a:lvl1pPr marL="0" algn="l" defTabSz="338282" rtl="0" eaLnBrk="1" latinLnBrk="0" hangingPunct="1">
                        <a:defRPr sz="1332" b="1" kern="1200">
                          <a:solidFill>
                            <a:schemeClr val="bg1"/>
                          </a:solidFill>
                          <a:latin typeface="Calibri"/>
                        </a:defRPr>
                      </a:lvl1pPr>
                      <a:lvl2pPr marL="338282" algn="l" defTabSz="338282" rtl="0" eaLnBrk="1" latinLnBrk="0" hangingPunct="1">
                        <a:defRPr sz="1332" b="1" kern="1200">
                          <a:solidFill>
                            <a:schemeClr val="bg1"/>
                          </a:solidFill>
                          <a:latin typeface="Calibri"/>
                        </a:defRPr>
                      </a:lvl2pPr>
                      <a:lvl3pPr marL="676565" algn="l" defTabSz="338282" rtl="0" eaLnBrk="1" latinLnBrk="0" hangingPunct="1">
                        <a:defRPr sz="1332" b="1" kern="1200">
                          <a:solidFill>
                            <a:schemeClr val="bg1"/>
                          </a:solidFill>
                          <a:latin typeface="Calibri"/>
                        </a:defRPr>
                      </a:lvl3pPr>
                      <a:lvl4pPr marL="1014847" algn="l" defTabSz="338282" rtl="0" eaLnBrk="1" latinLnBrk="0" hangingPunct="1">
                        <a:defRPr sz="1332" b="1" kern="1200">
                          <a:solidFill>
                            <a:schemeClr val="bg1"/>
                          </a:solidFill>
                          <a:latin typeface="Calibri"/>
                        </a:defRPr>
                      </a:lvl4pPr>
                      <a:lvl5pPr marL="1353129" algn="l" defTabSz="338282" rtl="0" eaLnBrk="1" latinLnBrk="0" hangingPunct="1">
                        <a:defRPr sz="1332" b="1" kern="1200">
                          <a:solidFill>
                            <a:schemeClr val="bg1"/>
                          </a:solidFill>
                          <a:latin typeface="Calibri"/>
                        </a:defRPr>
                      </a:lvl5pPr>
                      <a:lvl6pPr marL="1691411" algn="l" defTabSz="338282" rtl="0" eaLnBrk="1" latinLnBrk="0" hangingPunct="1">
                        <a:defRPr sz="1332" b="1" kern="1200">
                          <a:solidFill>
                            <a:schemeClr val="bg1"/>
                          </a:solidFill>
                          <a:latin typeface="Calibri"/>
                        </a:defRPr>
                      </a:lvl6pPr>
                      <a:lvl7pPr marL="2029694" algn="l" defTabSz="338282" rtl="0" eaLnBrk="1" latinLnBrk="0" hangingPunct="1">
                        <a:defRPr sz="1332" b="1" kern="1200">
                          <a:solidFill>
                            <a:schemeClr val="bg1"/>
                          </a:solidFill>
                          <a:latin typeface="Calibri"/>
                        </a:defRPr>
                      </a:lvl7pPr>
                      <a:lvl8pPr marL="2367976" algn="l" defTabSz="338282" rtl="0" eaLnBrk="1" latinLnBrk="0" hangingPunct="1">
                        <a:defRPr sz="1332" b="1" kern="1200">
                          <a:solidFill>
                            <a:schemeClr val="bg1"/>
                          </a:solidFill>
                          <a:latin typeface="Calibri"/>
                        </a:defRPr>
                      </a:lvl8pPr>
                      <a:lvl9pPr marL="2706258" algn="l" defTabSz="338282" rtl="0" eaLnBrk="1" latinLnBrk="0" hangingPunct="1">
                        <a:defRPr sz="1332" b="1" kern="1200">
                          <a:solidFill>
                            <a:schemeClr val="bg1"/>
                          </a:solidFill>
                          <a:latin typeface="Calibri"/>
                        </a:defRPr>
                      </a:lvl9pPr>
                    </a:lstStyle>
                    <a:p>
                      <a:r>
                        <a:rPr lang="en-US" sz="1200" dirty="0" smtClean="0">
                          <a:latin typeface="Intel Clear"/>
                        </a:rPr>
                        <a:t>Optimization Notice</a:t>
                      </a:r>
                      <a:endParaRPr lang="en-US" sz="1200" dirty="0">
                        <a:latin typeface="Intel Clear"/>
                      </a:endParaRPr>
                    </a:p>
                  </a:txBody>
                  <a:tcPr marL="116916" marR="116916" marT="58458" marB="58458">
                    <a:lnL w="9525" cap="flat" cmpd="sng" algn="ctr">
                      <a:solidFill>
                        <a:srgbClr val="0071C5">
                          <a:shade val="95000"/>
                          <a:satMod val="105000"/>
                        </a:srgbClr>
                      </a:solidFill>
                      <a:prstDash val="solid"/>
                    </a:lnL>
                    <a:lnR w="9525" cap="flat" cmpd="sng" algn="ctr">
                      <a:solidFill>
                        <a:srgbClr val="0071C5">
                          <a:shade val="95000"/>
                          <a:satMod val="105000"/>
                        </a:srgbClr>
                      </a:solidFill>
                      <a:prstDash val="solid"/>
                    </a:lnR>
                    <a:lnT w="9525" cap="flat" cmpd="sng" algn="ctr">
                      <a:solidFill>
                        <a:srgbClr val="0071C5">
                          <a:shade val="95000"/>
                          <a:satMod val="105000"/>
                        </a:srgbClr>
                      </a:solidFill>
                      <a:prstDash val="solid"/>
                    </a:lnT>
                    <a:lnB w="9525" cap="flat" cmpd="sng" algn="ctr">
                      <a:solidFill>
                        <a:srgbClr val="0071C5">
                          <a:shade val="95000"/>
                          <a:satMod val="105000"/>
                        </a:srgbClr>
                      </a:solidFill>
                      <a:prstDash val="solid"/>
                    </a:lnB>
                    <a:lnTlToBr w="12700" cmpd="sng">
                      <a:noFill/>
                      <a:prstDash val="solid"/>
                    </a:lnTlToBr>
                    <a:lnBlToTr w="12700" cmpd="sng">
                      <a:noFill/>
                      <a:prstDash val="solid"/>
                    </a:lnBlToTr>
                    <a:solidFill>
                      <a:srgbClr val="0071C5"/>
                    </a:solidFill>
                  </a:tcPr>
                </a:tc>
              </a:tr>
              <a:tr h="2690825">
                <a:tc>
                  <a:txBody>
                    <a:bodyPr/>
                    <a:lstStyle>
                      <a:lvl1pPr marL="0" algn="l" defTabSz="338282" rtl="0" eaLnBrk="1" latinLnBrk="0" hangingPunct="1">
                        <a:defRPr sz="1332" kern="1200">
                          <a:solidFill>
                            <a:schemeClr val="tx1"/>
                          </a:solidFill>
                          <a:latin typeface="Calibri"/>
                        </a:defRPr>
                      </a:lvl1pPr>
                      <a:lvl2pPr marL="338282" algn="l" defTabSz="338282" rtl="0" eaLnBrk="1" latinLnBrk="0" hangingPunct="1">
                        <a:defRPr sz="1332" kern="1200">
                          <a:solidFill>
                            <a:schemeClr val="tx1"/>
                          </a:solidFill>
                          <a:latin typeface="Calibri"/>
                        </a:defRPr>
                      </a:lvl2pPr>
                      <a:lvl3pPr marL="676565" algn="l" defTabSz="338282" rtl="0" eaLnBrk="1" latinLnBrk="0" hangingPunct="1">
                        <a:defRPr sz="1332" kern="1200">
                          <a:solidFill>
                            <a:schemeClr val="tx1"/>
                          </a:solidFill>
                          <a:latin typeface="Calibri"/>
                        </a:defRPr>
                      </a:lvl3pPr>
                      <a:lvl4pPr marL="1014847" algn="l" defTabSz="338282" rtl="0" eaLnBrk="1" latinLnBrk="0" hangingPunct="1">
                        <a:defRPr sz="1332" kern="1200">
                          <a:solidFill>
                            <a:schemeClr val="tx1"/>
                          </a:solidFill>
                          <a:latin typeface="Calibri"/>
                        </a:defRPr>
                      </a:lvl4pPr>
                      <a:lvl5pPr marL="1353129" algn="l" defTabSz="338282" rtl="0" eaLnBrk="1" latinLnBrk="0" hangingPunct="1">
                        <a:defRPr sz="1332" kern="1200">
                          <a:solidFill>
                            <a:schemeClr val="tx1"/>
                          </a:solidFill>
                          <a:latin typeface="Calibri"/>
                        </a:defRPr>
                      </a:lvl5pPr>
                      <a:lvl6pPr marL="1691411" algn="l" defTabSz="338282" rtl="0" eaLnBrk="1" latinLnBrk="0" hangingPunct="1">
                        <a:defRPr sz="1332" kern="1200">
                          <a:solidFill>
                            <a:schemeClr val="tx1"/>
                          </a:solidFill>
                          <a:latin typeface="Calibri"/>
                        </a:defRPr>
                      </a:lvl6pPr>
                      <a:lvl7pPr marL="2029694" algn="l" defTabSz="338282" rtl="0" eaLnBrk="1" latinLnBrk="0" hangingPunct="1">
                        <a:defRPr sz="1332" kern="1200">
                          <a:solidFill>
                            <a:schemeClr val="tx1"/>
                          </a:solidFill>
                          <a:latin typeface="Calibri"/>
                        </a:defRPr>
                      </a:lvl7pPr>
                      <a:lvl8pPr marL="2367976" algn="l" defTabSz="338282" rtl="0" eaLnBrk="1" latinLnBrk="0" hangingPunct="1">
                        <a:defRPr sz="1332" kern="1200">
                          <a:solidFill>
                            <a:schemeClr val="tx1"/>
                          </a:solidFill>
                          <a:latin typeface="Calibri"/>
                        </a:defRPr>
                      </a:lvl8pPr>
                      <a:lvl9pPr marL="2706258" algn="l" defTabSz="338282" rtl="0" eaLnBrk="1" latinLnBrk="0" hangingPunct="1">
                        <a:defRPr sz="1332" kern="1200">
                          <a:solidFill>
                            <a:schemeClr val="tx1"/>
                          </a:solidFill>
                          <a:latin typeface="Calibri"/>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sz="1200" dirty="0" smtClean="0">
                          <a:solidFill>
                            <a:schemeClr val="tx2"/>
                          </a:solidFill>
                          <a:latin typeface="Intel Clear"/>
                        </a:rPr>
                        <a:t>Intel's compilers may or may not optimize to the same degree for non-Intel microprocessors for optimizations that are not unique to Intel microprocessors. These optimizations include SSE2, SSE3, and SSSE3 instruction sets and other optimizations. Intel does not guarantee the availability, functionality, or effectiveness of any optimization on microprocessors not manufactured by Intel. </a:t>
                      </a:r>
                      <a:br>
                        <a:rPr lang="en-US" sz="1200" dirty="0" smtClean="0">
                          <a:solidFill>
                            <a:schemeClr val="tx2"/>
                          </a:solidFill>
                          <a:latin typeface="Intel Clear"/>
                        </a:rPr>
                      </a:br>
                      <a:r>
                        <a:rPr lang="en-US" sz="1200" dirty="0" smtClean="0">
                          <a:solidFill>
                            <a:schemeClr val="tx2"/>
                          </a:solidFill>
                          <a:latin typeface="Intel Clear"/>
                        </a:rPr>
                        <a:t/>
                      </a:r>
                      <a:br>
                        <a:rPr lang="en-US" sz="1200" dirty="0" smtClean="0">
                          <a:solidFill>
                            <a:schemeClr val="tx2"/>
                          </a:solidFill>
                          <a:latin typeface="Intel Clear"/>
                        </a:rPr>
                      </a:br>
                      <a:r>
                        <a:rPr lang="en-US" sz="1200" dirty="0" smtClean="0">
                          <a:solidFill>
                            <a:schemeClr val="tx2"/>
                          </a:solidFill>
                          <a:latin typeface="Intel Clear"/>
                        </a:rPr>
                        <a:t>Microprocessor-dependent optimizations in this product are intended for use with Intel microprocessors. Certain optimizations not specific to Intel microarchitecture are reserved for Intel microprocessors. Please refer to the applicable product User and Reference Guides for more information regarding the specific instruction sets covered by this notice.</a:t>
                      </a:r>
                      <a:br>
                        <a:rPr lang="en-US" sz="1200" dirty="0" smtClean="0">
                          <a:solidFill>
                            <a:schemeClr val="tx2"/>
                          </a:solidFill>
                          <a:latin typeface="Intel Clear"/>
                        </a:rPr>
                      </a:br>
                      <a:r>
                        <a:rPr lang="en-US" sz="1200" dirty="0" smtClean="0">
                          <a:solidFill>
                            <a:schemeClr val="tx2"/>
                          </a:solidFill>
                          <a:latin typeface="Intel Clear"/>
                        </a:rPr>
                        <a:t/>
                      </a:r>
                      <a:br>
                        <a:rPr lang="en-US" sz="1200" dirty="0" smtClean="0">
                          <a:solidFill>
                            <a:schemeClr val="tx2"/>
                          </a:solidFill>
                          <a:latin typeface="Intel Clear"/>
                        </a:rPr>
                      </a:br>
                      <a:r>
                        <a:rPr lang="en-US" sz="1200" dirty="0" smtClean="0">
                          <a:solidFill>
                            <a:schemeClr val="tx2"/>
                          </a:solidFill>
                          <a:latin typeface="Intel Clear"/>
                        </a:rPr>
                        <a:t>Notice revision #20110804 </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dirty="0" smtClean="0">
                        <a:ln>
                          <a:noFill/>
                        </a:ln>
                        <a:solidFill>
                          <a:srgbClr val="000000"/>
                        </a:solidFill>
                        <a:effectLst/>
                        <a:latin typeface="Intel Clear" panose="020B0604020203020204" pitchFamily="34" charset="0"/>
                        <a:ea typeface="MS PGothic" pitchFamily="34" charset="-128"/>
                      </a:endParaRPr>
                    </a:p>
                  </a:txBody>
                  <a:tcPr marL="116916" marR="116916" marT="58458" marB="58458">
                    <a:lnL w="9525" cap="flat" cmpd="sng" algn="ctr">
                      <a:solidFill>
                        <a:srgbClr val="0071C5">
                          <a:shade val="95000"/>
                          <a:satMod val="105000"/>
                        </a:srgbClr>
                      </a:solidFill>
                      <a:prstDash val="solid"/>
                    </a:lnL>
                    <a:lnR w="9525" cap="flat" cmpd="sng" algn="ctr">
                      <a:solidFill>
                        <a:srgbClr val="0071C5">
                          <a:shade val="95000"/>
                          <a:satMod val="105000"/>
                        </a:srgbClr>
                      </a:solidFill>
                      <a:prstDash val="solid"/>
                    </a:lnR>
                    <a:lnT w="9525" cap="flat" cmpd="sng" algn="ctr">
                      <a:solidFill>
                        <a:srgbClr val="0071C5">
                          <a:shade val="95000"/>
                          <a:satMod val="105000"/>
                        </a:srgbClr>
                      </a:solidFill>
                      <a:prstDash val="solid"/>
                    </a:lnT>
                    <a:lnB w="9525" cap="flat" cmpd="sng" algn="ctr">
                      <a:solidFill>
                        <a:srgbClr val="0071C5">
                          <a:shade val="95000"/>
                          <a:satMod val="105000"/>
                        </a:srgbClr>
                      </a:solidFill>
                      <a:prstDash val="solid"/>
                    </a:lnB>
                    <a:lnTlToBr w="12700" cmpd="sng">
                      <a:noFill/>
                      <a:prstDash val="solid"/>
                    </a:lnTlToBr>
                    <a:lnBlToTr w="12700" cmpd="sng">
                      <a:noFill/>
                      <a:prstDash val="solid"/>
                    </a:lnBlToTr>
                    <a:noFill/>
                  </a:tcPr>
                </a:tc>
              </a:tr>
            </a:tbl>
          </a:graphicData>
        </a:graphic>
      </p:graphicFrame>
    </p:spTree>
    <p:extLst>
      <p:ext uri="{BB962C8B-B14F-4D97-AF65-F5344CB8AC3E}">
        <p14:creationId xmlns:p14="http://schemas.microsoft.com/office/powerpoint/2010/main" val="57902568"/>
      </p:ext>
    </p:extLst>
  </p:cSld>
  <p:clrMapOvr>
    <a:masterClrMapping/>
  </p:clrMapOvr>
  <p:timing>
    <p:tnLst>
      <p:par>
        <p:cTn id="1" dur="indefinite" restart="never" nodeType="tmRoot"/>
      </p:par>
    </p:tnLst>
  </p:timing>
</p:sld>
</file>

<file path=ppt/theme/theme1.xml><?xml version="1.0" encoding="utf-8"?>
<a:theme xmlns:a="http://schemas.openxmlformats.org/drawingml/2006/main" name="Int_PPT Template_ClearPro_16x9">
  <a:themeElements>
    <a:clrScheme name="Intel Color Palette">
      <a:dk1>
        <a:sysClr val="windowText" lastClr="000000"/>
      </a:dk1>
      <a:lt1>
        <a:sysClr val="window" lastClr="FFFFFF"/>
      </a:lt1>
      <a:dk2>
        <a:srgbClr val="003C71"/>
      </a:dk2>
      <a:lt2>
        <a:srgbClr val="B1BABF"/>
      </a:lt2>
      <a:accent1>
        <a:srgbClr val="0071C5"/>
      </a:accent1>
      <a:accent2>
        <a:srgbClr val="00AEEF"/>
      </a:accent2>
      <a:accent3>
        <a:srgbClr val="F3D54E"/>
      </a:accent3>
      <a:accent4>
        <a:srgbClr val="FFA300"/>
      </a:accent4>
      <a:accent5>
        <a:srgbClr val="FC4C02"/>
      </a:accent5>
      <a:accent6>
        <a:srgbClr val="C3D600"/>
      </a:accent6>
      <a:hlink>
        <a:srgbClr val="0071C5"/>
      </a:hlink>
      <a:folHlink>
        <a:srgbClr val="00AEEF"/>
      </a:folHlink>
    </a:clrScheme>
    <a:fontScheme name="Intel Clear">
      <a:majorFont>
        <a:latin typeface="Intel Clear"/>
        <a:ea typeface=""/>
        <a:cs typeface=""/>
      </a:majorFont>
      <a:minorFont>
        <a:latin typeface="Intel Clear"/>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solidFill>
            <a:schemeClr val="tx2"/>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vert="horz" wrap="square" lIns="0" tIns="0" rIns="0" bIns="0" rtlCol="0">
        <a:spAutoFit/>
      </a:bodyPr>
      <a:lstStyle>
        <a:defPPr>
          <a:defRPr sz="1100" dirty="0" err="1" smtClean="0">
            <a:solidFill>
              <a:srgbClr val="003C71"/>
            </a:solidFill>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1369</Words>
  <Application>Microsoft Office PowerPoint</Application>
  <PresentationFormat>On-screen Show (16:9)</PresentationFormat>
  <Paragraphs>299</Paragraphs>
  <Slides>29</Slides>
  <Notes>6</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29</vt:i4>
      </vt:variant>
    </vt:vector>
  </HeadingPairs>
  <TitlesOfParts>
    <vt:vector size="40" baseType="lpstr">
      <vt:lpstr>ＭＳ Ｐゴシック</vt:lpstr>
      <vt:lpstr>ＭＳ Ｐゴシック</vt:lpstr>
      <vt:lpstr>Arial</vt:lpstr>
      <vt:lpstr>Calibri</vt:lpstr>
      <vt:lpstr>Calibri Light</vt:lpstr>
      <vt:lpstr>Consolas</vt:lpstr>
      <vt:lpstr>Courier</vt:lpstr>
      <vt:lpstr>Courier New</vt:lpstr>
      <vt:lpstr>Intel Clear</vt:lpstr>
      <vt:lpstr>Wingdings</vt:lpstr>
      <vt:lpstr>Int_PPT Template_ClearPro_16x9</vt:lpstr>
      <vt:lpstr>Accelerating Tensorflow* on Modern Intel Architectures</vt:lpstr>
      <vt:lpstr>Acknowledgement</vt:lpstr>
      <vt:lpstr>Agenda</vt:lpstr>
      <vt:lpstr>Operator-level optimization</vt:lpstr>
      <vt:lpstr>Operation-level optimizations may not remove redundant conversions</vt:lpstr>
      <vt:lpstr>Tensorflow* Operations optimized for Intel® Architectures</vt:lpstr>
      <vt:lpstr>Graph optimizations</vt:lpstr>
      <vt:lpstr>Graph optimizations in TensorFlow* for Intel® Architectures</vt:lpstr>
      <vt:lpstr>Data Layout Conversion Optimization</vt:lpstr>
      <vt:lpstr>Data layout conversion optimization</vt:lpstr>
      <vt:lpstr>PowerPoint Presentation</vt:lpstr>
      <vt:lpstr>Data layout conversion optimization - Example</vt:lpstr>
      <vt:lpstr>Data layout conversion optimization implementation </vt:lpstr>
      <vt:lpstr>Layout conversion optimization</vt:lpstr>
      <vt:lpstr>Need for graph rewrite pass</vt:lpstr>
      <vt:lpstr>What about TfToMkl and MklToTf ops?</vt:lpstr>
      <vt:lpstr>Node fusion optimization</vt:lpstr>
      <vt:lpstr>Fusion optimization</vt:lpstr>
      <vt:lpstr>Conv2D and BiasAdd: Merge process</vt:lpstr>
      <vt:lpstr>Memory allocation</vt:lpstr>
      <vt:lpstr>Optimization: memory allocation  </vt:lpstr>
      <vt:lpstr>Load balancing</vt:lpstr>
      <vt:lpstr>Thread pool and parallelism</vt:lpstr>
      <vt:lpstr>Problem with current threading model &amp; solution</vt:lpstr>
      <vt:lpstr>Optimized Tensorflow Performance on Intel® Xeon® processor  </vt:lpstr>
      <vt:lpstr>Optimized Tensorflow Performance on Intel® Xeon Phi® processor  </vt:lpstr>
      <vt:lpstr>Summary</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CTPClassification=CTP_IC:VisualMarkings=</cp:keywords>
  <cp:lastModifiedBy/>
  <cp:revision>1</cp:revision>
  <dcterms:created xsi:type="dcterms:W3CDTF">2015-05-06T16:36:39Z</dcterms:created>
  <dcterms:modified xsi:type="dcterms:W3CDTF">2017-09-10T07:54:39Z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09fef5c2-caf1-4a70-8593-c65c59a8f3ac</vt:lpwstr>
  </property>
  <property fmtid="{D5CDD505-2E9C-101B-9397-08002B2CF9AE}" pid="3" name="CTP_BU">
    <vt:lpwstr>AI PRODUCTS GROUP</vt:lpwstr>
  </property>
  <property fmtid="{D5CDD505-2E9C-101B-9397-08002B2CF9AE}" pid="4" name="CTP_TimeStamp">
    <vt:lpwstr>2017-09-10 07:54:38Z</vt:lpwstr>
  </property>
  <property fmtid="{D5CDD505-2E9C-101B-9397-08002B2CF9AE}" pid="5" name="CTPClassification">
    <vt:lpwstr>CTP_IC</vt:lpwstr>
  </property>
</Properties>
</file>